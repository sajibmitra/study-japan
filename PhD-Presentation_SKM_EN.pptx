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游ゴシック"/>
      </a:defRPr>
    </a:lvl1pPr>
    <a:lvl2pPr indent="228600" latinLnBrk="0">
      <a:defRPr sz="1200">
        <a:latin typeface="+mn-lt"/>
        <a:ea typeface="+mn-ea"/>
        <a:cs typeface="+mn-cs"/>
        <a:sym typeface="游ゴシック"/>
      </a:defRPr>
    </a:lvl2pPr>
    <a:lvl3pPr indent="457200" latinLnBrk="0">
      <a:defRPr sz="1200">
        <a:latin typeface="+mn-lt"/>
        <a:ea typeface="+mn-ea"/>
        <a:cs typeface="+mn-cs"/>
        <a:sym typeface="游ゴシック"/>
      </a:defRPr>
    </a:lvl3pPr>
    <a:lvl4pPr indent="685800" latinLnBrk="0">
      <a:defRPr sz="1200">
        <a:latin typeface="+mn-lt"/>
        <a:ea typeface="+mn-ea"/>
        <a:cs typeface="+mn-cs"/>
        <a:sym typeface="游ゴシック"/>
      </a:defRPr>
    </a:lvl4pPr>
    <a:lvl5pPr indent="914400" latinLnBrk="0">
      <a:defRPr sz="1200">
        <a:latin typeface="+mn-lt"/>
        <a:ea typeface="+mn-ea"/>
        <a:cs typeface="+mn-cs"/>
        <a:sym typeface="游ゴシック"/>
      </a:defRPr>
    </a:lvl5pPr>
    <a:lvl6pPr indent="1143000" latinLnBrk="0">
      <a:defRPr sz="1200">
        <a:latin typeface="+mn-lt"/>
        <a:ea typeface="+mn-ea"/>
        <a:cs typeface="+mn-cs"/>
        <a:sym typeface="游ゴシック"/>
      </a:defRPr>
    </a:lvl6pPr>
    <a:lvl7pPr indent="1371600" latinLnBrk="0">
      <a:defRPr sz="1200">
        <a:latin typeface="+mn-lt"/>
        <a:ea typeface="+mn-ea"/>
        <a:cs typeface="+mn-cs"/>
        <a:sym typeface="游ゴシック"/>
      </a:defRPr>
    </a:lvl7pPr>
    <a:lvl8pPr indent="1600200" latinLnBrk="0">
      <a:defRPr sz="1200">
        <a:latin typeface="+mn-lt"/>
        <a:ea typeface="+mn-ea"/>
        <a:cs typeface="+mn-cs"/>
        <a:sym typeface="游ゴシック"/>
      </a:defRPr>
    </a:lvl8pPr>
    <a:lvl9pPr indent="1828800" latinLnBrk="0">
      <a:defRPr sz="1200">
        <a:latin typeface="+mn-lt"/>
        <a:ea typeface="+mn-ea"/>
        <a:cs typeface="+mn-cs"/>
        <a:sym typeface="游ゴシック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11694230" y="173823"/>
            <a:ext cx="273653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xfrm>
            <a:off x="11080149" y="6404294"/>
            <a:ext cx="273652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11080149" y="6404294"/>
            <a:ext cx="273652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テキスト プレースホルダー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xfrm>
            <a:off x="11080149" y="6404294"/>
            <a:ext cx="273652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xfrm>
            <a:off x="11080149" y="6404294"/>
            <a:ext cx="273652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xfrm>
            <a:off x="11080149" y="6404294"/>
            <a:ext cx="273652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テキスト プレースホルダー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xfrm>
            <a:off x="11080149" y="6404294"/>
            <a:ext cx="273652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図プレースホルダー 2"/>
          <p:cNvSpPr/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xfrm>
            <a:off x="11080149" y="6404294"/>
            <a:ext cx="273652" cy="26923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698715" y="184469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游ゴシック Light"/>
          <a:ea typeface="游ゴシック Light"/>
          <a:cs typeface="游ゴシック Light"/>
          <a:sym typeface="游ゴシック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游ゴシック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游ゴシック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タイトル 1"/>
          <p:cNvSpPr txBox="1"/>
          <p:nvPr>
            <p:ph type="ctrTitle"/>
          </p:nvPr>
        </p:nvSpPr>
        <p:spPr>
          <a:xfrm>
            <a:off x="1524000" y="1122361"/>
            <a:ext cx="9144000" cy="3068641"/>
          </a:xfrm>
          <a:prstGeom prst="rect">
            <a:avLst/>
          </a:prstGeom>
        </p:spPr>
        <p:txBody>
          <a:bodyPr/>
          <a:lstStyle/>
          <a:p>
            <a:pPr defTabSz="544067">
              <a:defRPr sz="3570"/>
            </a:pPr>
            <a:r>
              <a:rPr b="1"/>
              <a:t>Doctoral Program Oral Examination</a:t>
            </a:r>
            <a:br/>
            <a:br/>
            <a:r>
              <a:t>Trustworthy Hybrid Quantum–Classical AI for Secure IoT Edge Systems: Secure Model Deployment, Trusted Inference, and Zero-Day Attack Detection</a:t>
            </a:r>
          </a:p>
        </p:txBody>
      </p:sp>
      <p:sp>
        <p:nvSpPr>
          <p:cNvPr id="95" name="字幕 2"/>
          <p:cNvSpPr txBox="1"/>
          <p:nvPr>
            <p:ph type="subTitle" sz="quarter" idx="1"/>
          </p:nvPr>
        </p:nvSpPr>
        <p:spPr>
          <a:xfrm>
            <a:off x="1524000" y="4178298"/>
            <a:ext cx="9144000" cy="1655762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200"/>
            </a:pPr>
          </a:p>
          <a:p>
            <a:pPr>
              <a:lnSpc>
                <a:spcPct val="81000"/>
              </a:lnSpc>
              <a:defRPr sz="2200"/>
            </a:pPr>
            <a:r>
              <a:t>by</a:t>
            </a:r>
          </a:p>
          <a:p>
            <a:pPr>
              <a:lnSpc>
                <a:spcPct val="81000"/>
              </a:lnSpc>
              <a:defRPr sz="2200"/>
            </a:pPr>
            <a:r>
              <a:t>Sajib Kumar Mitra</a:t>
            </a:r>
          </a:p>
        </p:txBody>
      </p:sp>
      <p:sp>
        <p:nvSpPr>
          <p:cNvPr id="96" name="スライド番号プレースホルダー 3"/>
          <p:cNvSpPr txBox="1"/>
          <p:nvPr>
            <p:ph type="sldNum" sz="quarter" idx="4294967295"/>
          </p:nvPr>
        </p:nvSpPr>
        <p:spPr>
          <a:xfrm>
            <a:off x="11778984" y="173821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タイトル 1"/>
          <p:cNvSpPr txBox="1"/>
          <p:nvPr>
            <p:ph type="title"/>
          </p:nvPr>
        </p:nvSpPr>
        <p:spPr>
          <a:xfrm>
            <a:off x="838200" y="1492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Announcement content</a:t>
            </a:r>
          </a:p>
        </p:txBody>
      </p:sp>
      <p:sp>
        <p:nvSpPr>
          <p:cNvPr id="99" name="コンテンツ プレースホルダー 2"/>
          <p:cNvSpPr txBox="1"/>
          <p:nvPr>
            <p:ph type="body" sz="half" idx="1"/>
          </p:nvPr>
        </p:nvSpPr>
        <p:spPr>
          <a:xfrm>
            <a:off x="838200" y="1825625"/>
            <a:ext cx="10515600" cy="1636193"/>
          </a:xfrm>
          <a:prstGeom prst="rect">
            <a:avLst/>
          </a:prstGeom>
        </p:spPr>
        <p:txBody>
          <a:bodyPr/>
          <a:lstStyle/>
          <a:p>
            <a:pPr marL="514350" indent="-514350">
              <a:buFontTx/>
              <a:buAutoNum type="arabicPeriod" startAt="1"/>
              <a:defRPr sz="2300"/>
            </a:pPr>
            <a:r>
              <a:t>Previous work experience and job responsibilities</a:t>
            </a:r>
          </a:p>
          <a:p>
            <a:pPr marL="514350" indent="-514350">
              <a:buFontTx/>
              <a:buAutoNum type="arabicPeriod" startAt="1"/>
              <a:defRPr sz="2300"/>
            </a:pPr>
            <a:r>
              <a:t>Research achievements (M.S. thesis, published papers, ongoing survey)</a:t>
            </a:r>
          </a:p>
          <a:p>
            <a:pPr marL="514350" indent="-514350">
              <a:buFontTx/>
              <a:buAutoNum type="arabicPeriod" startAt="1"/>
              <a:defRPr sz="2300"/>
            </a:pPr>
            <a:r>
              <a:t>Motivation for pursuing higher education and doctoral research plan</a:t>
            </a:r>
          </a:p>
        </p:txBody>
      </p:sp>
      <p:sp>
        <p:nvSpPr>
          <p:cNvPr id="100" name="スライド番号プレースホルダー 3"/>
          <p:cNvSpPr txBox="1"/>
          <p:nvPr>
            <p:ph type="sldNum" sz="quarter" idx="4294967295"/>
          </p:nvPr>
        </p:nvSpPr>
        <p:spPr>
          <a:xfrm>
            <a:off x="11783466" y="184466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Work experience</a:t>
            </a:r>
          </a:p>
        </p:txBody>
      </p:sp>
      <p:sp>
        <p:nvSpPr>
          <p:cNvPr id="103" name="コンテンツ プレースホルダー 2"/>
          <p:cNvSpPr txBox="1"/>
          <p:nvPr>
            <p:ph type="body" idx="1"/>
          </p:nvPr>
        </p:nvSpPr>
        <p:spPr>
          <a:xfrm>
            <a:off x="838199" y="1838325"/>
            <a:ext cx="11005457" cy="4351338"/>
          </a:xfrm>
          <a:prstGeom prst="rect">
            <a:avLst/>
          </a:prstGeom>
        </p:spPr>
        <p:txBody>
          <a:bodyPr/>
          <a:lstStyle/>
          <a:p>
            <a:pPr marL="221740" indent="-221740" algn="just" defTabSz="886966">
              <a:spcBef>
                <a:spcPts val="900"/>
              </a:spcBef>
              <a:defRPr b="1" sz="2200"/>
            </a:pPr>
            <a:r>
              <a:t>B.Sc. in Computer Science &amp; Engineering</a:t>
            </a:r>
            <a:r>
              <a:rPr b="0"/>
              <a:t>, University of Dhaka [2004 — 2010]</a:t>
            </a:r>
          </a:p>
          <a:p>
            <a:pPr marL="221740" indent="-221740" algn="just" defTabSz="886966">
              <a:spcBef>
                <a:spcPts val="900"/>
              </a:spcBef>
              <a:defRPr b="1" sz="2200"/>
            </a:pPr>
            <a:r>
              <a:t>M.S. in Computer Science &amp; Engineering</a:t>
            </a:r>
            <a:r>
              <a:rPr b="0"/>
              <a:t>, University of Dhaka [2010 — 2012]</a:t>
            </a:r>
          </a:p>
          <a:p>
            <a:pPr marL="0" indent="0" algn="just" defTabSz="886966">
              <a:spcBef>
                <a:spcPts val="900"/>
              </a:spcBef>
              <a:buSzTx/>
              <a:buNone/>
              <a:defRPr sz="2200"/>
            </a:pPr>
            <a:r>
              <a:t>        (Research: Reversible logic, quantum computing, low-power VLSI)</a:t>
            </a:r>
          </a:p>
          <a:p>
            <a:pPr marL="175058" indent="-175058" algn="just" defTabSz="886966">
              <a:spcBef>
                <a:spcPts val="900"/>
              </a:spcBef>
              <a:buFontTx/>
              <a:defRPr b="1" sz="2200"/>
            </a:pPr>
            <a:r>
              <a:t>Software Engineer at Samsung Bangladesh R&amp;D Center</a:t>
            </a:r>
            <a:r>
              <a:rPr b="0"/>
              <a:t>, Dhaka [2011 — 2012]</a:t>
            </a:r>
          </a:p>
          <a:p>
            <a:pPr marL="0" indent="0" algn="just" defTabSz="886966">
              <a:spcBef>
                <a:spcPts val="900"/>
              </a:spcBef>
              <a:buSzTx/>
              <a:buNone/>
              <a:defRPr sz="2200"/>
            </a:pPr>
            <a:r>
              <a:t>        (Worked in Commercial Development Team, SMP Mobile Platform)</a:t>
            </a:r>
          </a:p>
          <a:p>
            <a:pPr marL="221740" indent="-221740" algn="just" defTabSz="886966">
              <a:spcBef>
                <a:spcPts val="900"/>
              </a:spcBef>
              <a:defRPr b="1" sz="2200"/>
            </a:pPr>
            <a:r>
              <a:t>Lecturer at Daffodil International University</a:t>
            </a:r>
            <a:r>
              <a:rPr b="0"/>
              <a:t>, Dhaka, Bangladesh</a:t>
            </a:r>
            <a:r>
              <a:t> </a:t>
            </a:r>
            <a:r>
              <a:rPr b="0"/>
              <a:t> [2012 — 2014]</a:t>
            </a:r>
          </a:p>
          <a:p>
            <a:pPr marL="221740" indent="-221740" algn="just" defTabSz="886966">
              <a:spcBef>
                <a:spcPts val="900"/>
              </a:spcBef>
              <a:defRPr b="1" sz="2200"/>
            </a:pPr>
            <a:r>
              <a:t>Joint Director (ICT) at  Bangladesh Bank</a:t>
            </a:r>
            <a:r>
              <a:rPr b="0"/>
              <a:t>, Dhaka, Bangladesh  [2014 — Present]</a:t>
            </a:r>
          </a:p>
          <a:p>
            <a:pPr marL="0" indent="0" algn="just" defTabSz="886966">
              <a:spcBef>
                <a:spcPts val="900"/>
              </a:spcBef>
              <a:buSzTx/>
              <a:buNone/>
              <a:defRPr sz="2200"/>
            </a:pPr>
            <a:r>
              <a:t>        (Large-scale secure ICT systems, cloud-native platforms, audit technology)</a:t>
            </a:r>
          </a:p>
          <a:p>
            <a:pPr marL="221740" indent="-221740" algn="just" defTabSz="886966">
              <a:spcBef>
                <a:spcPts val="900"/>
              </a:spcBef>
              <a:defRPr b="1" sz="2200"/>
            </a:pPr>
            <a:r>
              <a:t>Researcher at University of Dhaka</a:t>
            </a:r>
            <a:r>
              <a:rPr b="0"/>
              <a:t>, Dhaka, Bangladesh [Mar, 2026 — Present]</a:t>
            </a:r>
          </a:p>
          <a:p>
            <a:pPr marL="0" indent="0" algn="just" defTabSz="886966">
              <a:spcBef>
                <a:spcPts val="900"/>
              </a:spcBef>
              <a:buSzTx/>
              <a:buNone/>
              <a:defRPr sz="2200"/>
            </a:pPr>
            <a:r>
              <a:t>       Co-investigator: Systematic survey on Quantum AI-powered IoT (57-paper corpus)</a:t>
            </a:r>
          </a:p>
        </p:txBody>
      </p:sp>
      <p:sp>
        <p:nvSpPr>
          <p:cNvPr id="104" name="スライド番号プレースホルダー 3"/>
          <p:cNvSpPr txBox="1"/>
          <p:nvPr>
            <p:ph type="sldNum" sz="quarter" idx="4294967295"/>
          </p:nvPr>
        </p:nvSpPr>
        <p:spPr>
          <a:xfrm>
            <a:off x="11783466" y="184466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Responsibilities</a:t>
            </a:r>
          </a:p>
        </p:txBody>
      </p:sp>
      <p:sp>
        <p:nvSpPr>
          <p:cNvPr id="107" name="コンテンツ プレースホルダー 2"/>
          <p:cNvSpPr txBox="1"/>
          <p:nvPr>
            <p:ph type="body" idx="1"/>
          </p:nvPr>
        </p:nvSpPr>
        <p:spPr>
          <a:xfrm>
            <a:off x="683953" y="1282256"/>
            <a:ext cx="10515601" cy="4024106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81000"/>
              </a:lnSpc>
              <a:defRPr sz="2300"/>
            </a:pPr>
            <a:r>
              <a:t>Secure ICT architecture, software engineering, and research leadership</a:t>
            </a:r>
          </a:p>
          <a:p>
            <a:pPr algn="just">
              <a:lnSpc>
                <a:spcPct val="81000"/>
              </a:lnSpc>
              <a:defRPr sz="2300"/>
            </a:pPr>
            <a:r>
              <a:t>Conduct comprehensive ICT audits across multiple departments, evaluating system security, data integrity, operational compliance with regulatory standards.</a:t>
            </a:r>
          </a:p>
          <a:p>
            <a:pPr algn="just">
              <a:lnSpc>
                <a:spcPct val="81000"/>
              </a:lnSpc>
              <a:defRPr sz="2300"/>
            </a:pPr>
            <a:r>
              <a:t>Implement web based data backup drive in PHP to safeguard critical information, employing encryption and regular backup to prevent data loss.</a:t>
            </a:r>
          </a:p>
        </p:txBody>
      </p:sp>
      <p:sp>
        <p:nvSpPr>
          <p:cNvPr id="108" name="スライド番号プレースホルダー 2"/>
          <p:cNvSpPr txBox="1"/>
          <p:nvPr>
            <p:ph type="sldNum" sz="quarter" idx="4294967295"/>
          </p:nvPr>
        </p:nvSpPr>
        <p:spPr>
          <a:xfrm>
            <a:off x="11783466" y="184466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タイトル 1"/>
          <p:cNvSpPr txBox="1"/>
          <p:nvPr>
            <p:ph type="title"/>
          </p:nvPr>
        </p:nvSpPr>
        <p:spPr>
          <a:xfrm>
            <a:off x="505992" y="140859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Research Achievements</a:t>
            </a:r>
          </a:p>
        </p:txBody>
      </p:sp>
      <p:graphicFrame>
        <p:nvGraphicFramePr>
          <p:cNvPr id="111" name="表 8"/>
          <p:cNvGraphicFramePr/>
          <p:nvPr/>
        </p:nvGraphicFramePr>
        <p:xfrm>
          <a:off x="619299" y="2401634"/>
          <a:ext cx="11166299" cy="235051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404488"/>
                <a:gridCol w="2479422"/>
                <a:gridCol w="1732277"/>
                <a:gridCol w="1947557"/>
                <a:gridCol w="1602554"/>
              </a:tblGrid>
              <a:tr h="101600"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IEEE/ACM Journals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Conferences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Surveys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Other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</a:tr>
              <a:tr h="6287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Reversible &amp; quantum logic design (M.S. era)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—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Multiple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—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—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6287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Quantum ML &amp; IoT security analytics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In progress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Multiple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1 (co-PI)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—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</a:tr>
              <a:tr h="14191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Hybrid edge intelligence &amp; benchmarking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Planned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Planned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Foundation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Open artifacts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</a:tr>
              <a:tr h="6287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Professional ICT &amp; secure systems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—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—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—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Industry scale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FFF2CC"/>
                    </a:solidFill>
                  </a:tcPr>
                </a:tc>
              </a:tr>
              <a:tr h="22074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Total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Several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Several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1 major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Growing track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112" name="コンテンツ プレースホルダー 2"/>
          <p:cNvSpPr txBox="1"/>
          <p:nvPr>
            <p:ph type="body" sz="quarter" idx="1"/>
          </p:nvPr>
        </p:nvSpPr>
        <p:spPr>
          <a:xfrm>
            <a:off x="563879" y="1565019"/>
            <a:ext cx="11386292" cy="718968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3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Research spans quantum computing, reversible logic, hybrid IoT security, and embedded AI—with publications in IEEE/ACM venues.</a:t>
            </a:r>
          </a:p>
        </p:txBody>
      </p:sp>
      <p:sp>
        <p:nvSpPr>
          <p:cNvPr id="113" name="スライド番号プレースホルダー 2"/>
          <p:cNvSpPr txBox="1"/>
          <p:nvPr>
            <p:ph type="sldNum" sz="quarter" idx="4294967295"/>
          </p:nvPr>
        </p:nvSpPr>
        <p:spPr>
          <a:xfrm>
            <a:off x="11783466" y="184466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タイトル 1"/>
          <p:cNvSpPr txBox="1"/>
          <p:nvPr>
            <p:ph type="title"/>
          </p:nvPr>
        </p:nvSpPr>
        <p:spPr>
          <a:xfrm>
            <a:off x="438912" y="136525"/>
            <a:ext cx="10914889" cy="1325563"/>
          </a:xfrm>
          <a:prstGeom prst="rect">
            <a:avLst/>
          </a:prstGeom>
        </p:spPr>
        <p:txBody>
          <a:bodyPr/>
          <a:lstStyle>
            <a:lvl1pPr defTabSz="896111">
              <a:defRPr sz="4300"/>
            </a:lvl1pPr>
          </a:lstStyle>
          <a:p>
            <a:pPr/>
            <a:r>
              <a:t>Ongoing survey — Quantum AI-powered IoT</a:t>
            </a:r>
          </a:p>
        </p:txBody>
      </p:sp>
      <p:sp>
        <p:nvSpPr>
          <p:cNvPr id="116" name="テキスト ボックス 3"/>
          <p:cNvSpPr txBox="1"/>
          <p:nvPr/>
        </p:nvSpPr>
        <p:spPr>
          <a:xfrm>
            <a:off x="620853" y="1889685"/>
            <a:ext cx="4371406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3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( Survey manuscript )</a:t>
            </a:r>
          </a:p>
        </p:txBody>
      </p:sp>
      <p:sp>
        <p:nvSpPr>
          <p:cNvPr id="117" name="テキスト ボックス 12"/>
          <p:cNvSpPr txBox="1"/>
          <p:nvPr/>
        </p:nvSpPr>
        <p:spPr>
          <a:xfrm>
            <a:off x="576982" y="4169004"/>
            <a:ext cx="5684250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3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( PRISMA corpus n=57 )</a:t>
            </a:r>
          </a:p>
        </p:txBody>
      </p:sp>
      <p:sp>
        <p:nvSpPr>
          <p:cNvPr id="118" name="テキスト ボックス 13"/>
          <p:cNvSpPr txBox="1"/>
          <p:nvPr/>
        </p:nvSpPr>
        <p:spPr>
          <a:xfrm>
            <a:off x="783177" y="4767665"/>
            <a:ext cx="10498829" cy="802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• Four-paradigm taxonomy: Conventional / AI / Quantum / QAI IoT</a:t>
            </a:r>
            <a:br/>
            <a:r>
              <a:t>• Unified anomaly-detection benchmark J(W) with latency &amp; complexity metrics</a:t>
            </a:r>
          </a:p>
        </p:txBody>
      </p:sp>
      <p:sp>
        <p:nvSpPr>
          <p:cNvPr id="119" name="テキスト ボックス 14"/>
          <p:cNvSpPr txBox="1"/>
          <p:nvPr/>
        </p:nvSpPr>
        <p:spPr>
          <a:xfrm>
            <a:off x="739054" y="2414227"/>
            <a:ext cx="10587074" cy="802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• Smart-building IoT security gateway &amp; post-discharge RPM IoMT case studies</a:t>
            </a:r>
            <a:br/>
            <a:r>
              <a:t>• Hybrid Reference Architecture with policy-routed deployment paths α–γ</a:t>
            </a:r>
          </a:p>
        </p:txBody>
      </p:sp>
      <p:sp>
        <p:nvSpPr>
          <p:cNvPr id="120" name="スライド番号プレースホルダー 2"/>
          <p:cNvSpPr txBox="1"/>
          <p:nvPr>
            <p:ph type="sldNum" sz="quarter" idx="4294967295"/>
          </p:nvPr>
        </p:nvSpPr>
        <p:spPr>
          <a:xfrm>
            <a:off x="11783466" y="184466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タイトル 1"/>
          <p:cNvSpPr txBox="1"/>
          <p:nvPr>
            <p:ph type="title"/>
          </p:nvPr>
        </p:nvSpPr>
        <p:spPr>
          <a:xfrm>
            <a:off x="438912" y="136525"/>
            <a:ext cx="11314177" cy="1325563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pPr/>
            <a:r>
              <a:t>Past presentations (M.S. thesis, published papers)</a:t>
            </a:r>
          </a:p>
        </p:txBody>
      </p:sp>
      <p:sp>
        <p:nvSpPr>
          <p:cNvPr id="123" name="テキスト ボックス 5"/>
          <p:cNvSpPr txBox="1"/>
          <p:nvPr/>
        </p:nvSpPr>
        <p:spPr>
          <a:xfrm>
            <a:off x="707890" y="1612946"/>
            <a:ext cx="11029092" cy="18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300">
                <a:latin typeface="+mn-lt"/>
                <a:ea typeface="+mn-ea"/>
                <a:cs typeface="+mn-cs"/>
                <a:sym typeface="游ゴシック"/>
              </a:defRPr>
            </a:pPr>
            <a:r>
              <a:t>M.S. thesis — Reversible &amp; quantum logic design</a:t>
            </a:r>
          </a:p>
          <a:p>
            <a:pPr>
              <a:defRPr b="1" sz="2300">
                <a:latin typeface="+mn-lt"/>
                <a:ea typeface="+mn-ea"/>
                <a:cs typeface="+mn-cs"/>
                <a:sym typeface="游ゴシック"/>
              </a:defRPr>
            </a:pPr>
          </a:p>
          <a:p>
            <a:pPr defTabSz="457200">
              <a:defRPr b="1" sz="2300"/>
            </a:pPr>
            <a:r>
              <a:t>Thesis Paper:</a:t>
            </a:r>
            <a:r>
              <a:rPr b="0"/>
              <a:t> Design and Minimization of Reversible Programmable Logic Arrays and Its Realization using Pass Transistors (Published in 22th GLS VLSI, 2012) </a:t>
            </a:r>
          </a:p>
          <a:p>
            <a:pPr defTabSz="457200">
              <a:defRPr b="1" sz="2300"/>
            </a:pPr>
            <a:r>
              <a:t>Supervisor: </a:t>
            </a:r>
            <a:r>
              <a:rPr b="0"/>
              <a:t>Prof. Hafiz Md. Hasan Babu, Department of CSE, University of Dhaka</a:t>
            </a:r>
          </a:p>
        </p:txBody>
      </p:sp>
      <p:sp>
        <p:nvSpPr>
          <p:cNvPr id="124" name="スライド番号プレースホルダー 7"/>
          <p:cNvSpPr txBox="1"/>
          <p:nvPr>
            <p:ph type="sldNum" sz="quarter" idx="4294967295"/>
          </p:nvPr>
        </p:nvSpPr>
        <p:spPr>
          <a:xfrm>
            <a:off x="11783466" y="184466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5" name="M.S. thesis Publication — Reversible &amp; quantum logic design…"/>
          <p:cNvSpPr txBox="1"/>
          <p:nvPr/>
        </p:nvSpPr>
        <p:spPr>
          <a:xfrm>
            <a:off x="715454" y="4131049"/>
            <a:ext cx="10761092" cy="18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300">
                <a:latin typeface="+mn-lt"/>
                <a:ea typeface="+mn-ea"/>
                <a:cs typeface="+mn-cs"/>
                <a:sym typeface="游ゴシック"/>
              </a:defRPr>
            </a:pPr>
            <a:r>
              <a:t>M.S. thesis Publication — Reversible &amp; quantum logic design</a:t>
            </a:r>
          </a:p>
          <a:p>
            <a:pPr algn="just" defTabSz="457200"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S. K. Mitra, Lafifa Jamal, Mineo Kaneko, &amp; Hafiz Md. Hasan Babu. 2012. "</a:t>
            </a:r>
            <a:r>
              <a:rPr b="1"/>
              <a:t>An efficient approach for designing and minimizing reversible programmable logic arrays</a:t>
            </a:r>
            <a:r>
              <a:t>," In Proceedings of the great lakes' symposium on VLSI (GLS-VLSI’12). ACM, New York, NY, USA, 215-220, DOI: 10.1145/2206781.2206834.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タイトル 1"/>
          <p:cNvSpPr txBox="1"/>
          <p:nvPr>
            <p:ph type="title"/>
          </p:nvPr>
        </p:nvSpPr>
        <p:spPr>
          <a:xfrm>
            <a:off x="838200" y="1619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Motivation for pursuing higher education</a:t>
            </a:r>
          </a:p>
        </p:txBody>
      </p:sp>
      <p:sp>
        <p:nvSpPr>
          <p:cNvPr id="128" name="コンテンツ プレースホルダー 2"/>
          <p:cNvSpPr txBox="1"/>
          <p:nvPr>
            <p:ph type="body" idx="1"/>
          </p:nvPr>
        </p:nvSpPr>
        <p:spPr>
          <a:xfrm>
            <a:off x="964797" y="1611082"/>
            <a:ext cx="10809192" cy="4685215"/>
          </a:xfrm>
          <a:prstGeom prst="rect">
            <a:avLst/>
          </a:prstGeom>
        </p:spPr>
        <p:txBody>
          <a:bodyPr/>
          <a:lstStyle/>
          <a:p>
            <a:pPr algn="just">
              <a:defRPr sz="2300"/>
            </a:pPr>
            <a:r>
              <a:t>Billions of IoT endpoints need trustworthy, energy-efficient security analytics.</a:t>
            </a:r>
          </a:p>
          <a:p>
            <a:pPr algn="just">
              <a:defRPr sz="2300"/>
            </a:pPr>
            <a:r>
              <a:t>Hybrid Quantum AI at the edge is promising—but deployability remains unproven.</a:t>
            </a:r>
          </a:p>
          <a:p>
            <a:pPr algn="just">
              <a:defRPr sz="2300"/>
            </a:pPr>
          </a:p>
          <a:p>
            <a:pPr algn="just">
              <a:defRPr b="1" sz="2300"/>
            </a:pPr>
            <a:r>
              <a:t>Things I want to cultivate in doctoral studies</a:t>
            </a:r>
          </a:p>
          <a:p>
            <a:pPr lvl="1" marL="1019342" indent="-384340" algn="just">
              <a:buFontTx/>
              <a:buAutoNum type="alphaUcPeriod" startAt="1"/>
              <a:defRPr sz="2300"/>
            </a:pPr>
            <a:r>
              <a:t>Rigorous research execution and reproducible benchmarking</a:t>
            </a:r>
          </a:p>
          <a:p>
            <a:pPr lvl="1" marL="1019342" indent="-384340" algn="just">
              <a:buFontTx/>
              <a:buAutoNum type="alphaUcPeriod" startAt="1"/>
              <a:defRPr sz="2300"/>
            </a:pPr>
            <a:r>
              <a:t>Technical leadership bridging academic research and industry deployment</a:t>
            </a:r>
          </a:p>
          <a:p>
            <a:pPr algn="just">
              <a:defRPr sz="2300"/>
            </a:pPr>
          </a:p>
          <a:p>
            <a:pPr algn="just">
              <a:defRPr b="1" sz="2300"/>
            </a:pPr>
            <a:r>
              <a:t>Goal</a:t>
            </a:r>
            <a:r>
              <a:rPr b="0"/>
              <a:t>: </a:t>
            </a:r>
          </a:p>
          <a:p>
            <a:pPr lvl="3" marL="0" indent="685800" algn="just">
              <a:buSzTx/>
              <a:buNone/>
              <a:defRPr sz="2300"/>
            </a:pPr>
            <a:r>
              <a:t>Bridge quantum ML research and deployable edge IoT security systems</a:t>
            </a:r>
          </a:p>
        </p:txBody>
      </p:sp>
      <p:sp>
        <p:nvSpPr>
          <p:cNvPr id="129" name="スライド番号プレースホルダー 3"/>
          <p:cNvSpPr txBox="1"/>
          <p:nvPr>
            <p:ph type="sldNum" sz="quarter" idx="4294967295"/>
          </p:nvPr>
        </p:nvSpPr>
        <p:spPr>
          <a:xfrm>
            <a:off x="11783466" y="184466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タイトル 1"/>
          <p:cNvSpPr txBox="1"/>
          <p:nvPr>
            <p:ph type="title"/>
          </p:nvPr>
        </p:nvSpPr>
        <p:spPr>
          <a:xfrm>
            <a:off x="730062" y="2010647"/>
            <a:ext cx="10515601" cy="13255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PhD Research plan</a:t>
            </a:r>
          </a:p>
        </p:txBody>
      </p:sp>
      <p:sp>
        <p:nvSpPr>
          <p:cNvPr id="132" name="コンテンツ プレースホルダー 2"/>
          <p:cNvSpPr txBox="1"/>
          <p:nvPr>
            <p:ph type="body" sz="quarter" idx="1"/>
          </p:nvPr>
        </p:nvSpPr>
        <p:spPr>
          <a:xfrm>
            <a:off x="1112510" y="3772727"/>
            <a:ext cx="9750706" cy="1355865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None/>
            </a:lvl1pPr>
          </a:lstStyle>
          <a:p>
            <a:pPr/>
            <a:r>
              <a:t>Trustworthy Hybrid Quantum–Classical AI for Secure IoT Edge Systems: Secure Model Deployment, Trusted Inference, and Zero-Day Attack Detection</a:t>
            </a:r>
          </a:p>
        </p:txBody>
      </p:sp>
      <p:sp>
        <p:nvSpPr>
          <p:cNvPr id="133" name="正方形/長方形 3"/>
          <p:cNvSpPr/>
          <p:nvPr/>
        </p:nvSpPr>
        <p:spPr>
          <a:xfrm>
            <a:off x="973365" y="3568143"/>
            <a:ext cx="10272298" cy="1595067"/>
          </a:xfrm>
          <a:prstGeom prst="rect">
            <a:avLst/>
          </a:prstGeom>
          <a:ln w="12700">
            <a:solidFill>
              <a:srgbClr val="000000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游ゴシック"/>
              </a:defRPr>
            </a:pPr>
          </a:p>
        </p:txBody>
      </p:sp>
      <p:sp>
        <p:nvSpPr>
          <p:cNvPr id="134" name="スライド番号プレースホルダー 4"/>
          <p:cNvSpPr txBox="1"/>
          <p:nvPr>
            <p:ph type="sldNum" sz="quarter" idx="4294967295"/>
          </p:nvPr>
        </p:nvSpPr>
        <p:spPr>
          <a:xfrm>
            <a:off x="11783466" y="184466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Background</a:t>
            </a:r>
          </a:p>
        </p:txBody>
      </p:sp>
      <p:sp>
        <p:nvSpPr>
          <p:cNvPr id="137" name="テキスト ボックス 11"/>
          <p:cNvSpPr txBox="1"/>
          <p:nvPr/>
        </p:nvSpPr>
        <p:spPr>
          <a:xfrm>
            <a:off x="926832" y="1235016"/>
            <a:ext cx="10816655" cy="1513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just">
              <a:defRPr sz="23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Billions of IoT endpoints generate continuous telemetry under strict energy, latency, and trust constraints. Existing AI-based IoT security research focuses primarily on detection accuracy but rarely protects deployed AI models, inference pipelines, device identities, and cryptographic assets.</a:t>
            </a:r>
          </a:p>
        </p:txBody>
      </p:sp>
      <p:sp>
        <p:nvSpPr>
          <p:cNvPr id="138" name="テキスト ボックス 12"/>
          <p:cNvSpPr txBox="1"/>
          <p:nvPr/>
        </p:nvSpPr>
        <p:spPr>
          <a:xfrm>
            <a:off x="6489360" y="4545526"/>
            <a:ext cx="5281915" cy="1310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just">
              <a:defRPr sz="20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Practical IoT deployments require Trusted Execution Environments (TEE), Hardware Root of Trust, Secure Boot, Secure Key Management, and Remote Attestation.</a:t>
            </a:r>
          </a:p>
        </p:txBody>
      </p:sp>
      <p:grpSp>
        <p:nvGrpSpPr>
          <p:cNvPr id="145" name="思考の吹き出し: 雲形 16"/>
          <p:cNvGrpSpPr/>
          <p:nvPr/>
        </p:nvGrpSpPr>
        <p:grpSpPr>
          <a:xfrm>
            <a:off x="7210366" y="2579095"/>
            <a:ext cx="3840375" cy="1826382"/>
            <a:chOff x="81" y="-13"/>
            <a:chExt cx="3840373" cy="1826380"/>
          </a:xfrm>
        </p:grpSpPr>
        <p:grpSp>
          <p:nvGrpSpPr>
            <p:cNvPr id="143" name="Group"/>
            <p:cNvGrpSpPr/>
            <p:nvPr/>
          </p:nvGrpSpPr>
          <p:grpSpPr>
            <a:xfrm>
              <a:off x="81" y="-14"/>
              <a:ext cx="3840375" cy="1826381"/>
              <a:chOff x="81" y="-12"/>
              <a:chExt cx="3840373" cy="1826380"/>
            </a:xfrm>
          </p:grpSpPr>
          <p:sp>
            <p:nvSpPr>
              <p:cNvPr id="139" name="Shape"/>
              <p:cNvSpPr/>
              <p:nvPr/>
            </p:nvSpPr>
            <p:spPr>
              <a:xfrm>
                <a:off x="81" y="-13"/>
                <a:ext cx="3840375" cy="10904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79" h="20684" fill="norm" stroke="1" extrusionOk="0">
                    <a:moveTo>
                      <a:pt x="1901" y="6800"/>
                    </a:moveTo>
                    <a:cubicBezTo>
                      <a:pt x="1658" y="4397"/>
                      <a:pt x="2907" y="2184"/>
                      <a:pt x="4691" y="1857"/>
                    </a:cubicBezTo>
                    <a:cubicBezTo>
                      <a:pt x="5414" y="1724"/>
                      <a:pt x="6149" y="1922"/>
                      <a:pt x="6778" y="2419"/>
                    </a:cubicBezTo>
                    <a:cubicBezTo>
                      <a:pt x="7445" y="725"/>
                      <a:pt x="9003" y="82"/>
                      <a:pt x="10259" y="981"/>
                    </a:cubicBezTo>
                    <a:cubicBezTo>
                      <a:pt x="10478" y="1139"/>
                      <a:pt x="10680" y="1338"/>
                      <a:pt x="10857" y="1573"/>
                    </a:cubicBezTo>
                    <a:cubicBezTo>
                      <a:pt x="11377" y="169"/>
                      <a:pt x="12642" y="-401"/>
                      <a:pt x="13683" y="299"/>
                    </a:cubicBezTo>
                    <a:cubicBezTo>
                      <a:pt x="13971" y="493"/>
                      <a:pt x="14223" y="774"/>
                      <a:pt x="14418" y="1119"/>
                    </a:cubicBezTo>
                    <a:cubicBezTo>
                      <a:pt x="15255" y="-209"/>
                      <a:pt x="16734" y="-373"/>
                      <a:pt x="17722" y="753"/>
                    </a:cubicBezTo>
                    <a:cubicBezTo>
                      <a:pt x="18137" y="1226"/>
                      <a:pt x="18417" y="1878"/>
                      <a:pt x="18513" y="2598"/>
                    </a:cubicBezTo>
                    <a:cubicBezTo>
                      <a:pt x="19885" y="3102"/>
                      <a:pt x="20694" y="5013"/>
                      <a:pt x="20321" y="6865"/>
                    </a:cubicBezTo>
                    <a:cubicBezTo>
                      <a:pt x="20289" y="7020"/>
                      <a:pt x="20250" y="7173"/>
                      <a:pt x="20203" y="7321"/>
                    </a:cubicBezTo>
                    <a:cubicBezTo>
                      <a:pt x="21303" y="9251"/>
                      <a:pt x="21034" y="12017"/>
                      <a:pt x="19601" y="13499"/>
                    </a:cubicBezTo>
                    <a:cubicBezTo>
                      <a:pt x="19156" y="13961"/>
                      <a:pt x="18629" y="14259"/>
                      <a:pt x="18072" y="14367"/>
                    </a:cubicBezTo>
                    <a:cubicBezTo>
                      <a:pt x="18072" y="16443"/>
                      <a:pt x="16822" y="18126"/>
                      <a:pt x="15280" y="18126"/>
                    </a:cubicBezTo>
                    <a:cubicBezTo>
                      <a:pt x="14757" y="18126"/>
                      <a:pt x="14245" y="17928"/>
                      <a:pt x="13801" y="17556"/>
                    </a:cubicBezTo>
                    <a:cubicBezTo>
                      <a:pt x="13280" y="19883"/>
                      <a:pt x="11460" y="21199"/>
                      <a:pt x="9738" y="20494"/>
                    </a:cubicBezTo>
                    <a:cubicBezTo>
                      <a:pt x="9016" y="20199"/>
                      <a:pt x="8392" y="19574"/>
                      <a:pt x="7973" y="18727"/>
                    </a:cubicBezTo>
                    <a:cubicBezTo>
                      <a:pt x="6209" y="20160"/>
                      <a:pt x="3920" y="19389"/>
                      <a:pt x="2859" y="17004"/>
                    </a:cubicBezTo>
                    <a:cubicBezTo>
                      <a:pt x="2846" y="16974"/>
                      <a:pt x="2833" y="16944"/>
                      <a:pt x="2820" y="16914"/>
                    </a:cubicBezTo>
                    <a:cubicBezTo>
                      <a:pt x="1666" y="17096"/>
                      <a:pt x="620" y="15986"/>
                      <a:pt x="485" y="14435"/>
                    </a:cubicBezTo>
                    <a:cubicBezTo>
                      <a:pt x="412" y="13608"/>
                      <a:pt x="615" y="12780"/>
                      <a:pt x="1038" y="12172"/>
                    </a:cubicBezTo>
                    <a:cubicBezTo>
                      <a:pt x="39" y="11379"/>
                      <a:pt x="-297" y="9639"/>
                      <a:pt x="288" y="8285"/>
                    </a:cubicBezTo>
                    <a:cubicBezTo>
                      <a:pt x="626" y="7504"/>
                      <a:pt x="1218" y="6988"/>
                      <a:pt x="1883" y="6895"/>
                    </a:cubicBezTo>
                    <a:close/>
                  </a:path>
                </a:pathLst>
              </a:custGeom>
              <a:solidFill>
                <a:srgbClr val="BDD7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游ゴシック"/>
                  </a:defRPr>
                </a:pPr>
              </a:p>
            </p:txBody>
          </p:sp>
          <p:sp>
            <p:nvSpPr>
              <p:cNvPr id="140" name="Circle"/>
              <p:cNvSpPr/>
              <p:nvPr/>
            </p:nvSpPr>
            <p:spPr>
              <a:xfrm>
                <a:off x="1687171" y="1210880"/>
                <a:ext cx="181383" cy="181383"/>
              </a:xfrm>
              <a:prstGeom prst="ellipse">
                <a:avLst/>
              </a:prstGeom>
              <a:solidFill>
                <a:srgbClr val="BDD7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游ゴシック"/>
                  </a:defRPr>
                </a:pPr>
              </a:p>
            </p:txBody>
          </p:sp>
          <p:sp>
            <p:nvSpPr>
              <p:cNvPr id="141" name="Circle"/>
              <p:cNvSpPr/>
              <p:nvPr/>
            </p:nvSpPr>
            <p:spPr>
              <a:xfrm>
                <a:off x="1665391" y="1518102"/>
                <a:ext cx="120923" cy="120923"/>
              </a:xfrm>
              <a:prstGeom prst="ellipse">
                <a:avLst/>
              </a:prstGeom>
              <a:solidFill>
                <a:srgbClr val="BDD7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游ゴシック"/>
                  </a:defRPr>
                </a:pPr>
              </a:p>
            </p:txBody>
          </p:sp>
          <p:sp>
            <p:nvSpPr>
              <p:cNvPr id="142" name="Circle"/>
              <p:cNvSpPr/>
              <p:nvPr/>
            </p:nvSpPr>
            <p:spPr>
              <a:xfrm>
                <a:off x="1654764" y="1765903"/>
                <a:ext cx="60465" cy="60465"/>
              </a:xfrm>
              <a:prstGeom prst="ellipse">
                <a:avLst/>
              </a:prstGeom>
              <a:solidFill>
                <a:srgbClr val="BDD7EE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8" tIns="45718" rIns="45718" bIns="45718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游ゴシック"/>
                  </a:defRPr>
                </a:pPr>
              </a:p>
            </p:txBody>
          </p:sp>
        </p:grpSp>
        <p:sp>
          <p:nvSpPr>
            <p:cNvPr id="144" name="Quantum AI for IoT Security"/>
            <p:cNvSpPr txBox="1"/>
            <p:nvPr/>
          </p:nvSpPr>
          <p:spPr>
            <a:xfrm>
              <a:off x="597891" y="190295"/>
              <a:ext cx="2372981" cy="650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>
                  <a:solidFill>
                    <a:srgbClr val="820BFF"/>
                  </a:solidFill>
                  <a:latin typeface="+mn-lt"/>
                  <a:ea typeface="+mn-ea"/>
                  <a:cs typeface="+mn-cs"/>
                  <a:sym typeface="游ゴシック"/>
                </a:defRPr>
              </a:lvl1pPr>
            </a:lstStyle>
            <a:p>
              <a:pPr/>
              <a:r>
                <a:t>Quantum AI for IoT Security</a:t>
              </a:r>
            </a:p>
          </p:txBody>
        </p:sp>
      </p:grpSp>
      <p:sp>
        <p:nvSpPr>
          <p:cNvPr id="146" name="スライド番号プレースホルダー 2"/>
          <p:cNvSpPr txBox="1"/>
          <p:nvPr>
            <p:ph type="sldNum" sz="quarter" idx="4294967295"/>
          </p:nvPr>
        </p:nvSpPr>
        <p:spPr>
          <a:xfrm>
            <a:off x="11698709" y="184466"/>
            <a:ext cx="273652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4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0544" y="2924767"/>
            <a:ext cx="5281916" cy="29710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>
            <a:lvl1pPr defTabSz="877822">
              <a:defRPr sz="4200"/>
            </a:lvl1pPr>
          </a:lstStyle>
          <a:p>
            <a:pPr/>
            <a:r>
              <a:t>Real Life Quantum AI-based IoT Application</a:t>
            </a:r>
          </a:p>
        </p:txBody>
      </p:sp>
      <p:sp>
        <p:nvSpPr>
          <p:cNvPr id="150" name="スライド番号プレースホルダー 2"/>
          <p:cNvSpPr txBox="1"/>
          <p:nvPr>
            <p:ph type="sldNum" sz="quarter" idx="4294967295"/>
          </p:nvPr>
        </p:nvSpPr>
        <p:spPr>
          <a:xfrm>
            <a:off x="11709944" y="184466"/>
            <a:ext cx="262416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5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3565" y="2327742"/>
            <a:ext cx="10262387" cy="29455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Research Questions</a:t>
            </a:r>
          </a:p>
        </p:txBody>
      </p:sp>
      <p:sp>
        <p:nvSpPr>
          <p:cNvPr id="154" name="スライド番号プレースホルダー 2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5" name="Attack Vector A: Zero-Day Malware and Novel Intrusions"/>
          <p:cNvSpPr txBox="1"/>
          <p:nvPr/>
        </p:nvSpPr>
        <p:spPr>
          <a:xfrm>
            <a:off x="929094" y="1751440"/>
            <a:ext cx="802011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b="1" sz="2300">
                <a:latin typeface="メイリオ"/>
                <a:ea typeface="メイリオ"/>
                <a:cs typeface="メイリオ"/>
                <a:sym typeface="メイリオ"/>
              </a:defRPr>
            </a:lvl1pPr>
          </a:lstStyle>
          <a:p>
            <a:pPr/>
            <a:r>
              <a:t>RQ1:</a:t>
            </a:r>
          </a:p>
        </p:txBody>
      </p:sp>
      <p:sp>
        <p:nvSpPr>
          <p:cNvPr id="156" name="Examples: Mirai variants, AI-generated malware, Unknown network intrusion patterns"/>
          <p:cNvSpPr txBox="1"/>
          <p:nvPr/>
        </p:nvSpPr>
        <p:spPr>
          <a:xfrm>
            <a:off x="1285088" y="2126369"/>
            <a:ext cx="9776553" cy="701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1" algn="just" defTabSz="457200"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Can hybrid quantum-classical models improve zero-day and stealthy attack detection compared with lightweight classical AI under fixed edge constraints?</a:t>
            </a:r>
          </a:p>
        </p:txBody>
      </p:sp>
      <p:sp>
        <p:nvSpPr>
          <p:cNvPr id="157" name="Attack Vector B: Lateral Movement in IoT Networks"/>
          <p:cNvSpPr txBox="1"/>
          <p:nvPr/>
        </p:nvSpPr>
        <p:spPr>
          <a:xfrm>
            <a:off x="953821" y="3024926"/>
            <a:ext cx="7565154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b="1" sz="23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RQ2:</a:t>
            </a:r>
          </a:p>
        </p:txBody>
      </p:sp>
      <p:sp>
        <p:nvSpPr>
          <p:cNvPr id="158" name="Examples: Smart-building gateways, Industrial IoT devices, Smart healthcare devices"/>
          <p:cNvSpPr txBox="1"/>
          <p:nvPr/>
        </p:nvSpPr>
        <p:spPr>
          <a:xfrm>
            <a:off x="1325470" y="3504873"/>
            <a:ext cx="9776554" cy="701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just">
              <a:defRPr sz="20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How can TEE, Root of Trust, Secure Boot, Remote Attestation, and Secure Key Management protect AI models and inference pipelines?</a:t>
            </a:r>
          </a:p>
        </p:txBody>
      </p:sp>
      <p:sp>
        <p:nvSpPr>
          <p:cNvPr id="159" name="Attack Vector C: Resource-Constrained Evasion Attacks"/>
          <p:cNvSpPr txBox="1"/>
          <p:nvPr/>
        </p:nvSpPr>
        <p:spPr>
          <a:xfrm>
            <a:off x="929094" y="4336515"/>
            <a:ext cx="802011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b="1" sz="23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RQ3:</a:t>
            </a:r>
          </a:p>
        </p:txBody>
      </p:sp>
      <p:sp>
        <p:nvSpPr>
          <p:cNvPr id="160" name="Examples: CPU exhaustion attacks Memory exhaustion attacks Battery-drain attacks"/>
          <p:cNvSpPr txBox="1"/>
          <p:nvPr/>
        </p:nvSpPr>
        <p:spPr>
          <a:xfrm>
            <a:off x="1347171" y="4819877"/>
            <a:ext cx="9776554" cy="701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just">
              <a:defRPr sz="20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What security, latency, energy, and deployment trade-offs emerge when integrating Quantum AI with trusted edge-computing architectures?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Challenges and Attack Vectors</a:t>
            </a:r>
          </a:p>
        </p:txBody>
      </p:sp>
      <p:sp>
        <p:nvSpPr>
          <p:cNvPr id="163" name="スライド番号プレースホルダー 2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64" name="Attack Vector A: Zero-Day Malware and Novel Intrusions"/>
          <p:cNvSpPr txBox="1"/>
          <p:nvPr/>
        </p:nvSpPr>
        <p:spPr>
          <a:xfrm>
            <a:off x="999624" y="1647423"/>
            <a:ext cx="7393801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sz="2300">
                <a:latin typeface="メイリオ"/>
                <a:ea typeface="メイリオ"/>
                <a:cs typeface="メイリオ"/>
                <a:sym typeface="メイリオ"/>
              </a:defRPr>
            </a:lvl1pPr>
          </a:lstStyle>
          <a:p>
            <a:pPr/>
            <a:r>
              <a:t>Attack Vector A: Zero-Day Malware and Novel Intrusions</a:t>
            </a:r>
          </a:p>
        </p:txBody>
      </p:sp>
      <p:sp>
        <p:nvSpPr>
          <p:cNvPr id="165" name="Examples: Mirai variants, AI-generated malware, Unknown network intrusion patterns"/>
          <p:cNvSpPr txBox="1"/>
          <p:nvPr/>
        </p:nvSpPr>
        <p:spPr>
          <a:xfrm>
            <a:off x="1692083" y="2002549"/>
            <a:ext cx="9621823" cy="383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Examples:</a:t>
            </a:r>
            <a:r>
              <a:rPr b="0"/>
              <a:t> Mirai variants, AI-generated malware, Unknown network intrusion patterns</a:t>
            </a:r>
          </a:p>
        </p:txBody>
      </p:sp>
      <p:sp>
        <p:nvSpPr>
          <p:cNvPr id="166" name="Security Gap: Signature-based IDS cannot detect attacks that have never been seen before."/>
          <p:cNvSpPr txBox="1"/>
          <p:nvPr/>
        </p:nvSpPr>
        <p:spPr>
          <a:xfrm>
            <a:off x="1715859" y="2330597"/>
            <a:ext cx="755764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Security Gap:</a:t>
            </a:r>
            <a:r>
              <a:rPr b="0"/>
              <a:t> Signature-based IDS cannot detect attacks that have never been seen before.</a:t>
            </a:r>
          </a:p>
        </p:txBody>
      </p:sp>
      <p:sp>
        <p:nvSpPr>
          <p:cNvPr id="167" name="Attack Vector B: Lateral Movement in IoT Networks"/>
          <p:cNvSpPr txBox="1"/>
          <p:nvPr/>
        </p:nvSpPr>
        <p:spPr>
          <a:xfrm>
            <a:off x="1079984" y="2752534"/>
            <a:ext cx="7565154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23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Attack Vector B: Lateral Movement in IoT Networks</a:t>
            </a:r>
          </a:p>
        </p:txBody>
      </p:sp>
      <p:sp>
        <p:nvSpPr>
          <p:cNvPr id="168" name="Examples: Smart-building gateways, Industrial IoT devices, Smart healthcare devices"/>
          <p:cNvSpPr txBox="1"/>
          <p:nvPr/>
        </p:nvSpPr>
        <p:spPr>
          <a:xfrm>
            <a:off x="1702194" y="3118679"/>
            <a:ext cx="7837048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600">
                <a:latin typeface="+mn-lt"/>
                <a:ea typeface="+mn-ea"/>
                <a:cs typeface="+mn-cs"/>
                <a:sym typeface="游ゴシック"/>
              </a:defRPr>
            </a:pPr>
            <a:r>
              <a:t>Examples:</a:t>
            </a:r>
            <a:r>
              <a:rPr b="0"/>
              <a:t> Smart-building gateways, Industrial IoT devices, Smart healthcare devices</a:t>
            </a:r>
          </a:p>
        </p:txBody>
      </p:sp>
      <p:sp>
        <p:nvSpPr>
          <p:cNvPr id="169" name="Security Gap: Traditional perimeter-based security cannot effectively detect internal propagation."/>
          <p:cNvSpPr txBox="1"/>
          <p:nvPr/>
        </p:nvSpPr>
        <p:spPr>
          <a:xfrm>
            <a:off x="1719387" y="3400913"/>
            <a:ext cx="8097994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Security Gap:</a:t>
            </a:r>
            <a:r>
              <a:rPr b="0"/>
              <a:t> Traditional perimeter-based security cannot effectively detect internal propagation.</a:t>
            </a:r>
          </a:p>
        </p:txBody>
      </p:sp>
      <p:sp>
        <p:nvSpPr>
          <p:cNvPr id="170" name="Attack Vector C: Resource-Constrained Evasion Attacks"/>
          <p:cNvSpPr txBox="1"/>
          <p:nvPr/>
        </p:nvSpPr>
        <p:spPr>
          <a:xfrm>
            <a:off x="1023871" y="3786610"/>
            <a:ext cx="7345307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sz="23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Attack Vector C: Resource-Constrained Evasion Attacks</a:t>
            </a:r>
          </a:p>
        </p:txBody>
      </p:sp>
      <p:sp>
        <p:nvSpPr>
          <p:cNvPr id="171" name="Examples: CPU exhaustion attacks Memory exhaustion attacks Battery-drain attacks"/>
          <p:cNvSpPr txBox="1"/>
          <p:nvPr/>
        </p:nvSpPr>
        <p:spPr>
          <a:xfrm>
            <a:off x="1716665" y="4178685"/>
            <a:ext cx="7795277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600">
                <a:latin typeface="+mn-lt"/>
                <a:ea typeface="+mn-ea"/>
                <a:cs typeface="+mn-cs"/>
                <a:sym typeface="游ゴシック"/>
              </a:defRPr>
            </a:pPr>
            <a:r>
              <a:t>Examples:</a:t>
            </a:r>
            <a:r>
              <a:rPr b="0"/>
              <a:t> CPU exhaustion attacks Memory exhaustion attacks Battery-drain attacks</a:t>
            </a:r>
          </a:p>
        </p:txBody>
      </p:sp>
      <p:sp>
        <p:nvSpPr>
          <p:cNvPr id="172" name="Security Gap: Complex security analytics cannot be deployed on low-power edge devices."/>
          <p:cNvSpPr txBox="1"/>
          <p:nvPr/>
        </p:nvSpPr>
        <p:spPr>
          <a:xfrm>
            <a:off x="1684267" y="4438980"/>
            <a:ext cx="7541476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spcBef>
                <a:spcPts val="1200"/>
              </a:spcBef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Security Gap: </a:t>
            </a:r>
            <a:r>
              <a:rPr b="0"/>
              <a:t>Complex security analytics cannot be deployed on low-power edge devices.</a:t>
            </a:r>
          </a:p>
        </p:txBody>
      </p:sp>
      <p:sp>
        <p:nvSpPr>
          <p:cNvPr id="173" name="Attack Vector D: Advanced Persistent and Stealthy Threats"/>
          <p:cNvSpPr txBox="1"/>
          <p:nvPr/>
        </p:nvSpPr>
        <p:spPr>
          <a:xfrm>
            <a:off x="936693" y="4824677"/>
            <a:ext cx="8662428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400"/>
              </a:spcBef>
              <a:defRPr sz="23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Attack Vector D: Advanced Persistent and Stealthy Threats</a:t>
            </a:r>
          </a:p>
        </p:txBody>
      </p:sp>
      <p:sp>
        <p:nvSpPr>
          <p:cNvPr id="174" name="Examples: Low-rate DDoS, Data exfiltration, Telemetry manipulation"/>
          <p:cNvSpPr txBox="1"/>
          <p:nvPr/>
        </p:nvSpPr>
        <p:spPr>
          <a:xfrm>
            <a:off x="1776341" y="5229827"/>
            <a:ext cx="6289633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1600">
                <a:latin typeface="+mn-lt"/>
                <a:ea typeface="+mn-ea"/>
                <a:cs typeface="+mn-cs"/>
                <a:sym typeface="游ゴシック"/>
              </a:defRPr>
            </a:pPr>
            <a:r>
              <a:t>Examples:</a:t>
            </a:r>
            <a:r>
              <a:rPr b="0"/>
              <a:t> Low-rate DDoS, Data exfiltration, Telemetry manipulation</a:t>
            </a:r>
          </a:p>
        </p:txBody>
      </p:sp>
      <p:sp>
        <p:nvSpPr>
          <p:cNvPr id="175" name="Security Gap: Classical threshold-based monitoring often fails to distinguish these behaviors from normal activity."/>
          <p:cNvSpPr txBox="1"/>
          <p:nvPr/>
        </p:nvSpPr>
        <p:spPr>
          <a:xfrm>
            <a:off x="1762395" y="5508224"/>
            <a:ext cx="9492910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spcBef>
                <a:spcPts val="1200"/>
              </a:spcBef>
              <a:defRPr b="1" sz="1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Security Gap: </a:t>
            </a:r>
            <a:r>
              <a:rPr b="0"/>
              <a:t>Classical threshold-based monitoring often fails to distinguish these behaviors from normal activity.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Research Gap and Security pitfalls </a:t>
            </a:r>
          </a:p>
        </p:txBody>
      </p:sp>
      <p:sp>
        <p:nvSpPr>
          <p:cNvPr id="178" name="スライド番号プレースホルダー 2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9" name="A. Signature-Based Intrusion Detection Systems"/>
          <p:cNvSpPr txBox="1"/>
          <p:nvPr/>
        </p:nvSpPr>
        <p:spPr>
          <a:xfrm>
            <a:off x="995034" y="1761553"/>
            <a:ext cx="5280485" cy="802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2300">
                <a:latin typeface="メイリオ"/>
                <a:ea typeface="メイリオ"/>
                <a:cs typeface="メイリオ"/>
                <a:sym typeface="メイリオ"/>
              </a:defRPr>
            </a:lvl1pPr>
          </a:lstStyle>
          <a:p>
            <a:pPr/>
            <a:r>
              <a:t>A. Signature-Based Intrusion Detection Systems (Snort, Suricata, etc.)</a:t>
            </a:r>
          </a:p>
        </p:txBody>
      </p:sp>
      <p:sp>
        <p:nvSpPr>
          <p:cNvPr id="180" name="Limitations:…"/>
          <p:cNvSpPr txBox="1"/>
          <p:nvPr/>
        </p:nvSpPr>
        <p:spPr>
          <a:xfrm>
            <a:off x="1292451" y="2582691"/>
            <a:ext cx="5320955" cy="1310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1" indent="228600" defTabSz="457200">
              <a:defRPr sz="2000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Limitations: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Require known attack signatures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Ineffective against zero-day attacks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Continuous manual updates are required</a:t>
            </a:r>
          </a:p>
        </p:txBody>
      </p:sp>
      <p:sp>
        <p:nvSpPr>
          <p:cNvPr id="181" name="B. Classical Machine Learning-Based IDS (Random Forest, SVM, CNN, LSTM)"/>
          <p:cNvSpPr txBox="1"/>
          <p:nvPr/>
        </p:nvSpPr>
        <p:spPr>
          <a:xfrm>
            <a:off x="998118" y="4113184"/>
            <a:ext cx="5557553" cy="802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2300">
                <a:latin typeface="メイリオ"/>
                <a:ea typeface="メイリオ"/>
                <a:cs typeface="メイリオ"/>
                <a:sym typeface="メイリオ"/>
              </a:defRPr>
            </a:lvl1pPr>
          </a:lstStyle>
          <a:p>
            <a:pPr/>
            <a:r>
              <a:t>B. Classical Machine Learning-Based IDS  (Random Forest, SVM, CNN, LSTM)</a:t>
            </a:r>
          </a:p>
        </p:txBody>
      </p:sp>
      <p:sp>
        <p:nvSpPr>
          <p:cNvPr id="182" name="Limitations:…"/>
          <p:cNvSpPr txBox="1"/>
          <p:nvPr/>
        </p:nvSpPr>
        <p:spPr>
          <a:xfrm>
            <a:off x="1267489" y="4869542"/>
            <a:ext cx="5018811" cy="1310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1" indent="228600" defTabSz="457200">
              <a:defRPr b="1"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 u="sng"/>
              <a:t>Limitations: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High computational cost 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Large memory footprint 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Difficult deployment on edge gateways</a:t>
            </a:r>
          </a:p>
        </p:txBody>
      </p:sp>
      <p:sp>
        <p:nvSpPr>
          <p:cNvPr id="183" name="C. Cloud-Based Security Analytics"/>
          <p:cNvSpPr txBox="1"/>
          <p:nvPr/>
        </p:nvSpPr>
        <p:spPr>
          <a:xfrm>
            <a:off x="6546959" y="1798871"/>
            <a:ext cx="4670864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2300">
                <a:latin typeface="メイリオ"/>
                <a:ea typeface="メイリオ"/>
                <a:cs typeface="メイリオ"/>
                <a:sym typeface="メイリオ"/>
              </a:defRPr>
            </a:lvl1pPr>
          </a:lstStyle>
          <a:p>
            <a:pPr/>
            <a:r>
              <a:t>C. Cloud-Based Security Analytics</a:t>
            </a:r>
          </a:p>
        </p:txBody>
      </p:sp>
      <p:sp>
        <p:nvSpPr>
          <p:cNvPr id="184" name="Limitations:…"/>
          <p:cNvSpPr txBox="1"/>
          <p:nvPr/>
        </p:nvSpPr>
        <p:spPr>
          <a:xfrm>
            <a:off x="6616392" y="2146338"/>
            <a:ext cx="5320956" cy="1310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1" indent="228600" defTabSz="457200">
              <a:defRPr sz="2000" u="sng">
                <a:latin typeface="+mn-lt"/>
                <a:ea typeface="+mn-ea"/>
                <a:cs typeface="+mn-cs"/>
                <a:sym typeface="游ゴシック"/>
              </a:defRPr>
            </a:pPr>
            <a:r>
              <a:t>Limitations:</a:t>
            </a:r>
          </a:p>
          <a:p>
            <a:pPr lvl="1" marL="521367" indent="-140367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 High communication latency </a:t>
            </a:r>
          </a:p>
          <a:p>
            <a:pPr lvl="1" marL="521367" indent="-140367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 Privacy concerns </a:t>
            </a:r>
          </a:p>
          <a:p>
            <a:pPr lvl="1" marL="521367" indent="-140367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 Dependence on continuous connectivity</a:t>
            </a:r>
          </a:p>
        </p:txBody>
      </p:sp>
      <p:sp>
        <p:nvSpPr>
          <p:cNvPr id="185" name="C. Cloud-Based Security Analytics"/>
          <p:cNvSpPr txBox="1"/>
          <p:nvPr/>
        </p:nvSpPr>
        <p:spPr>
          <a:xfrm>
            <a:off x="6641123" y="3639124"/>
            <a:ext cx="5557554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sz="2300">
                <a:latin typeface="メイリオ"/>
                <a:ea typeface="メイリオ"/>
                <a:cs typeface="メイリオ"/>
                <a:sym typeface="メイリオ"/>
              </a:defRPr>
            </a:lvl1pPr>
          </a:lstStyle>
          <a:p>
            <a:pPr/>
            <a:r>
              <a:t>D. Others</a:t>
            </a:r>
          </a:p>
        </p:txBody>
      </p:sp>
      <p:sp>
        <p:nvSpPr>
          <p:cNvPr id="186" name="Limitations:…"/>
          <p:cNvSpPr txBox="1"/>
          <p:nvPr/>
        </p:nvSpPr>
        <p:spPr>
          <a:xfrm>
            <a:off x="6721750" y="4141223"/>
            <a:ext cx="5018811" cy="2047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lvl="1" indent="228600" defTabSz="457200">
              <a:defRPr u="sng">
                <a:latin typeface="+mn-lt"/>
                <a:ea typeface="+mn-ea"/>
                <a:cs typeface="+mn-cs"/>
                <a:sym typeface="游ゴシック"/>
              </a:defRPr>
            </a:pPr>
            <a:r>
              <a:t>Limitations:</a:t>
            </a:r>
          </a:p>
          <a:p>
            <a:pPr lvl="1" marL="521367" indent="-140367" defTabSz="457200">
              <a:buSzPct val="60000"/>
              <a:buBlip>
                <a:blip r:embed="rId2"/>
              </a:buBlip>
              <a:defRPr>
                <a:latin typeface="+mn-lt"/>
                <a:ea typeface="+mn-ea"/>
                <a:cs typeface="+mn-cs"/>
                <a:sym typeface="游ゴシック"/>
              </a:defRPr>
            </a:pPr>
            <a:r>
              <a:t> Lack of end-to-end trustworthy architectures integrating anomaly detection</a:t>
            </a:r>
          </a:p>
          <a:p>
            <a:pPr lvl="1" marL="521367" indent="-140367" defTabSz="457200">
              <a:buSzPct val="60000"/>
              <a:buBlip>
                <a:blip r:embed="rId2"/>
              </a:buBlip>
              <a:defRPr>
                <a:latin typeface="+mn-lt"/>
                <a:ea typeface="+mn-ea"/>
                <a:cs typeface="+mn-cs"/>
                <a:sym typeface="游ゴシック"/>
              </a:defRPr>
            </a:pPr>
            <a:r>
              <a:t> Trusted execution  and Secure AI deployment</a:t>
            </a:r>
          </a:p>
          <a:p>
            <a:pPr lvl="1" marL="521367" indent="-140367" defTabSz="457200">
              <a:buSzPct val="60000"/>
              <a:buBlip>
                <a:blip r:embed="rId2"/>
              </a:buBlip>
              <a:defRPr>
                <a:latin typeface="+mn-lt"/>
                <a:ea typeface="+mn-ea"/>
                <a:cs typeface="+mn-cs"/>
                <a:sym typeface="游ゴシック"/>
              </a:defRPr>
            </a:pPr>
            <a:r>
              <a:t> Device authentication and Lifecycle protection.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Related research</a:t>
            </a:r>
          </a:p>
        </p:txBody>
      </p:sp>
      <p:sp>
        <p:nvSpPr>
          <p:cNvPr id="189" name="コンテンツ プレースホルダー 2"/>
          <p:cNvSpPr txBox="1"/>
          <p:nvPr>
            <p:ph type="body" idx="1"/>
          </p:nvPr>
        </p:nvSpPr>
        <p:spPr>
          <a:xfrm>
            <a:off x="1070367" y="1462085"/>
            <a:ext cx="10693170" cy="4876524"/>
          </a:xfrm>
          <a:prstGeom prst="rect">
            <a:avLst/>
          </a:prstGeom>
        </p:spPr>
        <p:txBody>
          <a:bodyPr/>
          <a:lstStyle/>
          <a:p>
            <a:pPr marL="0" indent="0" defTabSz="877822">
              <a:spcBef>
                <a:spcPts val="900"/>
              </a:spcBef>
              <a:buSzTx/>
              <a:buNone/>
              <a:defRPr b="1" sz="2200"/>
            </a:pPr>
            <a:r>
              <a:t>Prior QML for IoT anomaly detection </a:t>
            </a:r>
          </a:p>
          <a:p>
            <a:pPr marL="0" indent="0" defTabSz="877822">
              <a:spcBef>
                <a:spcPts val="900"/>
              </a:spcBef>
              <a:buSzTx/>
              <a:buNone/>
              <a:defRPr sz="2200"/>
            </a:pPr>
            <a:r>
              <a:t>  → Competitive accuracy but substantial simulator-era overhead</a:t>
            </a:r>
          </a:p>
          <a:p>
            <a:pPr lvl="3" marL="0" indent="658368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500">
                <a:latin typeface="+mj-lt"/>
                <a:ea typeface="+mj-ea"/>
                <a:cs typeface="+mj-cs"/>
                <a:sym typeface="Helvetica"/>
              </a:defRPr>
            </a:pPr>
            <a:r>
              <a:t>S. A. Chowdhury, S. F. Karim, M. S. I. Bhuiyan, A. A. Shuvro, and M. S. Hossen. Quantum machine learning for anomaly detection in iot devices. In Proc. Int. Conf. AI-ML-Systems (AIMLSystems), pages 406–411, 2025. doi: 10.1109/aimlsystems67835.2025.11331191.</a:t>
            </a:r>
          </a:p>
          <a:p>
            <a:pPr lvl="3" marL="0" indent="658368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500"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877822">
              <a:spcBef>
                <a:spcPts val="900"/>
              </a:spcBef>
              <a:buSzTx/>
              <a:buNone/>
              <a:defRPr b="1" sz="2200"/>
            </a:pPr>
            <a:r>
              <a:t>Projected quantum kernels for IoT</a:t>
            </a:r>
          </a:p>
          <a:p>
            <a:pPr marL="0" indent="0" defTabSz="877822">
              <a:spcBef>
                <a:spcPts val="900"/>
              </a:spcBef>
              <a:buSzTx/>
              <a:buNone/>
              <a:defRPr sz="2200"/>
            </a:pPr>
            <a:r>
              <a:t>  → Cloud-centric; limited edge deployability evidence</a:t>
            </a:r>
          </a:p>
          <a:p>
            <a:pPr lvl="3" marL="0" indent="658368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500">
                <a:latin typeface="+mj-lt"/>
                <a:ea typeface="+mj-ea"/>
                <a:cs typeface="+mj-cs"/>
                <a:sym typeface="Helvetica"/>
              </a:defRPr>
            </a:pPr>
            <a:r>
              <a:t>F. D’Amore, L. Mariani, C. Mastroianni, J. Settino, and A. Vinci. Projected quantum kernel for iot data analysis. In Proc. IEEE Conf. Pervasive Intell. Comput. (PICom), 2024. doi: 10.1109/picom64201.2024.00032.</a:t>
            </a:r>
          </a:p>
          <a:p>
            <a:pPr marL="0" indent="0" defTabSz="877822">
              <a:spcBef>
                <a:spcPts val="900"/>
              </a:spcBef>
              <a:buSzTx/>
              <a:buNone/>
              <a:defRPr sz="2200"/>
            </a:pPr>
          </a:p>
          <a:p>
            <a:pPr marL="0" indent="0" defTabSz="877822">
              <a:spcBef>
                <a:spcPts val="900"/>
              </a:spcBef>
              <a:buSzTx/>
              <a:buNone/>
              <a:defRPr b="1" sz="2200"/>
            </a:pPr>
            <a:r>
              <a:t>Embedded QML feasibility studies</a:t>
            </a:r>
          </a:p>
          <a:p>
            <a:pPr marL="0" indent="0" defTabSz="877822">
              <a:spcBef>
                <a:spcPts val="900"/>
              </a:spcBef>
              <a:buSzTx/>
              <a:buNone/>
              <a:defRPr sz="2200"/>
            </a:pPr>
            <a:r>
              <a:t>  → Hybrid architectures proposed; empirical edge validation still sparse</a:t>
            </a:r>
          </a:p>
          <a:p>
            <a:pPr lvl="3" marL="0" indent="658368">
              <a:lnSpc>
                <a:spcPct val="100000"/>
              </a:lnSpc>
              <a:spcBef>
                <a:spcPts val="0"/>
              </a:spcBef>
              <a:buSzTx/>
              <a:buNone/>
              <a:tabLst>
                <a:tab pos="330200" algn="l"/>
                <a:tab pos="673100" algn="l"/>
                <a:tab pos="1016000" algn="l"/>
                <a:tab pos="1358900" algn="l"/>
                <a:tab pos="1701800" algn="l"/>
                <a:tab pos="2044700" algn="l"/>
                <a:tab pos="2387600" algn="l"/>
                <a:tab pos="2730500" algn="l"/>
                <a:tab pos="3060700" algn="l"/>
                <a:tab pos="3403600" algn="l"/>
                <a:tab pos="3746500" algn="l"/>
                <a:tab pos="4089400" algn="l"/>
              </a:tabLst>
              <a:defRPr sz="1500">
                <a:latin typeface="+mj-lt"/>
                <a:ea typeface="+mj-ea"/>
                <a:cs typeface="+mj-cs"/>
                <a:sym typeface="Helvetica"/>
              </a:defRPr>
            </a:pPr>
            <a:r>
              <a:t>S. Dey and S. M. Raza. Embedded quantum machine learning in embedded systems: Feasibility, hybrid architectures, and quantum co-processors, 2026.</a:t>
            </a:r>
          </a:p>
        </p:txBody>
      </p:sp>
      <p:sp>
        <p:nvSpPr>
          <p:cNvPr id="190" name="スライド番号プレースホルダー 4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Research Gap</a:t>
            </a:r>
          </a:p>
        </p:txBody>
      </p:sp>
      <p:sp>
        <p:nvSpPr>
          <p:cNvPr id="193" name="スライド番号プレースホルダー 5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4" name="Despite rapid QML progress, four barriers block practical edge adoption:…"/>
          <p:cNvSpPr txBox="1"/>
          <p:nvPr/>
        </p:nvSpPr>
        <p:spPr>
          <a:xfrm>
            <a:off x="916330" y="1399057"/>
            <a:ext cx="10941185" cy="446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00"/>
            </a:pPr>
            <a:r>
              <a:t>Despite rapid QML progress, four barriers block practical edge adoption: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300"/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300"/>
            </a:pPr>
            <a:r>
              <a:t>1. Cloud-centric training assumptions</a:t>
            </a:r>
            <a:r>
              <a:rPr b="0"/>
              <a:t>: Variational quantum circuits (VQCs) are sized for cloud QPUs, not microcontroller or FPGA budgets.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/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300"/>
            </a:pPr>
            <a:r>
              <a:t>2. Missing metric alignment:</a:t>
            </a:r>
            <a:r>
              <a:rPr b="0"/>
              <a:t> Studies rarely report accuracy jointly with circuit depth, gate count, inference latency, and energy per decision on comparable IoT workloads.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/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300"/>
            </a:pPr>
            <a:r>
              <a:t>3. Weak deployment path:</a:t>
            </a:r>
            <a:r>
              <a:rPr b="0"/>
              <a:t> Few prototypes demonstrate train-on-cloud/simulator, infer-on-edge pipelines with open datasets and reproducible baselines.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/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300"/>
            </a:pPr>
            <a:r>
              <a:t>4. Over-broad claims: </a:t>
            </a:r>
            <a:r>
              <a:rPr b="0"/>
              <a:t>Theoretical quantum advantage statements seldom specify edge power caps, target false-alarm rates, or classical strong baselines.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Core Security Problem</a:t>
            </a:r>
          </a:p>
        </p:txBody>
      </p:sp>
      <p:sp>
        <p:nvSpPr>
          <p:cNvPr id="197" name="スライド番号プレースホルダー 5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8" name="Despite rapid QML progress, four barriers block practical edge adoption:…"/>
          <p:cNvSpPr txBox="1"/>
          <p:nvPr/>
        </p:nvSpPr>
        <p:spPr>
          <a:xfrm>
            <a:off x="851958" y="1772413"/>
            <a:ext cx="5714607" cy="3291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300"/>
            </a:pPr>
            <a:r>
              <a:t>Targeted Security Threats</a:t>
            </a:r>
            <a:r>
              <a:rPr b="0"/>
              <a:t>:</a:t>
            </a:r>
            <a:endParaRPr b="0"/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Zero-day malware attacks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Lateral movement attacks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Firmware tampering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AI model extraction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AI model poisoning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Unauthorized device enrollment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Supply-chain attacks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Advanced persistent threats</a:t>
            </a:r>
          </a:p>
        </p:txBody>
      </p:sp>
      <p:sp>
        <p:nvSpPr>
          <p:cNvPr id="199" name="Despite rapid QML progress, four barriers block practical edge adoption:…"/>
          <p:cNvSpPr txBox="1"/>
          <p:nvPr/>
        </p:nvSpPr>
        <p:spPr>
          <a:xfrm>
            <a:off x="6166261" y="3085770"/>
            <a:ext cx="5482918" cy="1158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300"/>
            </a:pPr>
            <a:r>
              <a:t>Research Goal:</a:t>
            </a:r>
            <a:endParaRPr b="0"/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IoT infrastructure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lvl="1" marL="501315" indent="-120315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 AI assets deployed on edge devices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Research Approach</a:t>
            </a:r>
          </a:p>
        </p:txBody>
      </p:sp>
      <p:sp>
        <p:nvSpPr>
          <p:cNvPr id="202" name="スライド番号プレースホルダー 2"/>
          <p:cNvSpPr txBox="1"/>
          <p:nvPr>
            <p:ph type="sldNum" sz="quarter" idx="4294967295"/>
          </p:nvPr>
        </p:nvSpPr>
        <p:spPr>
          <a:xfrm>
            <a:off x="11698709" y="184466"/>
            <a:ext cx="273652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3" name="Properties of Hybrid Quantum-Classical Edge Security Framework"/>
          <p:cNvSpPr txBox="1"/>
          <p:nvPr/>
        </p:nvSpPr>
        <p:spPr>
          <a:xfrm>
            <a:off x="963274" y="1651860"/>
            <a:ext cx="10265452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b="1" sz="2300">
                <a:latin typeface="メイリオ"/>
                <a:ea typeface="メイリオ"/>
                <a:cs typeface="メイリオ"/>
                <a:sym typeface="メイリオ"/>
              </a:defRPr>
            </a:lvl1pPr>
          </a:lstStyle>
          <a:p>
            <a:pPr/>
            <a:r>
              <a:t>Properties of Trustworthy Hybrid Quantum-Classical Security Framework</a:t>
            </a:r>
          </a:p>
        </p:txBody>
      </p:sp>
      <p:sp>
        <p:nvSpPr>
          <p:cNvPr id="204" name="Lightweight classical feature extraction…"/>
          <p:cNvSpPr txBox="1"/>
          <p:nvPr/>
        </p:nvSpPr>
        <p:spPr>
          <a:xfrm>
            <a:off x="1250335" y="2269631"/>
            <a:ext cx="7044558" cy="2225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60421" indent="-160421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Edge Data Collection </a:t>
            </a:r>
          </a:p>
          <a:p>
            <a:pPr marL="160421" indent="-160421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Hybrid Quantum-Classical Threat Detection </a:t>
            </a:r>
          </a:p>
          <a:p>
            <a:pPr marL="160421" indent="-160421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Trusted AI Deployment </a:t>
            </a:r>
          </a:p>
          <a:p>
            <a:pPr marL="160421" indent="-160421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Secure Inference Execution</a:t>
            </a:r>
          </a:p>
          <a:p>
            <a:pPr marL="160421" indent="-160421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Remote Attestation &amp; Device Verification</a:t>
            </a:r>
          </a:p>
          <a:p>
            <a:pPr marL="160421" indent="-160421" defTabSz="457200">
              <a:buSzPct val="60000"/>
              <a:buBlip>
                <a:blip r:embed="rId2"/>
              </a:buBlip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Continuous Security Monitoring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Experimental Platform</a:t>
            </a:r>
          </a:p>
        </p:txBody>
      </p:sp>
      <p:sp>
        <p:nvSpPr>
          <p:cNvPr id="207" name="スライド番号プレースホルダー 2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8" name="Properties of Hybrid Quantum-Classical Edge Security Framework"/>
          <p:cNvSpPr txBox="1"/>
          <p:nvPr/>
        </p:nvSpPr>
        <p:spPr>
          <a:xfrm>
            <a:off x="925679" y="1622146"/>
            <a:ext cx="10103427" cy="447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b="1" sz="2300">
                <a:latin typeface="メイリオ"/>
                <a:ea typeface="メイリオ"/>
                <a:cs typeface="メイリオ"/>
                <a:sym typeface="メイリオ"/>
              </a:defRPr>
            </a:lvl1pPr>
          </a:lstStyle>
          <a:p>
            <a:pPr/>
            <a:r>
              <a:t>More realistic and reproducible experimental platforms to evaluate work</a:t>
            </a:r>
          </a:p>
        </p:txBody>
      </p:sp>
      <p:sp>
        <p:nvSpPr>
          <p:cNvPr id="209" name="Lightweight classical feature extraction…"/>
          <p:cNvSpPr txBox="1"/>
          <p:nvPr/>
        </p:nvSpPr>
        <p:spPr>
          <a:xfrm>
            <a:off x="1418729" y="2545082"/>
            <a:ext cx="3217144" cy="1361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00526" indent="-200526" defTabSz="457200">
              <a:buSzPct val="60000"/>
              <a:buBlip>
                <a:blip r:embed="rId2"/>
              </a:buBlip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AI Layer</a:t>
            </a:r>
          </a:p>
          <a:p>
            <a:pPr lvl="1" marL="501315" indent="-120315" defTabSz="457200">
              <a:buSzPct val="100000"/>
              <a:buChar char="•"/>
              <a:defRPr sz="1500"/>
            </a:pPr>
            <a:r>
              <a:t>Qiskit</a:t>
            </a:r>
          </a:p>
          <a:p>
            <a:pPr lvl="1" marL="501315" indent="-120315" defTabSz="457200">
              <a:buSzPct val="100000"/>
              <a:buChar char="•"/>
              <a:defRPr sz="1500"/>
            </a:pPr>
            <a:r>
              <a:t>PennyLane</a:t>
            </a:r>
          </a:p>
          <a:p>
            <a:pPr lvl="1" marL="501315" indent="-120315" defTabSz="457200">
              <a:buSzPct val="100000"/>
              <a:buChar char="•"/>
              <a:defRPr sz="1500"/>
            </a:pPr>
            <a:r>
              <a:t>VQC</a:t>
            </a:r>
          </a:p>
          <a:p>
            <a:pPr lvl="1" marL="501315" indent="-120315" defTabSz="457200">
              <a:buSzPct val="100000"/>
              <a:buChar char="•"/>
              <a:defRPr sz="1500"/>
            </a:pPr>
            <a:r>
              <a:t>Quantum Kernels</a:t>
            </a:r>
          </a:p>
        </p:txBody>
      </p:sp>
      <p:sp>
        <p:nvSpPr>
          <p:cNvPr id="210" name="Lightweight classical feature extraction…"/>
          <p:cNvSpPr txBox="1"/>
          <p:nvPr/>
        </p:nvSpPr>
        <p:spPr>
          <a:xfrm>
            <a:off x="1444478" y="4382417"/>
            <a:ext cx="3617656" cy="904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00526" indent="-200526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Trusted </a:t>
            </a:r>
            <a:r>
              <a:rPr sz="2300"/>
              <a:t>Computing</a:t>
            </a:r>
            <a:r>
              <a:t> Layer</a:t>
            </a:r>
          </a:p>
          <a:p>
            <a:pPr lvl="1" marL="501315" indent="-120315" defTabSz="457200">
              <a:buSzPct val="100000"/>
              <a:buChar char="•"/>
              <a:defRPr sz="1500">
                <a:latin typeface="+mn-lt"/>
                <a:ea typeface="+mn-ea"/>
                <a:cs typeface="+mn-cs"/>
                <a:sym typeface="游ゴシック"/>
              </a:defRPr>
            </a:pPr>
            <a:r>
              <a:t>ARM TrustZone</a:t>
            </a:r>
          </a:p>
          <a:p>
            <a:pPr lvl="1" marL="501315" indent="-120315" defTabSz="457200">
              <a:buSzPct val="100000"/>
              <a:buChar char="•"/>
              <a:defRPr sz="1500">
                <a:latin typeface="+mn-lt"/>
                <a:ea typeface="+mn-ea"/>
                <a:cs typeface="+mn-cs"/>
                <a:sym typeface="游ゴシック"/>
              </a:defRPr>
            </a:pPr>
            <a:r>
              <a:t>OP-TEE</a:t>
            </a:r>
          </a:p>
        </p:txBody>
      </p:sp>
      <p:sp>
        <p:nvSpPr>
          <p:cNvPr id="211" name="Lightweight classical feature extraction…"/>
          <p:cNvSpPr txBox="1"/>
          <p:nvPr/>
        </p:nvSpPr>
        <p:spPr>
          <a:xfrm>
            <a:off x="6360732" y="2537140"/>
            <a:ext cx="3217144" cy="904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00526" indent="-200526" defTabSz="457200">
              <a:buSzPct val="60000"/>
              <a:buBlip>
                <a:blip r:embed="rId2"/>
              </a:buBlip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Edge Platform</a:t>
            </a:r>
          </a:p>
          <a:p>
            <a:pPr lvl="1" marL="561473" indent="-180473" defTabSz="457200">
              <a:buSzPct val="100000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Raspberry Pi</a:t>
            </a:r>
          </a:p>
          <a:p>
            <a:pPr lvl="1" marL="561473" indent="-180473" defTabSz="457200">
              <a:buSzPct val="100000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ARM Gateway</a:t>
            </a:r>
          </a:p>
        </p:txBody>
      </p:sp>
      <p:sp>
        <p:nvSpPr>
          <p:cNvPr id="212" name="Lightweight classical feature extraction…"/>
          <p:cNvSpPr txBox="1"/>
          <p:nvPr/>
        </p:nvSpPr>
        <p:spPr>
          <a:xfrm>
            <a:off x="6360732" y="3516350"/>
            <a:ext cx="3217144" cy="675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200526" indent="-200526" defTabSz="457200">
              <a:buSzPct val="60000"/>
              <a:buBlip>
                <a:blip r:embed="rId2"/>
              </a:buBlip>
              <a:defRPr sz="2300">
                <a:latin typeface="+mn-lt"/>
                <a:ea typeface="+mn-ea"/>
                <a:cs typeface="+mn-cs"/>
                <a:sym typeface="游ゴシック"/>
              </a:defRPr>
            </a:lvl1pPr>
            <a:lvl2pPr marL="501315" indent="-120315" defTabSz="457200">
              <a:buSzPct val="100000"/>
              <a:buChar char="•"/>
              <a:defRPr sz="1500">
                <a:latin typeface="Times Roman"/>
                <a:ea typeface="Times Roman"/>
                <a:cs typeface="Times Roman"/>
                <a:sym typeface="Times Roman"/>
              </a:defRPr>
            </a:lvl2pPr>
          </a:lstStyle>
          <a:p>
            <a:pPr/>
            <a:r>
              <a:t>Acceleration Platform</a:t>
            </a:r>
          </a:p>
          <a:p>
            <a:pPr lvl="1"/>
            <a:r>
              <a:t>Xilinx Zynq FPGA</a:t>
            </a:r>
          </a:p>
        </p:txBody>
      </p:sp>
      <p:sp>
        <p:nvSpPr>
          <p:cNvPr id="213" name="Lightweight classical feature extraction…"/>
          <p:cNvSpPr txBox="1"/>
          <p:nvPr/>
        </p:nvSpPr>
        <p:spPr>
          <a:xfrm>
            <a:off x="6360732" y="4496717"/>
            <a:ext cx="3217144" cy="675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200526" indent="-200526" defTabSz="457200">
              <a:buSzPct val="60000"/>
              <a:buBlip>
                <a:blip r:embed="rId2"/>
              </a:buBlip>
              <a:defRPr sz="2300">
                <a:latin typeface="+mn-lt"/>
                <a:ea typeface="+mn-ea"/>
                <a:cs typeface="+mn-cs"/>
                <a:sym typeface="游ゴシック"/>
              </a:defRPr>
            </a:lvl1pPr>
            <a:lvl2pPr marL="581526" indent="-200526" defTabSz="457200">
              <a:buSzPct val="100000"/>
              <a:buChar char="•"/>
              <a:defRPr sz="1500">
                <a:latin typeface="+mn-lt"/>
                <a:ea typeface="+mn-ea"/>
                <a:cs typeface="+mn-cs"/>
                <a:sym typeface="游ゴシック"/>
              </a:defRPr>
            </a:lvl2pPr>
          </a:lstStyle>
          <a:p>
            <a:pPr/>
            <a:r>
              <a:t>Quantum Backend</a:t>
            </a:r>
          </a:p>
          <a:p>
            <a:pPr lvl="1"/>
            <a:r>
              <a:t>IBM Quantum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Trustworthy AI Deployment Architecture</a:t>
            </a:r>
          </a:p>
        </p:txBody>
      </p:sp>
      <p:sp>
        <p:nvSpPr>
          <p:cNvPr id="216" name="スライド番号プレースホルダー 2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7" name="Lightweight classical feature extraction…"/>
          <p:cNvSpPr txBox="1"/>
          <p:nvPr/>
        </p:nvSpPr>
        <p:spPr>
          <a:xfrm>
            <a:off x="1367232" y="2874899"/>
            <a:ext cx="4998278" cy="2225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00526" indent="-200526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Trusted Execution Environments (TEE)</a:t>
            </a:r>
          </a:p>
          <a:p>
            <a:pPr marL="200526" indent="-200526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Hardware Root of Trust</a:t>
            </a:r>
          </a:p>
          <a:p>
            <a:pPr marL="200526" indent="-200526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Secure Boot</a:t>
            </a:r>
          </a:p>
          <a:p>
            <a:pPr marL="200526" indent="-200526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Secure Key Management</a:t>
            </a:r>
          </a:p>
          <a:p>
            <a:pPr marL="200526" indent="-200526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Remote Attestation</a:t>
            </a:r>
          </a:p>
          <a:p>
            <a:pPr marL="200526" indent="-200526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Trusted AI Model Deployment and Inference</a:t>
            </a:r>
          </a:p>
        </p:txBody>
      </p:sp>
      <p:sp>
        <p:nvSpPr>
          <p:cNvPr id="218" name="The research beyond anomaly detection to investigate a secure AI deployment architecture incorporating:"/>
          <p:cNvSpPr txBox="1"/>
          <p:nvPr/>
        </p:nvSpPr>
        <p:spPr>
          <a:xfrm>
            <a:off x="917041" y="1580497"/>
            <a:ext cx="10515601" cy="802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defRPr b="1" sz="23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The research beyond anomaly detection to investigate a secure AI deployment architecture incorporating:</a:t>
            </a:r>
          </a:p>
        </p:txBody>
      </p:sp>
      <p:sp>
        <p:nvSpPr>
          <p:cNvPr id="219" name="Lightweight classical feature extraction…"/>
          <p:cNvSpPr txBox="1"/>
          <p:nvPr/>
        </p:nvSpPr>
        <p:spPr>
          <a:xfrm>
            <a:off x="6450853" y="2874899"/>
            <a:ext cx="4998278" cy="1615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00526" indent="-200526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Protect AI models from:</a:t>
            </a:r>
          </a:p>
          <a:p>
            <a:pPr lvl="1" marL="501315" indent="-120315" defTabSz="457200">
              <a:buSzPct val="100000"/>
              <a:buChar char="•"/>
              <a:tabLst>
                <a:tab pos="139700" algn="l"/>
                <a:tab pos="457200" algn="l"/>
              </a:tabLst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Model Theft</a:t>
            </a:r>
          </a:p>
          <a:p>
            <a:pPr lvl="1" marL="501315" indent="-120315" defTabSz="457200">
              <a:buSzPct val="100000"/>
              <a:buChar char="•"/>
              <a:tabLst>
                <a:tab pos="139700" algn="l"/>
                <a:tab pos="457200" algn="l"/>
              </a:tabLst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Model Tampering</a:t>
            </a:r>
          </a:p>
          <a:p>
            <a:pPr lvl="1" marL="501315" indent="-120315" defTabSz="457200">
              <a:buSzPct val="100000"/>
              <a:buChar char="•"/>
              <a:tabLst>
                <a:tab pos="139700" algn="l"/>
                <a:tab pos="457200" algn="l"/>
              </a:tabLst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Unauthorized inference</a:t>
            </a:r>
          </a:p>
          <a:p>
            <a:pPr lvl="1" marL="501315" indent="-120315" defTabSz="457200">
              <a:buSzPct val="100000"/>
              <a:buChar char="•"/>
              <a:tabLst>
                <a:tab pos="139700" algn="l"/>
                <a:tab pos="457200" algn="l"/>
              </a:tabLst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Fireware compromise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Research Workflow</a:t>
            </a:r>
          </a:p>
        </p:txBody>
      </p:sp>
      <p:sp>
        <p:nvSpPr>
          <p:cNvPr id="222" name="スライド番号プレースホルダー 4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3" name="Step 1: Edge-Based Feature Collection…"/>
          <p:cNvSpPr txBox="1"/>
          <p:nvPr/>
        </p:nvSpPr>
        <p:spPr>
          <a:xfrm>
            <a:off x="901818" y="1628099"/>
            <a:ext cx="10789086" cy="428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defRPr b="1" sz="2300">
                <a:latin typeface="+mn-lt"/>
                <a:ea typeface="+mn-ea"/>
                <a:cs typeface="+mn-cs"/>
                <a:sym typeface="游ゴシック"/>
              </a:defRPr>
            </a:pPr>
            <a:r>
              <a:t>Step 1: Edge-Based Feature Collection</a:t>
            </a:r>
          </a:p>
          <a:p>
            <a:pPr defTabSz="457200">
              <a:spcBef>
                <a:spcPts val="1200"/>
              </a:spcBef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Collect Data from multiple sources: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 </a:t>
            </a:r>
            <a:r>
              <a:t>Network flows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 </a:t>
            </a:r>
            <a:r>
              <a:t>Device telemetry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 </a:t>
            </a:r>
            <a:r>
              <a:t>System logs</a:t>
            </a:r>
          </a:p>
          <a:p>
            <a:pPr lvl="1" marL="541421" indent="-160420" defTabSz="457200">
              <a:buSzPct val="60000"/>
              <a:buBlip>
                <a:blip r:embed="rId2"/>
              </a:buBlip>
              <a:defRPr sz="2000">
                <a:latin typeface="+mn-lt"/>
                <a:ea typeface="+mn-ea"/>
                <a:cs typeface="+mn-cs"/>
                <a:sym typeface="游ゴシック"/>
              </a:defRPr>
            </a:pPr>
            <a:r>
              <a:t> </a:t>
            </a:r>
            <a:r>
              <a:t>Gateway traffic</a:t>
            </a:r>
          </a:p>
          <a:p>
            <a:pPr defTabSz="457200">
              <a:defRPr b="1" sz="2300">
                <a:latin typeface="+mn-lt"/>
                <a:ea typeface="+mn-ea"/>
                <a:cs typeface="+mn-cs"/>
                <a:sym typeface="游ゴシック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300"/>
            </a:pPr>
            <a:r>
              <a:t>Step 2: Hybrid Quantum-Classical Learning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/>
            </a:pPr>
          </a:p>
          <a:p>
            <a:pPr lvl="1" marL="581525" indent="-200525" defTabSz="12700">
              <a:buSzPct val="60000"/>
              <a:buBlip>
                <a:blip r:embed="rId2"/>
              </a:buBlip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Qiskit / PennyLane on simulators or cloud QPUs; </a:t>
            </a:r>
          </a:p>
          <a:p>
            <a:pPr lvl="1" marL="581525" indent="-200525" defTabSz="12700">
              <a:buSzPct val="60000"/>
              <a:buBlip>
                <a:blip r:embed="rId2"/>
              </a:buBlip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hyper-parameter search under qubit-depth constraints; </a:t>
            </a:r>
          </a:p>
          <a:p>
            <a:pPr lvl="1" marL="581525" indent="-200525" defTabSz="12700">
              <a:buSzPct val="60000"/>
              <a:buBlip>
                <a:blip r:embed="rId2"/>
              </a:buBlip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optional post-quantum security context for threat models (performs Complex pattern learning, Anomaly classification, Zero-day attack detection).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Research Workflow</a:t>
            </a:r>
          </a:p>
        </p:txBody>
      </p:sp>
      <p:sp>
        <p:nvSpPr>
          <p:cNvPr id="226" name="スライド番号プレースホルダー 4"/>
          <p:cNvSpPr txBox="1"/>
          <p:nvPr>
            <p:ph type="sldNum" sz="quarter" idx="4294967295"/>
          </p:nvPr>
        </p:nvSpPr>
        <p:spPr>
          <a:xfrm>
            <a:off x="11698709" y="184466"/>
            <a:ext cx="273652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7" name="Step 3: Edge Deployment…"/>
          <p:cNvSpPr txBox="1"/>
          <p:nvPr/>
        </p:nvSpPr>
        <p:spPr>
          <a:xfrm>
            <a:off x="889118" y="1704822"/>
            <a:ext cx="10789086" cy="3850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300"/>
            </a:pPr>
            <a:r>
              <a:t>Step 3: Edge Deployment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500"/>
            </a:pPr>
          </a:p>
          <a:p>
            <a:pPr lvl="1" marL="581525" indent="-200525" defTabSz="12700">
              <a:buSzPct val="60000"/>
              <a:buBlip>
                <a:blip r:embed="rId2"/>
              </a:buBlip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Compressed model export to FPGA bitstream or optimized C++/TinyML runtime on Raspberry Pi / industrial gateway; </a:t>
            </a:r>
          </a:p>
          <a:p>
            <a:pPr lvl="1" marL="581525" indent="-200525" defTabSz="12700">
              <a:buSzPct val="60000"/>
              <a:buBlip>
                <a:blip r:embed="rId2"/>
              </a:buBlip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local anomaly scoring on streaming features.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/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300"/>
            </a:pPr>
            <a:r>
              <a:t>Step 4: Evaluation phase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/>
            </a:pPr>
          </a:p>
          <a:p>
            <a:pPr lvl="1" marL="581525" indent="-200525" defTabSz="12700">
              <a:buSzPct val="60000"/>
              <a:buBlip>
                <a:blip r:embed="rId2"/>
              </a:buBlip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Unified metrics aligned with the candidate’s survey benchmark table (complexity class, wall-clock latency, energy, F1/AUC). </a:t>
            </a:r>
          </a:p>
          <a:p>
            <a:pPr lvl="1" marL="581525" indent="-200525" defTabSz="12700">
              <a:buSzPct val="60000"/>
              <a:buBlip>
                <a:blip r:embed="rId2"/>
              </a:buBlip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/>
            </a:pPr>
            <a:r>
              <a:t>Datasets ( KDDCup99, anoML-IoT, TWTDUS, IoT telemetry datasets)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Evaluation</a:t>
            </a:r>
          </a:p>
        </p:txBody>
      </p:sp>
      <p:sp>
        <p:nvSpPr>
          <p:cNvPr id="230" name="スライド番号プレースホルダー 4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1" name="Trusted Security Metrics…"/>
          <p:cNvSpPr txBox="1"/>
          <p:nvPr>
            <p:ph type="body" sz="quarter" idx="1"/>
          </p:nvPr>
        </p:nvSpPr>
        <p:spPr>
          <a:xfrm>
            <a:off x="938984" y="2389039"/>
            <a:ext cx="5427891" cy="2539460"/>
          </a:xfrm>
          <a:prstGeom prst="rect">
            <a:avLst/>
          </a:prstGeom>
        </p:spPr>
        <p:txBody>
          <a:bodyPr/>
          <a:lstStyle/>
          <a:p>
            <a:pPr lvl="1" marL="0" indent="228600">
              <a:buSzTx/>
              <a:buFontTx/>
              <a:buNone/>
              <a:defRPr b="1" sz="2300"/>
            </a:pPr>
            <a:r>
              <a:t>Trusted Security Metrics</a:t>
            </a:r>
          </a:p>
          <a:p>
            <a:pPr lvl="1" marL="611605" indent="-230605">
              <a:buFontTx/>
              <a:defRPr b="1" sz="2300"/>
            </a:pPr>
            <a:r>
              <a:rPr b="0"/>
              <a:t>Secure Boot Success Rate</a:t>
            </a:r>
            <a:endParaRPr b="0"/>
          </a:p>
          <a:p>
            <a:pPr lvl="1" marL="611605" indent="-230605" defTabSz="457200">
              <a:lnSpc>
                <a:spcPct val="100000"/>
              </a:lnSpc>
              <a:spcBef>
                <a:spcPts val="0"/>
              </a:spcBef>
              <a:buFontTx/>
              <a:defRPr sz="2300"/>
            </a:pPr>
            <a:r>
              <a:t>Attestation Success Rate</a:t>
            </a:r>
          </a:p>
          <a:p>
            <a:pPr lvl="1" marL="611605" indent="-230605" defTabSz="457200">
              <a:lnSpc>
                <a:spcPct val="100000"/>
              </a:lnSpc>
              <a:spcBef>
                <a:spcPts val="0"/>
              </a:spcBef>
              <a:buFontTx/>
              <a:defRPr sz="2300"/>
            </a:pPr>
            <a:r>
              <a:t>Model Tampering Detection Rate</a:t>
            </a:r>
          </a:p>
          <a:p>
            <a:pPr lvl="1" marL="611605" indent="-230605" defTabSz="457200">
              <a:lnSpc>
                <a:spcPct val="100000"/>
              </a:lnSpc>
              <a:spcBef>
                <a:spcPts val="0"/>
              </a:spcBef>
              <a:buFontTx/>
              <a:defRPr sz="2300"/>
            </a:pPr>
            <a:r>
              <a:t>Model Extraction Resistance</a:t>
            </a:r>
          </a:p>
          <a:p>
            <a:pPr lvl="1" marL="611605" indent="-230605" defTabSz="457200">
              <a:lnSpc>
                <a:spcPct val="100000"/>
              </a:lnSpc>
              <a:spcBef>
                <a:spcPts val="0"/>
              </a:spcBef>
              <a:buFontTx/>
              <a:defRPr sz="2300"/>
            </a:pPr>
            <a:r>
              <a:t>Key Management Overhead</a:t>
            </a:r>
          </a:p>
        </p:txBody>
      </p:sp>
      <p:sp>
        <p:nvSpPr>
          <p:cNvPr id="232" name="AI Metrics…"/>
          <p:cNvSpPr txBox="1"/>
          <p:nvPr/>
        </p:nvSpPr>
        <p:spPr>
          <a:xfrm>
            <a:off x="6061228" y="2389039"/>
            <a:ext cx="5427891" cy="253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lvl="1" indent="228600">
              <a:lnSpc>
                <a:spcPct val="90000"/>
              </a:lnSpc>
              <a:spcBef>
                <a:spcPts val="1000"/>
              </a:spcBef>
              <a:defRPr b="1" sz="2300">
                <a:latin typeface="+mn-lt"/>
                <a:ea typeface="+mn-ea"/>
                <a:cs typeface="+mn-cs"/>
                <a:sym typeface="游ゴシック"/>
              </a:defRPr>
            </a:pPr>
            <a:r>
              <a:t>AI Metrics</a:t>
            </a:r>
          </a:p>
          <a:p>
            <a:pPr lvl="1" marL="611605" indent="-230605">
              <a:buSzPct val="100000"/>
              <a:buChar char="•"/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Accuracy</a:t>
            </a:r>
          </a:p>
          <a:p>
            <a:pPr lvl="1" marL="611605" indent="-230605">
              <a:buSzPct val="100000"/>
              <a:buChar char="•"/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Precision</a:t>
            </a:r>
          </a:p>
          <a:p>
            <a:pPr lvl="1" marL="611605" indent="-230605">
              <a:buSzPct val="100000"/>
              <a:buChar char="•"/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Recall</a:t>
            </a:r>
          </a:p>
          <a:p>
            <a:pPr lvl="1" marL="611605" indent="-230605">
              <a:buSzPct val="100000"/>
              <a:buChar char="•"/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F1</a:t>
            </a:r>
          </a:p>
          <a:p>
            <a:pPr lvl="1" marL="611605" indent="-230605">
              <a:buSzPct val="100000"/>
              <a:buChar char="•"/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AUC</a:t>
            </a:r>
          </a:p>
        </p:txBody>
      </p:sp>
      <p:sp>
        <p:nvSpPr>
          <p:cNvPr id="233" name="Platform Metrics…"/>
          <p:cNvSpPr txBox="1"/>
          <p:nvPr/>
        </p:nvSpPr>
        <p:spPr>
          <a:xfrm>
            <a:off x="8389740" y="2389039"/>
            <a:ext cx="5427891" cy="253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lvl="1" indent="228600">
              <a:lnSpc>
                <a:spcPct val="90000"/>
              </a:lnSpc>
              <a:spcBef>
                <a:spcPts val="1000"/>
              </a:spcBef>
              <a:defRPr b="1" sz="2300">
                <a:latin typeface="+mn-lt"/>
                <a:ea typeface="+mn-ea"/>
                <a:cs typeface="+mn-cs"/>
                <a:sym typeface="游ゴシック"/>
              </a:defRPr>
            </a:pPr>
            <a:r>
              <a:t>Platform Metrics</a:t>
            </a:r>
          </a:p>
          <a:p>
            <a:pPr lvl="1" marL="611605" indent="-230605">
              <a:buSzPct val="100000"/>
              <a:buChar char="•"/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Latency</a:t>
            </a:r>
          </a:p>
          <a:p>
            <a:pPr lvl="1" marL="611605" indent="-230605">
              <a:buSzPct val="100000"/>
              <a:buChar char="•"/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Energy</a:t>
            </a:r>
          </a:p>
          <a:p>
            <a:pPr lvl="1" marL="611605" indent="-230605">
              <a:buSzPct val="100000"/>
              <a:buChar char="•"/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Memory</a:t>
            </a:r>
          </a:p>
          <a:p>
            <a:pPr lvl="1" marL="611605" indent="-230605">
              <a:buSzPct val="100000"/>
              <a:buChar char="•"/>
              <a:defRPr sz="2300">
                <a:latin typeface="+mn-lt"/>
                <a:ea typeface="+mn-ea"/>
                <a:cs typeface="+mn-cs"/>
                <a:sym typeface="游ゴシック"/>
              </a:defRPr>
            </a:pPr>
            <a:r>
              <a:t>FPGA Resource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コンテンツ プレースホルダー 2"/>
          <p:cNvSpPr txBox="1"/>
          <p:nvPr>
            <p:ph type="body" idx="1"/>
          </p:nvPr>
        </p:nvSpPr>
        <p:spPr>
          <a:xfrm>
            <a:off x="835989" y="1462087"/>
            <a:ext cx="11052318" cy="493871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sz="2300"/>
            </a:pPr>
            <a:r>
              <a:t>A. Benchmark protocol &amp; requirements (Year 1)</a:t>
            </a:r>
          </a:p>
          <a:p>
            <a:pPr marL="0" indent="0">
              <a:buSzTx/>
              <a:buNone/>
              <a:defRPr sz="2300"/>
            </a:pPr>
            <a:r>
              <a:t>• PRISMA-inspired literature update; dataset selection (Scopus, WoS, PubMed, etc.)</a:t>
            </a:r>
          </a:p>
          <a:p>
            <a:pPr marL="0" indent="0">
              <a:buSzTx/>
              <a:buNone/>
              <a:defRPr sz="2300"/>
            </a:pPr>
            <a:r>
              <a:t>• Reproducible harness: accuracy, latency, algorithmic complexity, energy proxy</a:t>
            </a:r>
          </a:p>
          <a:p>
            <a:pPr marL="0" indent="0">
              <a:buSzTx/>
              <a:buNone/>
              <a:defRPr sz="2300"/>
            </a:pPr>
            <a:r>
              <a:t>• Classical edge baselines (lightweight CNN / autoencoder)</a:t>
            </a:r>
          </a:p>
          <a:p>
            <a:pPr marL="0" indent="0">
              <a:buSzTx/>
              <a:buNone/>
              <a:defRPr sz="2300"/>
            </a:pPr>
          </a:p>
          <a:p>
            <a:pPr marL="0" indent="0">
              <a:buSzTx/>
              <a:buNone/>
              <a:defRPr sz="2300"/>
            </a:pPr>
          </a:p>
          <a:p>
            <a:pPr marL="0" indent="0">
              <a:buSzTx/>
              <a:buNone/>
              <a:defRPr sz="2300"/>
            </a:pPr>
          </a:p>
          <a:p>
            <a:pPr marL="0" indent="0">
              <a:buSzTx/>
              <a:buNone/>
              <a:defRPr sz="2300"/>
            </a:pPr>
          </a:p>
          <a:p>
            <a:pPr marL="160421" indent="-160421">
              <a:buFontTx/>
              <a:defRPr sz="2300"/>
            </a:pPr>
            <a:r>
              <a:t>Define stakeholders: sensor owners, edge operators, cloud trainers, end users.</a:t>
            </a:r>
          </a:p>
          <a:p>
            <a:pPr marL="160421" indent="-160421">
              <a:buFontTx/>
              <a:defRPr sz="2300"/>
            </a:pPr>
            <a:r>
              <a:t>Clarify trust &amp; security requirements for deployable hybrid edge QML.</a:t>
            </a:r>
          </a:p>
        </p:txBody>
      </p:sp>
      <p:sp>
        <p:nvSpPr>
          <p:cNvPr id="236" name="タイトル 1"/>
          <p:cNvSpPr txBox="1"/>
          <p:nvPr>
            <p:ph type="title"/>
          </p:nvPr>
        </p:nvSpPr>
        <p:spPr>
          <a:xfrm>
            <a:off x="850900" y="1619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Research steps</a:t>
            </a:r>
          </a:p>
        </p:txBody>
      </p:sp>
      <p:sp>
        <p:nvSpPr>
          <p:cNvPr id="237" name="直線コネクタ 6"/>
          <p:cNvSpPr/>
          <p:nvPr/>
        </p:nvSpPr>
        <p:spPr>
          <a:xfrm>
            <a:off x="6618571" y="3248494"/>
            <a:ext cx="1703349" cy="2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テキスト ボックス 7"/>
          <p:cNvSpPr txBox="1"/>
          <p:nvPr/>
        </p:nvSpPr>
        <p:spPr>
          <a:xfrm>
            <a:off x="7039388" y="3470033"/>
            <a:ext cx="4622747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Supervisor, FPGA lab, IoT testbed operators, and open-source QML community</a:t>
            </a:r>
          </a:p>
        </p:txBody>
      </p:sp>
      <p:sp>
        <p:nvSpPr>
          <p:cNvPr id="239" name="フリーフォーム: 図形 12"/>
          <p:cNvSpPr/>
          <p:nvPr/>
        </p:nvSpPr>
        <p:spPr>
          <a:xfrm>
            <a:off x="6810043" y="3253440"/>
            <a:ext cx="171960" cy="5443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000000"/>
            </a:solidFill>
            <a:miter/>
            <a:tailEnd type="triangle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游ゴシック"/>
              </a:defRPr>
            </a:pPr>
          </a:p>
        </p:txBody>
      </p:sp>
      <p:sp>
        <p:nvSpPr>
          <p:cNvPr id="240" name="直線コネクタ 13"/>
          <p:cNvSpPr/>
          <p:nvPr/>
        </p:nvSpPr>
        <p:spPr>
          <a:xfrm>
            <a:off x="4371949" y="3245734"/>
            <a:ext cx="1923415" cy="4"/>
          </a:xfrm>
          <a:prstGeom prst="line">
            <a:avLst/>
          </a:prstGeom>
          <a:ln w="6350">
            <a:solidFill>
              <a:srgbClr val="000000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" name="フリーフォーム: 図形 15"/>
          <p:cNvSpPr/>
          <p:nvPr/>
        </p:nvSpPr>
        <p:spPr>
          <a:xfrm>
            <a:off x="4723898" y="3261026"/>
            <a:ext cx="395388" cy="14014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000000"/>
            </a:solidFill>
            <a:miter/>
            <a:tailEnd type="triangle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游ゴシック"/>
              </a:defRPr>
            </a:pPr>
          </a:p>
        </p:txBody>
      </p:sp>
      <p:sp>
        <p:nvSpPr>
          <p:cNvPr id="242" name="テキスト ボックス 16"/>
          <p:cNvSpPr txBox="1"/>
          <p:nvPr/>
        </p:nvSpPr>
        <p:spPr>
          <a:xfrm>
            <a:off x="5127204" y="4338635"/>
            <a:ext cx="7511996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Streaming IoT intrusion/anomaly workloads on constrained edge hardware</a:t>
            </a:r>
          </a:p>
        </p:txBody>
      </p:sp>
      <p:sp>
        <p:nvSpPr>
          <p:cNvPr id="243" name="スライド番号プレースホルダー 3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Research steps</a:t>
            </a:r>
          </a:p>
        </p:txBody>
      </p:sp>
      <p:sp>
        <p:nvSpPr>
          <p:cNvPr id="246" name="コンテンツ プレースホルダー 2"/>
          <p:cNvSpPr txBox="1"/>
          <p:nvPr>
            <p:ph type="body" idx="1"/>
          </p:nvPr>
        </p:nvSpPr>
        <p:spPr>
          <a:xfrm>
            <a:off x="665823" y="1462087"/>
            <a:ext cx="11227497" cy="5016969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 sz="2200"/>
            </a:pPr>
            <a:r>
              <a:t>B. Hybrid model development &amp; hardware integration (Years 2–3)</a:t>
            </a:r>
          </a:p>
          <a:p>
            <a:pPr marL="0" indent="0">
              <a:buSzTx/>
              <a:buNone/>
              <a:defRPr sz="2200"/>
            </a:pPr>
            <a:r>
              <a:t>• VQC / quantum-kernel design with noise-aware training and compression ablations</a:t>
            </a:r>
          </a:p>
          <a:p>
            <a:pPr marL="0" indent="0">
              <a:buSzTx/>
              <a:buNone/>
              <a:defRPr sz="2200"/>
            </a:pPr>
            <a:r>
              <a:t>• FPGA/embedded integration (Vivado/Vitis); power measurement via USB meter or PMIC</a:t>
            </a:r>
          </a:p>
          <a:p>
            <a:pPr marL="0" indent="0">
              <a:buSzTx/>
              <a:buNone/>
              <a:defRPr sz="2200"/>
            </a:pPr>
            <a:r>
              <a:t>• Comparative evaluation vs. classical TinyML and cloud-hybrid QML under fixed budgets</a:t>
            </a:r>
          </a:p>
          <a:p>
            <a:pPr marL="0" indent="0">
              <a:buSzTx/>
              <a:buNone/>
              <a:defRPr b="1" sz="2200"/>
            </a:pPr>
          </a:p>
          <a:p>
            <a:pPr marL="0" indent="0">
              <a:buSzTx/>
              <a:buNone/>
              <a:defRPr b="1" sz="2200"/>
            </a:pPr>
            <a:r>
              <a:t>C. </a:t>
            </a:r>
            <a:r>
              <a:t>Trusted AI Deployment Architecture</a:t>
            </a:r>
          </a:p>
          <a:p>
            <a:pPr lvl="1" marL="687803" indent="-230603">
              <a:buFontTx/>
              <a:defRPr sz="2200"/>
            </a:pPr>
            <a:r>
              <a:t>Safety evaluation: threat analysis; negative results published when hybrid QML is not justified.</a:t>
            </a:r>
          </a:p>
          <a:p>
            <a:pPr marL="230603" indent="-230603">
              <a:buFontTx/>
              <a:defRPr sz="2200"/>
            </a:pPr>
            <a:r>
              <a:t>Optional Year 2: reversible-logic data-path block with switching-activity measurement.</a:t>
            </a:r>
          </a:p>
          <a:p>
            <a:pPr marL="230603" indent="-230603">
              <a:buFontTx/>
              <a:defRPr sz="2200"/>
            </a:pPr>
            <a:r>
              <a:t>Focus on secure Development and Trustworthy execution of proposed Framework</a:t>
            </a:r>
          </a:p>
        </p:txBody>
      </p:sp>
      <p:sp>
        <p:nvSpPr>
          <p:cNvPr id="247" name="スライド番号プレースホルダー 3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タイトル 1"/>
          <p:cNvSpPr txBox="1"/>
          <p:nvPr>
            <p:ph type="title"/>
          </p:nvPr>
        </p:nvSpPr>
        <p:spPr>
          <a:xfrm>
            <a:off x="605284" y="136525"/>
            <a:ext cx="10748518" cy="1325563"/>
          </a:xfrm>
          <a:prstGeom prst="rect">
            <a:avLst/>
          </a:prstGeom>
        </p:spPr>
        <p:txBody>
          <a:bodyPr/>
          <a:lstStyle/>
          <a:p>
            <a:pPr/>
            <a:r>
              <a:t>Announcement plan (48 months)</a:t>
            </a:r>
          </a:p>
        </p:txBody>
      </p:sp>
      <p:graphicFrame>
        <p:nvGraphicFramePr>
          <p:cNvPr id="250" name="表 5"/>
          <p:cNvGraphicFramePr/>
          <p:nvPr/>
        </p:nvGraphicFramePr>
        <p:xfrm>
          <a:off x="461156" y="1972598"/>
          <a:ext cx="11515371" cy="42862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504690"/>
                <a:gridCol w="1062902"/>
                <a:gridCol w="322357"/>
                <a:gridCol w="1397618"/>
                <a:gridCol w="114300"/>
                <a:gridCol w="1199846"/>
                <a:gridCol w="114300"/>
                <a:gridCol w="1199846"/>
                <a:gridCol w="204008"/>
                <a:gridCol w="1110137"/>
                <a:gridCol w="363407"/>
                <a:gridCol w="950738"/>
                <a:gridCol w="657073"/>
                <a:gridCol w="657073"/>
                <a:gridCol w="657073"/>
              </a:tblGrid>
              <a:tr h="329806">
                <a:tc rowSpan="2"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2026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9D9D9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2026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2027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2028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2029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</a:tr>
              <a:tr h="329806"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First half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9D9D9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Second half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First half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Second half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First half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Second half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Year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DEEBF7"/>
                    </a:solidFill>
                  </a:tcPr>
                </a:tc>
                <a:tc hMerge="1">
                  <a:tcPr/>
                </a:tc>
              </a:tr>
              <a:tr h="126888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dissertation writing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</a:tr>
              <a:tr h="1201271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Task 1</a:t>
                      </a:r>
                    </a:p>
                    <a:p>
                      <a:pPr algn="l">
                        <a:defRPr sz="1600"/>
                      </a:pPr>
                      <a:r>
                        <a:t>the TEE usage environment.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</a:tr>
              <a:tr h="1156447">
                <a:tc>
                  <a:txBody>
                    <a:bodyPr/>
                    <a:lstStyle/>
                    <a:p>
                      <a:pPr algn="l">
                        <a:defRPr sz="1600"/>
                      </a:pPr>
                      <a:r>
                        <a:t>Task 2</a:t>
                      </a:r>
                    </a:p>
                    <a:p>
                      <a:pPr algn="l">
                        <a:defRPr sz="1600"/>
                      </a:pPr>
                      <a:r>
                        <a:t>Advanced CC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R w="12700">
                      <a:solidFill>
                        <a:srgbClr val="BFBFBF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BFBFBF"/>
                      </a:solidFill>
                      <a:prstDash val="sysDot"/>
                    </a:lnL>
                  </a:tcPr>
                </a:tc>
              </a:tr>
            </a:tbl>
          </a:graphicData>
        </a:graphic>
      </p:graphicFrame>
      <p:sp>
        <p:nvSpPr>
          <p:cNvPr id="251" name="テキスト ボックス 6"/>
          <p:cNvSpPr txBox="1"/>
          <p:nvPr/>
        </p:nvSpPr>
        <p:spPr>
          <a:xfrm>
            <a:off x="502391" y="1213601"/>
            <a:ext cx="11643892" cy="574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Research proceeds iteratively across benchmarking, hybrid model design, edge prototyping, and thesis synthesis. Results target IEEE IoT Journal, FGCS, and ACSAC, RAID, ESORICS, DIMVA, AsiaCCS, or other comparable security conferences.</a:t>
            </a:r>
          </a:p>
        </p:txBody>
      </p:sp>
      <p:sp>
        <p:nvSpPr>
          <p:cNvPr id="252" name="テキスト ボックス 76"/>
          <p:cNvSpPr txBox="1"/>
          <p:nvPr/>
        </p:nvSpPr>
        <p:spPr>
          <a:xfrm>
            <a:off x="2455734" y="6315392"/>
            <a:ext cx="1193162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▲ Start</a:t>
            </a:r>
          </a:p>
        </p:txBody>
      </p:sp>
      <p:sp>
        <p:nvSpPr>
          <p:cNvPr id="253" name="テキスト ボックス 77"/>
          <p:cNvSpPr txBox="1"/>
          <p:nvPr/>
        </p:nvSpPr>
        <p:spPr>
          <a:xfrm>
            <a:off x="10683661" y="6352142"/>
            <a:ext cx="1922989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Completion ▲</a:t>
            </a:r>
          </a:p>
        </p:txBody>
      </p:sp>
      <p:sp>
        <p:nvSpPr>
          <p:cNvPr id="254" name="正方形/長方形 86"/>
          <p:cNvSpPr/>
          <p:nvPr/>
        </p:nvSpPr>
        <p:spPr>
          <a:xfrm>
            <a:off x="461156" y="2630090"/>
            <a:ext cx="11515370" cy="1290913"/>
          </a:xfrm>
          <a:prstGeom prst="rect">
            <a:avLst/>
          </a:prstGeom>
          <a:ln w="57150">
            <a:solidFill>
              <a:srgbClr val="1D3053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游ゴシック"/>
              </a:defRPr>
            </a:pPr>
          </a:p>
        </p:txBody>
      </p:sp>
      <p:grpSp>
        <p:nvGrpSpPr>
          <p:cNvPr id="257" name="矢印: 五方向 15"/>
          <p:cNvGrpSpPr/>
          <p:nvPr/>
        </p:nvGrpSpPr>
        <p:grpSpPr>
          <a:xfrm>
            <a:off x="9691447" y="2791191"/>
            <a:ext cx="2285083" cy="650237"/>
            <a:chOff x="0" y="0"/>
            <a:chExt cx="2285081" cy="650235"/>
          </a:xfrm>
        </p:grpSpPr>
        <p:sp>
          <p:nvSpPr>
            <p:cNvPr id="255" name="Shape"/>
            <p:cNvSpPr/>
            <p:nvPr/>
          </p:nvSpPr>
          <p:spPr>
            <a:xfrm>
              <a:off x="-1" y="1953"/>
              <a:ext cx="2285083" cy="6463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545" y="0"/>
                  </a:lnTo>
                  <a:lnTo>
                    <a:pt x="21600" y="10800"/>
                  </a:lnTo>
                  <a:lnTo>
                    <a:pt x="18545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56" name="Thesis writing"/>
            <p:cNvSpPr txBox="1"/>
            <p:nvPr/>
          </p:nvSpPr>
          <p:spPr>
            <a:xfrm>
              <a:off x="45719" y="0"/>
              <a:ext cx="2032060" cy="650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  <a:r>
                <a:t>Thesis</a:t>
              </a:r>
              <a:br/>
              <a:r>
                <a:t>writing</a:t>
              </a:r>
            </a:p>
          </p:txBody>
        </p:sp>
      </p:grpSp>
      <p:grpSp>
        <p:nvGrpSpPr>
          <p:cNvPr id="260" name="矢印: 五方向 19"/>
          <p:cNvGrpSpPr/>
          <p:nvPr/>
        </p:nvGrpSpPr>
        <p:grpSpPr>
          <a:xfrm>
            <a:off x="7696201" y="2743828"/>
            <a:ext cx="1953692" cy="739137"/>
            <a:chOff x="-1" y="0"/>
            <a:chExt cx="1953691" cy="739135"/>
          </a:xfrm>
        </p:grpSpPr>
        <p:sp>
          <p:nvSpPr>
            <p:cNvPr id="258" name="Shape"/>
            <p:cNvSpPr/>
            <p:nvPr/>
          </p:nvSpPr>
          <p:spPr>
            <a:xfrm>
              <a:off x="-2" y="46405"/>
              <a:ext cx="1953693" cy="6463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8027" y="0"/>
                  </a:lnTo>
                  <a:lnTo>
                    <a:pt x="21600" y="10800"/>
                  </a:lnTo>
                  <a:lnTo>
                    <a:pt x="18027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59" name="journal  submission/presentation"/>
            <p:cNvSpPr txBox="1"/>
            <p:nvPr/>
          </p:nvSpPr>
          <p:spPr>
            <a:xfrm>
              <a:off x="45719" y="0"/>
              <a:ext cx="1700669" cy="7391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  <a:r>
                <a:t>journal </a:t>
              </a:r>
              <a:br/>
              <a:r>
                <a:t>submission/presentation</a:t>
              </a:r>
            </a:p>
          </p:txBody>
        </p:sp>
      </p:grpSp>
      <p:grpSp>
        <p:nvGrpSpPr>
          <p:cNvPr id="263" name="矢印: 五方向 20"/>
          <p:cNvGrpSpPr/>
          <p:nvPr/>
        </p:nvGrpSpPr>
        <p:grpSpPr>
          <a:xfrm>
            <a:off x="2927299" y="4675699"/>
            <a:ext cx="1621806" cy="304523"/>
            <a:chOff x="0" y="0"/>
            <a:chExt cx="1621805" cy="304521"/>
          </a:xfrm>
        </p:grpSpPr>
        <p:sp>
          <p:nvSpPr>
            <p:cNvPr id="261" name="Shape"/>
            <p:cNvSpPr/>
            <p:nvPr/>
          </p:nvSpPr>
          <p:spPr>
            <a:xfrm>
              <a:off x="0" y="0"/>
              <a:ext cx="1358763" cy="3045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9180" y="0"/>
                  </a:lnTo>
                  <a:lnTo>
                    <a:pt x="21600" y="10800"/>
                  </a:lnTo>
                  <a:lnTo>
                    <a:pt x="1918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62" name="Y2: Hybrid VQC design"/>
            <p:cNvSpPr/>
            <p:nvPr/>
          </p:nvSpPr>
          <p:spPr>
            <a:xfrm>
              <a:off x="34645" y="63669"/>
              <a:ext cx="15871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9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lvl1pPr>
            </a:lstStyle>
            <a:p>
              <a:pPr/>
              <a:r>
                <a:t>Y2: Hybrid VQC design</a:t>
              </a:r>
            </a:p>
          </p:txBody>
        </p:sp>
      </p:grpSp>
      <p:grpSp>
        <p:nvGrpSpPr>
          <p:cNvPr id="266" name="矢印: 五方向 21"/>
          <p:cNvGrpSpPr/>
          <p:nvPr/>
        </p:nvGrpSpPr>
        <p:grpSpPr>
          <a:xfrm>
            <a:off x="2635312" y="4226454"/>
            <a:ext cx="2263042" cy="389956"/>
            <a:chOff x="0" y="0"/>
            <a:chExt cx="2263041" cy="389955"/>
          </a:xfrm>
        </p:grpSpPr>
        <p:sp>
          <p:nvSpPr>
            <p:cNvPr id="264" name="Shape"/>
            <p:cNvSpPr/>
            <p:nvPr/>
          </p:nvSpPr>
          <p:spPr>
            <a:xfrm>
              <a:off x="0" y="-1"/>
              <a:ext cx="2263042" cy="3899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9739" y="0"/>
                  </a:lnTo>
                  <a:lnTo>
                    <a:pt x="21600" y="10800"/>
                  </a:lnTo>
                  <a:lnTo>
                    <a:pt x="1973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E2F0D9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65" name="Y1: Literature &amp;baselines"/>
            <p:cNvSpPr txBox="1"/>
            <p:nvPr/>
          </p:nvSpPr>
          <p:spPr>
            <a:xfrm>
              <a:off x="13274" y="47657"/>
              <a:ext cx="2098096" cy="2946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1300">
                  <a:solidFill>
                    <a:srgbClr val="1A1A1A"/>
                  </a:solidFill>
                  <a:latin typeface="+mn-lt"/>
                  <a:ea typeface="+mn-ea"/>
                  <a:cs typeface="+mn-cs"/>
                  <a:sym typeface="游ゴシック"/>
                </a:defRPr>
              </a:lvl1pPr>
            </a:lstStyle>
            <a:p>
              <a:pPr/>
              <a:r>
                <a:t>Y1: Literature &amp;baselines </a:t>
              </a:r>
            </a:p>
          </p:txBody>
        </p:sp>
      </p:grpSp>
      <p:sp>
        <p:nvSpPr>
          <p:cNvPr id="267" name="直線矢印コネクタ 25"/>
          <p:cNvSpPr/>
          <p:nvPr/>
        </p:nvSpPr>
        <p:spPr>
          <a:xfrm flipV="1">
            <a:off x="4671214" y="3445331"/>
            <a:ext cx="3" cy="1372019"/>
          </a:xfrm>
          <a:prstGeom prst="line">
            <a:avLst/>
          </a:prstGeom>
          <a:ln w="19050">
            <a:solidFill>
              <a:srgbClr val="FF0000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70" name="矢印: 五方向 35"/>
          <p:cNvGrpSpPr/>
          <p:nvPr/>
        </p:nvGrpSpPr>
        <p:grpSpPr>
          <a:xfrm>
            <a:off x="5072494" y="5255831"/>
            <a:ext cx="1489570" cy="329047"/>
            <a:chOff x="0" y="0"/>
            <a:chExt cx="1489568" cy="329046"/>
          </a:xfrm>
        </p:grpSpPr>
        <p:sp>
          <p:nvSpPr>
            <p:cNvPr id="268" name="Shape"/>
            <p:cNvSpPr/>
            <p:nvPr/>
          </p:nvSpPr>
          <p:spPr>
            <a:xfrm>
              <a:off x="-1" y="0"/>
              <a:ext cx="1489570" cy="3290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9214" y="0"/>
                  </a:lnTo>
                  <a:lnTo>
                    <a:pt x="21600" y="10800"/>
                  </a:lnTo>
                  <a:lnTo>
                    <a:pt x="1921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69" name="Y3: FPGA integration"/>
            <p:cNvSpPr/>
            <p:nvPr/>
          </p:nvSpPr>
          <p:spPr>
            <a:xfrm>
              <a:off x="86850" y="64859"/>
              <a:ext cx="1315869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1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lvl1pPr>
            </a:lstStyle>
            <a:p>
              <a:pPr/>
              <a:r>
                <a:t>Y3: FPGA integration</a:t>
              </a:r>
            </a:p>
          </p:txBody>
        </p:sp>
      </p:grpSp>
      <p:grpSp>
        <p:nvGrpSpPr>
          <p:cNvPr id="273" name="矢印: 五方向 36"/>
          <p:cNvGrpSpPr/>
          <p:nvPr/>
        </p:nvGrpSpPr>
        <p:grpSpPr>
          <a:xfrm>
            <a:off x="4241815" y="5797527"/>
            <a:ext cx="2135272" cy="446498"/>
            <a:chOff x="0" y="0"/>
            <a:chExt cx="2135271" cy="446497"/>
          </a:xfrm>
        </p:grpSpPr>
        <p:sp>
          <p:nvSpPr>
            <p:cNvPr id="271" name="Shape"/>
            <p:cNvSpPr/>
            <p:nvPr/>
          </p:nvSpPr>
          <p:spPr>
            <a:xfrm>
              <a:off x="0" y="-1"/>
              <a:ext cx="2135272" cy="4464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9342" y="0"/>
                  </a:lnTo>
                  <a:lnTo>
                    <a:pt x="21600" y="10800"/>
                  </a:lnTo>
                  <a:lnTo>
                    <a:pt x="19342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72" name="Y2: Compression &amp; ablations"/>
            <p:cNvSpPr txBox="1"/>
            <p:nvPr/>
          </p:nvSpPr>
          <p:spPr>
            <a:xfrm>
              <a:off x="51193" y="94978"/>
              <a:ext cx="1921260" cy="25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>
                <a:defRPr sz="11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lvl1pPr>
            </a:lstStyle>
            <a:p>
              <a:pPr/>
              <a:r>
                <a:t>Y2: Compression &amp; ablations</a:t>
              </a:r>
            </a:p>
          </p:txBody>
        </p:sp>
      </p:grpSp>
      <p:grpSp>
        <p:nvGrpSpPr>
          <p:cNvPr id="276" name="矢印: 五方向 38"/>
          <p:cNvGrpSpPr/>
          <p:nvPr/>
        </p:nvGrpSpPr>
        <p:grpSpPr>
          <a:xfrm>
            <a:off x="6229648" y="5531361"/>
            <a:ext cx="1655549" cy="329047"/>
            <a:chOff x="0" y="65559"/>
            <a:chExt cx="1655548" cy="329046"/>
          </a:xfrm>
        </p:grpSpPr>
        <p:sp>
          <p:nvSpPr>
            <p:cNvPr id="274" name="Shape"/>
            <p:cNvSpPr/>
            <p:nvPr/>
          </p:nvSpPr>
          <p:spPr>
            <a:xfrm>
              <a:off x="0" y="65559"/>
              <a:ext cx="1655549" cy="329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9453" y="0"/>
                  </a:lnTo>
                  <a:lnTo>
                    <a:pt x="21600" y="10800"/>
                  </a:lnTo>
                  <a:lnTo>
                    <a:pt x="19453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75" name="Comparative evaluation"/>
            <p:cNvSpPr/>
            <p:nvPr/>
          </p:nvSpPr>
          <p:spPr>
            <a:xfrm>
              <a:off x="86850" y="210818"/>
              <a:ext cx="148184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1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lvl1pPr>
            </a:lstStyle>
            <a:p>
              <a:pPr/>
              <a:r>
                <a:t>Comparative evaluation</a:t>
              </a:r>
            </a:p>
          </p:txBody>
        </p:sp>
      </p:grpSp>
      <p:grpSp>
        <p:nvGrpSpPr>
          <p:cNvPr id="279" name="矢印: 五方向 47"/>
          <p:cNvGrpSpPr/>
          <p:nvPr/>
        </p:nvGrpSpPr>
        <p:grpSpPr>
          <a:xfrm>
            <a:off x="4260381" y="4604441"/>
            <a:ext cx="1701323" cy="447037"/>
            <a:chOff x="0" y="0"/>
            <a:chExt cx="1701321" cy="447035"/>
          </a:xfrm>
        </p:grpSpPr>
        <p:sp>
          <p:nvSpPr>
            <p:cNvPr id="277" name="Shape"/>
            <p:cNvSpPr/>
            <p:nvPr/>
          </p:nvSpPr>
          <p:spPr>
            <a:xfrm>
              <a:off x="0" y="52876"/>
              <a:ext cx="1701322" cy="341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9434" y="0"/>
                  </a:lnTo>
                  <a:lnTo>
                    <a:pt x="21600" y="10800"/>
                  </a:lnTo>
                  <a:lnTo>
                    <a:pt x="19434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2E75B6"/>
              </a:solidFill>
              <a:prstDash val="sysDot"/>
              <a:miter lim="8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78" name="Comparative evaluation"/>
            <p:cNvSpPr txBox="1"/>
            <p:nvPr/>
          </p:nvSpPr>
          <p:spPr>
            <a:xfrm>
              <a:off x="62041" y="0"/>
              <a:ext cx="1491920" cy="4470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200">
                  <a:solidFill>
                    <a:srgbClr val="313131"/>
                  </a:solidFill>
                  <a:latin typeface="+mn-lt"/>
                  <a:ea typeface="+mn-ea"/>
                  <a:cs typeface="+mn-cs"/>
                  <a:sym typeface="游ゴシック"/>
                </a:defRPr>
              </a:lvl1pPr>
            </a:lstStyle>
            <a:p>
              <a:pPr/>
              <a:r>
                <a:t>Comparative evaluation</a:t>
              </a:r>
            </a:p>
          </p:txBody>
        </p:sp>
      </p:grpSp>
      <p:grpSp>
        <p:nvGrpSpPr>
          <p:cNvPr id="282" name="矢印: 五方向 37"/>
          <p:cNvGrpSpPr/>
          <p:nvPr/>
        </p:nvGrpSpPr>
        <p:grpSpPr>
          <a:xfrm>
            <a:off x="5961700" y="4513995"/>
            <a:ext cx="1929468" cy="497837"/>
            <a:chOff x="0" y="0"/>
            <a:chExt cx="1929467" cy="497835"/>
          </a:xfrm>
        </p:grpSpPr>
        <p:sp>
          <p:nvSpPr>
            <p:cNvPr id="280" name="Shape"/>
            <p:cNvSpPr/>
            <p:nvPr/>
          </p:nvSpPr>
          <p:spPr>
            <a:xfrm>
              <a:off x="0" y="57331"/>
              <a:ext cx="1929468" cy="3831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9455" y="0"/>
                  </a:lnTo>
                  <a:lnTo>
                    <a:pt x="21600" y="10800"/>
                  </a:lnTo>
                  <a:lnTo>
                    <a:pt x="19455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81" name="Comparative evaluation"/>
            <p:cNvSpPr txBox="1"/>
            <p:nvPr/>
          </p:nvSpPr>
          <p:spPr>
            <a:xfrm>
              <a:off x="53340" y="0"/>
              <a:ext cx="1726993" cy="4978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3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lvl1pPr>
            </a:lstStyle>
            <a:p>
              <a:pPr/>
              <a:r>
                <a:t>Comparative evaluation</a:t>
              </a:r>
            </a:p>
          </p:txBody>
        </p:sp>
      </p:grpSp>
      <p:grpSp>
        <p:nvGrpSpPr>
          <p:cNvPr id="285" name="矢印: 五方向 51"/>
          <p:cNvGrpSpPr/>
          <p:nvPr/>
        </p:nvGrpSpPr>
        <p:grpSpPr>
          <a:xfrm>
            <a:off x="7869256" y="4502838"/>
            <a:ext cx="1822195" cy="1583477"/>
            <a:chOff x="0" y="-1"/>
            <a:chExt cx="1822194" cy="1583476"/>
          </a:xfrm>
        </p:grpSpPr>
        <p:sp>
          <p:nvSpPr>
            <p:cNvPr id="283" name="Shape"/>
            <p:cNvSpPr/>
            <p:nvPr/>
          </p:nvSpPr>
          <p:spPr>
            <a:xfrm>
              <a:off x="-1" y="-2"/>
              <a:ext cx="1822195" cy="15834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7992" y="0"/>
                  </a:lnTo>
                  <a:lnTo>
                    <a:pt x="21600" y="10800"/>
                  </a:lnTo>
                  <a:lnTo>
                    <a:pt x="17992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84" name="Artifact release"/>
            <p:cNvSpPr txBox="1"/>
            <p:nvPr/>
          </p:nvSpPr>
          <p:spPr>
            <a:xfrm>
              <a:off x="45721" y="466615"/>
              <a:ext cx="1578564" cy="650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  <a:r>
                <a:t>Artifact</a:t>
              </a:r>
              <a:br/>
              <a:r>
                <a:t>release</a:t>
              </a:r>
            </a:p>
          </p:txBody>
        </p:sp>
      </p:grpSp>
      <p:sp>
        <p:nvSpPr>
          <p:cNvPr id="286" name="直線矢印コネクタ 41"/>
          <p:cNvSpPr/>
          <p:nvPr/>
        </p:nvSpPr>
        <p:spPr>
          <a:xfrm flipV="1">
            <a:off x="7758217" y="3455125"/>
            <a:ext cx="3" cy="2267832"/>
          </a:xfrm>
          <a:prstGeom prst="line">
            <a:avLst/>
          </a:prstGeom>
          <a:ln w="19050">
            <a:solidFill>
              <a:srgbClr val="FF0000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87" name="直線矢印コネクタ 42"/>
          <p:cNvSpPr/>
          <p:nvPr/>
        </p:nvSpPr>
        <p:spPr>
          <a:xfrm flipV="1">
            <a:off x="7714129" y="3455125"/>
            <a:ext cx="3" cy="1236847"/>
          </a:xfrm>
          <a:prstGeom prst="line">
            <a:avLst/>
          </a:prstGeom>
          <a:ln w="19050">
            <a:solidFill>
              <a:srgbClr val="FF0000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90" name="矢印: 五方向 17"/>
          <p:cNvGrpSpPr/>
          <p:nvPr/>
        </p:nvGrpSpPr>
        <p:grpSpPr>
          <a:xfrm>
            <a:off x="4391501" y="2773850"/>
            <a:ext cx="1650047" cy="660046"/>
            <a:chOff x="-1" y="-1"/>
            <a:chExt cx="1650046" cy="660044"/>
          </a:xfrm>
        </p:grpSpPr>
        <p:sp>
          <p:nvSpPr>
            <p:cNvPr id="288" name="Shape"/>
            <p:cNvSpPr/>
            <p:nvPr/>
          </p:nvSpPr>
          <p:spPr>
            <a:xfrm>
              <a:off x="-2" y="-2"/>
              <a:ext cx="1650048" cy="660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7280" y="0"/>
                  </a:lnTo>
                  <a:lnTo>
                    <a:pt x="21600" y="10800"/>
                  </a:lnTo>
                  <a:lnTo>
                    <a:pt x="1728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89" name="Conference submission"/>
            <p:cNvSpPr txBox="1"/>
            <p:nvPr/>
          </p:nvSpPr>
          <p:spPr>
            <a:xfrm>
              <a:off x="45720" y="4898"/>
              <a:ext cx="1393594" cy="650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  <a:r>
                <a:t>Conference</a:t>
              </a:r>
              <a:br/>
              <a:r>
                <a:t>submission</a:t>
              </a:r>
            </a:p>
          </p:txBody>
        </p:sp>
      </p:grpSp>
      <p:grpSp>
        <p:nvGrpSpPr>
          <p:cNvPr id="293" name="矢印: 五方向 18"/>
          <p:cNvGrpSpPr/>
          <p:nvPr/>
        </p:nvGrpSpPr>
        <p:grpSpPr>
          <a:xfrm>
            <a:off x="6042697" y="2806836"/>
            <a:ext cx="1650045" cy="629733"/>
            <a:chOff x="0" y="0"/>
            <a:chExt cx="1650044" cy="629732"/>
          </a:xfrm>
        </p:grpSpPr>
        <p:sp>
          <p:nvSpPr>
            <p:cNvPr id="291" name="Shape"/>
            <p:cNvSpPr/>
            <p:nvPr/>
          </p:nvSpPr>
          <p:spPr>
            <a:xfrm>
              <a:off x="-1" y="-1"/>
              <a:ext cx="1650046" cy="629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7478" y="0"/>
                  </a:lnTo>
                  <a:lnTo>
                    <a:pt x="21600" y="10800"/>
                  </a:lnTo>
                  <a:lnTo>
                    <a:pt x="17478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292" name="Workshop / internal report"/>
            <p:cNvSpPr/>
            <p:nvPr/>
          </p:nvSpPr>
          <p:spPr>
            <a:xfrm>
              <a:off x="23570" y="38024"/>
              <a:ext cx="1401173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sz="16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  <a:r>
                <a:t>Workshop /</a:t>
              </a:r>
              <a:br/>
              <a:r>
                <a:t>internal report</a:t>
              </a:r>
            </a:p>
          </p:txBody>
        </p:sp>
      </p:grpSp>
      <p:sp>
        <p:nvSpPr>
          <p:cNvPr id="294" name="直線矢印コネクタ 28"/>
          <p:cNvSpPr/>
          <p:nvPr/>
        </p:nvSpPr>
        <p:spPr>
          <a:xfrm flipV="1">
            <a:off x="6044703" y="3446160"/>
            <a:ext cx="3" cy="2474563"/>
          </a:xfrm>
          <a:prstGeom prst="line">
            <a:avLst/>
          </a:prstGeom>
          <a:ln w="19050">
            <a:solidFill>
              <a:srgbClr val="FF0000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5" name="直線矢印コネクタ 29"/>
          <p:cNvSpPr/>
          <p:nvPr/>
        </p:nvSpPr>
        <p:spPr>
          <a:xfrm flipV="1">
            <a:off x="5979540" y="3446161"/>
            <a:ext cx="3" cy="1950541"/>
          </a:xfrm>
          <a:prstGeom prst="line">
            <a:avLst/>
          </a:prstGeom>
          <a:ln w="19050">
            <a:solidFill>
              <a:srgbClr val="FF0000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6" name="直線矢印コネクタ 52"/>
          <p:cNvSpPr/>
          <p:nvPr/>
        </p:nvSpPr>
        <p:spPr>
          <a:xfrm flipV="1">
            <a:off x="9691447" y="3454297"/>
            <a:ext cx="3" cy="1848414"/>
          </a:xfrm>
          <a:prstGeom prst="line">
            <a:avLst/>
          </a:prstGeom>
          <a:ln w="19050">
            <a:solidFill>
              <a:srgbClr val="FF0000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97" name="円弧 32"/>
          <p:cNvSpPr/>
          <p:nvPr/>
        </p:nvSpPr>
        <p:spPr>
          <a:xfrm>
            <a:off x="4495684" y="3632020"/>
            <a:ext cx="236130" cy="994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91" h="19960" fill="norm" stroke="1" extrusionOk="0">
                <a:moveTo>
                  <a:pt x="17716" y="908"/>
                </a:moveTo>
                <a:cubicBezTo>
                  <a:pt x="20812" y="6371"/>
                  <a:pt x="19754" y="13915"/>
                  <a:pt x="15352" y="17757"/>
                </a:cubicBezTo>
                <a:cubicBezTo>
                  <a:pt x="10950" y="21600"/>
                  <a:pt x="4871" y="20286"/>
                  <a:pt x="1775" y="14824"/>
                </a:cubicBezTo>
                <a:cubicBezTo>
                  <a:pt x="-788" y="10302"/>
                  <a:pt x="-554" y="4199"/>
                  <a:pt x="2343" y="0"/>
                </a:cubicBezTo>
              </a:path>
            </a:pathLst>
          </a:custGeom>
          <a:ln>
            <a:solidFill>
              <a:srgbClr val="FF0000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游ゴシック"/>
              </a:defRPr>
            </a:pPr>
          </a:p>
        </p:txBody>
      </p:sp>
      <p:sp>
        <p:nvSpPr>
          <p:cNvPr id="298" name="円弧 33"/>
          <p:cNvSpPr/>
          <p:nvPr/>
        </p:nvSpPr>
        <p:spPr>
          <a:xfrm>
            <a:off x="5867707" y="3620630"/>
            <a:ext cx="297764" cy="105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29" h="20235" fill="norm" stroke="1" extrusionOk="0">
                <a:moveTo>
                  <a:pt x="17034" y="827"/>
                </a:moveTo>
                <a:cubicBezTo>
                  <a:pt x="20561" y="5700"/>
                  <a:pt x="20143" y="13097"/>
                  <a:pt x="16101" y="17348"/>
                </a:cubicBezTo>
                <a:cubicBezTo>
                  <a:pt x="12058" y="21600"/>
                  <a:pt x="5922" y="21097"/>
                  <a:pt x="2394" y="16224"/>
                </a:cubicBezTo>
                <a:cubicBezTo>
                  <a:pt x="-1039" y="11481"/>
                  <a:pt x="-747" y="4315"/>
                  <a:pt x="3055" y="0"/>
                </a:cubicBezTo>
              </a:path>
            </a:pathLst>
          </a:custGeom>
          <a:ln>
            <a:solidFill>
              <a:srgbClr val="FF0000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游ゴシック"/>
              </a:defRPr>
            </a:pPr>
          </a:p>
        </p:txBody>
      </p:sp>
      <p:sp>
        <p:nvSpPr>
          <p:cNvPr id="299" name="円弧 46"/>
          <p:cNvSpPr/>
          <p:nvPr/>
        </p:nvSpPr>
        <p:spPr>
          <a:xfrm>
            <a:off x="7586703" y="3562353"/>
            <a:ext cx="297765" cy="1058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429" h="20235" fill="norm" stroke="1" extrusionOk="0">
                <a:moveTo>
                  <a:pt x="17034" y="827"/>
                </a:moveTo>
                <a:cubicBezTo>
                  <a:pt x="20561" y="5700"/>
                  <a:pt x="20143" y="13097"/>
                  <a:pt x="16101" y="17348"/>
                </a:cubicBezTo>
                <a:cubicBezTo>
                  <a:pt x="12058" y="21600"/>
                  <a:pt x="5922" y="21097"/>
                  <a:pt x="2394" y="16224"/>
                </a:cubicBezTo>
                <a:cubicBezTo>
                  <a:pt x="-1039" y="11481"/>
                  <a:pt x="-747" y="4315"/>
                  <a:pt x="3055" y="0"/>
                </a:cubicBezTo>
              </a:path>
            </a:pathLst>
          </a:custGeom>
          <a:ln>
            <a:solidFill>
              <a:srgbClr val="FF0000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latin typeface="+mn-lt"/>
                <a:ea typeface="+mn-ea"/>
                <a:cs typeface="+mn-cs"/>
                <a:sym typeface="游ゴシック"/>
              </a:defRPr>
            </a:pPr>
          </a:p>
        </p:txBody>
      </p:sp>
      <p:sp>
        <p:nvSpPr>
          <p:cNvPr id="300" name="テキスト ボックス 49"/>
          <p:cNvSpPr txBox="1"/>
          <p:nvPr/>
        </p:nvSpPr>
        <p:spPr>
          <a:xfrm>
            <a:off x="4732142" y="3548943"/>
            <a:ext cx="1351863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Benchmark spec</a:t>
            </a:r>
          </a:p>
        </p:txBody>
      </p:sp>
      <p:sp>
        <p:nvSpPr>
          <p:cNvPr id="301" name="テキスト ボックス 50"/>
          <p:cNvSpPr txBox="1"/>
          <p:nvPr/>
        </p:nvSpPr>
        <p:spPr>
          <a:xfrm>
            <a:off x="6234312" y="3593996"/>
            <a:ext cx="1415634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Conference draft</a:t>
            </a:r>
          </a:p>
        </p:txBody>
      </p:sp>
      <p:sp>
        <p:nvSpPr>
          <p:cNvPr id="302" name="テキスト ボックス 54"/>
          <p:cNvSpPr txBox="1"/>
          <p:nvPr/>
        </p:nvSpPr>
        <p:spPr>
          <a:xfrm>
            <a:off x="7866495" y="3593996"/>
            <a:ext cx="1922989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Journal draft</a:t>
            </a:r>
          </a:p>
        </p:txBody>
      </p:sp>
      <p:sp>
        <p:nvSpPr>
          <p:cNvPr id="303" name="テキスト ボックス 55"/>
          <p:cNvSpPr txBox="1"/>
          <p:nvPr/>
        </p:nvSpPr>
        <p:spPr>
          <a:xfrm>
            <a:off x="2889986" y="3567586"/>
            <a:ext cx="1420498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(Milestones)</a:t>
            </a:r>
          </a:p>
        </p:txBody>
      </p:sp>
      <p:sp>
        <p:nvSpPr>
          <p:cNvPr id="304" name="テキスト ボックス 56"/>
          <p:cNvSpPr txBox="1"/>
          <p:nvPr/>
        </p:nvSpPr>
        <p:spPr>
          <a:xfrm>
            <a:off x="9762021" y="3567586"/>
            <a:ext cx="1514957" cy="650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游ゴシック"/>
              </a:defRPr>
            </a:lvl1pPr>
          </a:lstStyle>
          <a:p>
            <a:pPr/>
            <a:r>
              <a:t>PhD completion</a:t>
            </a:r>
          </a:p>
        </p:txBody>
      </p:sp>
      <p:sp>
        <p:nvSpPr>
          <p:cNvPr id="305" name="直線矢印コネクタ 12"/>
          <p:cNvSpPr/>
          <p:nvPr/>
        </p:nvSpPr>
        <p:spPr>
          <a:xfrm flipV="1">
            <a:off x="4567518" y="3454297"/>
            <a:ext cx="3" cy="939767"/>
          </a:xfrm>
          <a:prstGeom prst="line">
            <a:avLst/>
          </a:prstGeom>
          <a:ln w="19050">
            <a:solidFill>
              <a:srgbClr val="FF0000"/>
            </a:solidFill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6" name="直線矢印コネクタ 16"/>
          <p:cNvSpPr/>
          <p:nvPr/>
        </p:nvSpPr>
        <p:spPr>
          <a:xfrm flipV="1">
            <a:off x="3565833" y="3461625"/>
            <a:ext cx="3" cy="137202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miter/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07" name="スライド番号プレースホルダー 2"/>
          <p:cNvSpPr txBox="1"/>
          <p:nvPr>
            <p:ph type="sldNum" sz="quarter" idx="4294967295"/>
          </p:nvPr>
        </p:nvSpPr>
        <p:spPr>
          <a:xfrm>
            <a:off x="11698709" y="184466"/>
            <a:ext cx="273652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310" name="矢印: 五方向 17"/>
          <p:cNvGrpSpPr/>
          <p:nvPr/>
        </p:nvGrpSpPr>
        <p:grpSpPr>
          <a:xfrm>
            <a:off x="2641154" y="2753659"/>
            <a:ext cx="1717955" cy="687211"/>
            <a:chOff x="0" y="0"/>
            <a:chExt cx="1717954" cy="687209"/>
          </a:xfrm>
        </p:grpSpPr>
        <p:sp>
          <p:nvSpPr>
            <p:cNvPr id="308" name="Shape"/>
            <p:cNvSpPr/>
            <p:nvPr/>
          </p:nvSpPr>
          <p:spPr>
            <a:xfrm>
              <a:off x="-1" y="-1"/>
              <a:ext cx="1717955" cy="6872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17280" y="0"/>
                  </a:lnTo>
                  <a:lnTo>
                    <a:pt x="21600" y="10800"/>
                  </a:lnTo>
                  <a:lnTo>
                    <a:pt x="1728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50800" dist="38100" dir="2700000">
                <a:srgbClr val="000000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sz="14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</a:p>
          </p:txBody>
        </p:sp>
        <p:sp>
          <p:nvSpPr>
            <p:cNvPr id="309" name="Prototype demo"/>
            <p:cNvSpPr txBox="1"/>
            <p:nvPr/>
          </p:nvSpPr>
          <p:spPr>
            <a:xfrm>
              <a:off x="47601" y="18483"/>
              <a:ext cx="1450948" cy="6502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游ゴシック"/>
                </a:defRPr>
              </a:pPr>
              <a:r>
                <a:t>Prototype</a:t>
              </a:r>
              <a:br/>
              <a:r>
                <a:t>demo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タイトル 1"/>
          <p:cNvSpPr txBox="1"/>
          <p:nvPr>
            <p:ph type="title"/>
          </p:nvPr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In conclusion (Aspirations)</a:t>
            </a:r>
          </a:p>
        </p:txBody>
      </p:sp>
      <p:sp>
        <p:nvSpPr>
          <p:cNvPr id="313" name="コンテンツ プレースホルダー 2"/>
          <p:cNvSpPr txBox="1"/>
          <p:nvPr>
            <p:ph type="body" sz="half" idx="1"/>
          </p:nvPr>
        </p:nvSpPr>
        <p:spPr>
          <a:xfrm>
            <a:off x="935437" y="1845502"/>
            <a:ext cx="10652082" cy="1920656"/>
          </a:xfrm>
          <a:prstGeom prst="rect">
            <a:avLst/>
          </a:prstGeom>
        </p:spPr>
        <p:txBody>
          <a:bodyPr/>
          <a:lstStyle/>
          <a:p>
            <a:pPr marL="0" indent="0" algn="just" defTabSz="457200">
              <a:lnSpc>
                <a:spcPct val="100000"/>
              </a:lnSpc>
              <a:spcBef>
                <a:spcPts val="600"/>
              </a:spcBef>
              <a:buSzTx/>
              <a:buNone/>
              <a:defRPr b="1" sz="2000"/>
            </a:pPr>
            <a:r>
              <a:t>Long-Term Vision: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Develop trustworthy AI-enabled IoT security systems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Integrate Quantum AI with secure deployment architectures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60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Bridge academic Quantum ML research and industry-scale secure systems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2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Contribute to practical, deployable, and resilient IoT infrastructures</a:t>
            </a:r>
          </a:p>
        </p:txBody>
      </p:sp>
      <p:sp>
        <p:nvSpPr>
          <p:cNvPr id="314" name="スライド番号プレースホルダー 3"/>
          <p:cNvSpPr txBox="1"/>
          <p:nvPr>
            <p:ph type="sldNum" sz="quarter" idx="4294967295"/>
          </p:nvPr>
        </p:nvSpPr>
        <p:spPr>
          <a:xfrm>
            <a:off x="11698708" y="184466"/>
            <a:ext cx="273653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テーマ">
      <a:majorFont>
        <a:latin typeface="Helvetica"/>
        <a:ea typeface="Helvetica"/>
        <a:cs typeface="Helvetica"/>
      </a:majorFont>
      <a:minorFont>
        <a:latin typeface="游ゴシック"/>
        <a:ea typeface="游ゴシック"/>
        <a:cs typeface="游ゴシック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 テーマ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テーマ">
      <a:majorFont>
        <a:latin typeface="Helvetica"/>
        <a:ea typeface="Helvetica"/>
        <a:cs typeface="Helvetica"/>
      </a:majorFont>
      <a:minorFont>
        <a:latin typeface="游ゴシック"/>
        <a:ea typeface="游ゴシック"/>
        <a:cs typeface="游ゴシック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