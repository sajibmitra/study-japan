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2" r:id="rId10"/>
    <p:sldId id="267" r:id="rId11"/>
    <p:sldId id="269" r:id="rId12"/>
    <p:sldId id="278" r:id="rId13"/>
    <p:sldId id="270" r:id="rId14"/>
    <p:sldId id="280" r:id="rId15"/>
    <p:sldId id="281" r:id="rId16"/>
    <p:sldId id="288" r:id="rId17"/>
    <p:sldId id="272" r:id="rId18"/>
    <p:sldId id="277" r:id="rId19"/>
    <p:sldId id="283" r:id="rId20"/>
    <p:sldId id="274" r:id="rId21"/>
    <p:sldId id="292" r:id="rId22"/>
    <p:sldId id="286" r:id="rId23"/>
    <p:sldId id="290" r:id="rId24"/>
    <p:sldId id="285" r:id="rId25"/>
    <p:sldId id="287" r:id="rId26"/>
    <p:sldId id="291" r:id="rId27"/>
    <p:sldId id="293" r:id="rId28"/>
    <p:sldId id="294" r:id="rId29"/>
    <p:sldId id="295" r:id="rId30"/>
  </p:sldIdLst>
  <p:sldSz cx="12192000" cy="6858000"/>
  <p:notesSz cx="6858000" cy="9144000"/>
  <p:defaultTextStyle>
    <a:defPPr>
      <a:defRPr lang="en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22" autoAdjust="0"/>
    <p:restoredTop sz="76101" autoAdjust="0"/>
  </p:normalViewPr>
  <p:slideViewPr>
    <p:cSldViewPr snapToGrid="0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4D981-F347-4BEB-A8C4-866A92671A8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25FC6-D392-4E3D-BDE4-78C6A298A6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95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25FC6-D392-4E3D-BDE4-78C6A298A639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884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25FC6-D392-4E3D-BDE4-78C6A298A639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461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16378-D1C6-D719-9BFE-204D8A62F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7A9A23-5FE1-8C9A-3F55-1099201CD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E0E96C-3FB5-3D18-BC82-31971461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36ED7-4BBB-4148-A2AB-C1DED1EA77BD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AFF5B6-5E41-C163-8D53-59E709D8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98C759-7B44-C5E1-2246-3C72ED77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4682" y="125879"/>
            <a:ext cx="2743200" cy="365125"/>
          </a:xfrm>
        </p:spPr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66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289E4-E221-D968-D446-139E3286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FAE251-4418-A671-950F-BC074956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672B9-7DFC-CD47-3E28-350F8FBB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38E4F-D5E1-4353-99CC-F2A2893CF2E2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4ED57A-118E-835A-EC5F-01F1E12F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DBF92-FD98-9470-F437-252843D8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165" y="136525"/>
            <a:ext cx="2743200" cy="365125"/>
          </a:xfrm>
        </p:spPr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66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3E055-0A94-7A85-8556-2751E44C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FE3973-568A-FE5B-3AC4-E6AF4A29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371079-103D-DB49-FDC9-FE03740C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8EF6-6DCD-4FD5-8CD2-D2FFA5B4ABE7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83C61-9BBB-46E1-5E98-41E6A74F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758C55-E3B5-1815-00EE-E31B4A86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00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17C6E-DA21-9EF5-2FA0-B741323B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54F354-BE97-727E-EFD4-E835B7E09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24100D-AD12-CF9F-6FCC-91DBD69D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0D96F2-76F8-7F4C-B7F0-62DD2B3C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CED8-3BF1-4D1D-A8D5-9B2D51290168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E18062-49FE-D9CC-37C9-FD915D23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9EADEF-283A-91C1-788E-BF8AE574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62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F301E-C4CD-FCE2-3CEB-E94336B6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BF249A-14C1-4EF6-D2CA-89BE35505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BC9111-FF02-0347-3718-73FA3CE22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BB3C75-B7C8-A069-4022-EE99D6627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8A2AE4-D939-C872-FFC9-212941C4B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98D2A2-3868-C02C-8FB9-AE708CA7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C2A7-4D24-493B-B3B3-073E1D6670F8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8807D3-13E9-9ACB-DF87-FF548C3D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77F0A1-24F5-9051-3FAE-5E247797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0917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E0A2F-049F-482E-D774-F5E1D614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9F1B61-C60A-192C-B348-67B635C2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71A7-D4BD-497C-988B-261B95E3318B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B3C2B7-9715-CA87-73AA-5622602D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0664B4-0B42-04B8-6ECD-D790B45D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28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7F4E61-9DD8-ADEC-123A-91D7FB23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087A-0971-4E2B-90E2-72B11E1D49BA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76888F-A9B8-874A-74FD-AC5D3DA6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842ED4-0E38-BE80-47AC-204BB704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12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0B05B-5433-20D6-588C-ADD8CF67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3CA15-0693-B363-DF45-36A3EB93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A189A-56A8-6AAD-AD40-D0C96AAED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28BEE7-C1EC-25D9-E46D-61090EF8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0539-9CBB-4B2C-A3AF-84234D7B68D5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A6F3BE-4D0D-54E2-580B-31680BA4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F53361-25CD-4C98-0358-90913F1B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72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FBB485-E055-29FB-5FBD-84C8C006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794A00-0CC1-4389-A993-4DA159ECD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A9F319-CA91-4F20-DF14-1C20F854C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D8B342-32BA-145E-15F2-F62FCAD5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B379-A3DC-41E6-89E9-66EA95B5916E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341430-781E-82F6-6E31-06EE2DD4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33249E-C295-4A04-0C34-8E033103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15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EB4B3-3675-9DAF-D2C8-B8D98510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798BF-781D-9105-DE07-2999DCE0B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01F636-54B4-D59D-1F85-70FCF42E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2B0F-440D-4772-AEF7-BA5E34CEBA4D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20E21C-C38B-DF92-F982-C5BF408A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517AC-40E0-FDFC-793B-B7F6683B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84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34A09F-8443-3267-0983-4FA4DA4B8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ED6AAD-6F0E-D390-6C78-E8CD021C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10A0E-904F-312B-5039-8B5A3C58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DC5C-49B9-4D39-BCCB-BCB365FCD08C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C6A220-CCB5-191A-E7E8-57E6A3C5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D7EDCD-1588-FB34-2C34-8BD23E2F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80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20E81F-5001-D40A-B003-D7B5A83D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EDAE8C-B6B1-1BB1-9FB8-529E56CE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21FD07-AFAF-4CC1-2513-E51C026F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83E02-9684-4373-8421-E214BC6942B4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386537-F16D-23C1-DA0C-8670CFA65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527115-4950-23D0-FE94-B0694DE57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6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d.com/content/dam/amd/en/documents/developer/lss-snp-attestation.pdf" TargetMode="Externa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d.com/content/dam/amd/en/documents/developer/lss-snp-attestation.pdf" TargetMode="External"/><Relationship Id="rId2" Type="http://schemas.openxmlformats.org/officeDocument/2006/relationships/hyperlink" Target="https://www.amd.com/content/dam/amd/en/documents/epyc-technical-docs/specifications/57230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wnload.01.org/intel-sgx/sgx-dcap/1.14/linux/docs/SGX_DCAP_Caching_Service_Design_Guide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01.org/intel-sgx/sgx-dcap/1.14/linux/docs/SGX_DCAP_Caching_Service_Design_Guide.pdf" TargetMode="External"/><Relationship Id="rId2" Type="http://schemas.openxmlformats.org/officeDocument/2006/relationships/hyperlink" Target="https://api.trustedservices.intel.com/documents/Intel_SGX_PCK_Certificate_CRL_Spec-1.5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01.org/intel-sgx/latest/dcap-latest/linux/docs/Intel_TDX_DCAP_Quoting_Library_API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wnload.01.org/intel-sgx/latest/dcap-latest/linux/docs/Intel_TDX_DCAP_Quoting_Library_API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01.org/intel-sgx/latest/dcap-latest/linux/docs/Intel_TDX_DCAP_Quoting_Library_API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C1714-1283-6C49-EF60-87823BF0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68637"/>
          </a:xfrm>
        </p:spPr>
        <p:txBody>
          <a:bodyPr>
            <a:normAutofit/>
          </a:bodyPr>
          <a:lstStyle/>
          <a:p>
            <a:r xmlns:a="http://schemas.openxmlformats.org/drawingml/2006/main">
              <a:rPr kumimoji="1" lang="en" altLang="en-US" sz="5400" dirty="0"/>
              <a:t>Doctoral Program Oral Examination </a:t>
            </a:r>
            <a:br xmlns:a="http://schemas.openxmlformats.org/drawingml/2006/main">
              <a:rPr kumimoji="1" lang="en-US" altLang="ja-JP" sz="5400" dirty="0"/>
            </a:br>
            <a:br xmlns:a="http://schemas.openxmlformats.org/drawingml/2006/main">
              <a:rPr kumimoji="1" lang="en-US" altLang="ja-JP" sz="5400" dirty="0"/>
            </a:br>
            <a:r xmlns:a="http://schemas.openxmlformats.org/drawingml/2006/main">
              <a:rPr kumimoji="1" lang="en" altLang="en-US" sz="2800" dirty="0"/>
              <a:t>– Towards Establishing Expertise as a Security Researcher –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84FA36-437A-A7E2-3757-65D6B000C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0999"/>
            <a:ext cx="9144000" cy="1655762"/>
          </a:xfrm>
        </p:spPr>
        <p:txBody>
          <a:bodyPr>
            <a:normAutofit fontScale="92500" lnSpcReduction="10000"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 xmlns:a="http://schemas.openxmlformats.org/drawingml/2006/main">
              <a:rPr kumimoji="1" lang="en" altLang="en-US" sz="3000" dirty="0"/>
              <a:t>Last name First name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2D6E75-2ED1-1CEE-A16E-2F9547C8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70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54FEAA-463E-F96F-3123-DF813B01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Announcement content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7AF943-C7D7-38B0-E228-4EFB186A7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xmlns:a="http://schemas.openxmlformats.org/drawingml/2006/main" marL="514350" indent="-514350">
              <a:buFont typeface="+mj-lt"/>
              <a:buAutoNum type="arabicPeriod"/>
            </a:pPr>
            <a:r xmlns:a="http://schemas.openxmlformats.org/drawingml/2006/main">
              <a:rPr kumimoji="1" lang="en" altLang="en-US" dirty="0"/>
              <a:t>Previous work experience and job responsibilities</a:t>
            </a:r>
            <a:endParaRPr xmlns:a="http://schemas.openxmlformats.org/drawingml/2006/main" kumimoji="1" lang="en-US" altLang="ja-JP" dirty="0"/>
          </a:p>
          <a:p>
            <a:pPr xmlns:a="http://schemas.openxmlformats.org/drawingml/2006/main" marL="514350" indent="-514350">
              <a:buFont typeface="+mj-lt"/>
              <a:buAutoNum type="arabicPeriod"/>
            </a:pPr>
            <a:r xmlns:a="http://schemas.openxmlformats.org/drawingml/2006/main">
              <a:rPr lang="en" altLang="en-US" dirty="0"/>
              <a:t>Research achievements (master's thesis, other published papers)</a:t>
            </a:r>
            <a:endParaRPr xmlns:a="http://schemas.openxmlformats.org/drawingml/2006/main" lang="en-US" altLang="ja-JP" dirty="0"/>
          </a:p>
          <a:p>
            <a:pPr xmlns:a="http://schemas.openxmlformats.org/drawingml/2006/main" marL="514350" indent="-514350">
              <a:buFont typeface="+mj-lt"/>
              <a:buAutoNum type="arabicPeriod"/>
            </a:pPr>
            <a:r xmlns:a="http://schemas.openxmlformats.org/drawingml/2006/main">
              <a:rPr kumimoji="1" lang="en" altLang="en-US" dirty="0"/>
              <a:t>Motivation for pursuing higher education, research plan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B871CD-C4D6-FC9B-4E16-7C3E523C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46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D9FA2-6D5B-94A7-5987-627A3524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en" altLang="en-US" dirty="0"/>
              <a:t>Work experience</a:t>
            </a:r>
            <a:endParaRPr xmlns:a="http://schemas.openxmlformats.org/drawingml/2006/main"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4D416B-C7ED-7D0A-93A2-B70795C9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5457" cy="4351338"/>
          </a:xfrm>
        </p:spPr>
        <p:txBody>
          <a:bodyPr>
            <a:normAutofit/>
          </a:bodyPr>
          <a:lstStyle/>
          <a:p>
            <a:r xmlns:a="http://schemas.openxmlformats.org/drawingml/2006/main">
              <a:rPr kumimoji="1" lang="en" altLang="en-US" sz="2400" u="sng" dirty="0"/>
              <a:t>Graduated from university graduate school 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kumimoji="1" lang="en" altLang="en-US" sz="2400" dirty="0"/>
              <a:t>in </a:t>
            </a:r>
            <a:r xmlns:a="http://schemas.openxmlformats.org/drawingml/2006/main">
              <a:rPr kumimoji="1" lang="en" altLang="ja-JP" sz="2400" dirty="0"/>
              <a:t>2009</a:t>
            </a:r>
            <a:r xmlns:a="http://schemas.openxmlformats.org/drawingml/2006/main">
              <a:rPr kumimoji="1" lang="en" altLang="en-US" sz="2000" dirty="0"/>
              <a:t>　　　　　</a:t>
            </a:r>
            <a:r xmlns:a="http://schemas.openxmlformats.org/drawingml/2006/main">
              <a:rPr kumimoji="1" lang="en" altLang="en-US" sz="1600" dirty="0"/>
              <a:t>(Research on the security evaluation of symmetric-key cryptography)</a:t>
            </a:r>
          </a:p>
          <a:p>
            <a:r xmlns:a="http://schemas.openxmlformats.org/drawingml/2006/main">
              <a:rPr kumimoji="1" lang="en" altLang="en-US" sz="2400" u="sng" dirty="0"/>
              <a:t>Joined 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kumimoji="1" lang="en" altLang="en-US" sz="2400" dirty="0"/>
              <a:t>*** Research Institute </a:t>
            </a:r>
            <a:r xmlns:a="http://schemas.openxmlformats.org/drawingml/2006/main">
              <a:rPr kumimoji="1" lang="en" altLang="ja-JP" sz="2400" dirty="0"/>
              <a:t>in 2009</a:t>
            </a:r>
            <a:r xmlns:a="http://schemas.openxmlformats.org/drawingml/2006/main">
              <a:rPr kumimoji="1" lang="en" altLang="en-US" sz="2000" dirty="0"/>
              <a:t>　　　　　</a:t>
            </a:r>
            <a:r xmlns:a="http://schemas.openxmlformats.org/drawingml/2006/main">
              <a:rPr kumimoji="1" lang="en" altLang="en-US" sz="1800" dirty="0"/>
              <a:t>( Key management for </a:t>
            </a:r>
            <a:r xmlns:a="http://schemas.openxmlformats.org/drawingml/2006/main">
              <a:rPr kumimoji="1" lang="en" altLang="ja-JP" sz="1800" dirty="0"/>
              <a:t>ID- </a:t>
            </a:r>
            <a:r xmlns:a="http://schemas.openxmlformats.org/drawingml/2006/main">
              <a:rPr kumimoji="1" lang="en" altLang="en-US" sz="1800" dirty="0"/>
              <a:t>based encryption, applications to smartphones, and countermeasures against cryptographic breaches)</a:t>
            </a:r>
          </a:p>
          <a:p>
            <a:r xmlns:a="http://schemas.openxmlformats.org/drawingml/2006/main">
              <a:rPr kumimoji="1" lang="en" altLang="ja-JP" sz="2400" dirty="0"/>
              <a:t>2015 </a:t>
            </a:r>
            <a:r xmlns:a="http://schemas.openxmlformats.org/drawingml/2006/main">
              <a:rPr kumimoji="1" lang="en" altLang="en-US" sz="2400" dirty="0"/>
              <a:t>### </a:t>
            </a:r>
            <a:r xmlns:a="http://schemas.openxmlformats.org/drawingml/2006/main">
              <a:rPr kumimoji="1" lang="en" altLang="en-US" sz="2400" u="sng" dirty="0"/>
              <a:t>Institute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kumimoji="1" lang="en" altLang="en-US" sz="2000" dirty="0"/>
              <a:t>　　　　　</a:t>
            </a:r>
            <a:r xmlns:a="http://schemas.openxmlformats.org/drawingml/2006/main">
              <a:rPr kumimoji="1" lang="en" altLang="en-US" sz="1800" dirty="0"/>
              <a:t>(Behavioral-based authentication, </a:t>
            </a:r>
            <a:r xmlns:a="http://schemas.openxmlformats.org/drawingml/2006/main">
              <a:rPr kumimoji="1" lang="en" altLang="en-US" sz="1800" dirty="0"/>
              <a:t>integrity verification technology utilizing </a:t>
            </a:r>
            <a:r xmlns:a="http://schemas.openxmlformats.org/drawingml/2006/main">
              <a:rPr kumimoji="1" lang="en" altLang="ja-JP" sz="1800" dirty="0"/>
              <a:t>Root of Trust </a:t>
            </a:r>
            <a:r xmlns:a="http://schemas.openxmlformats.org/drawingml/2006/main">
              <a:rPr kumimoji="1" lang="en" altLang="en-US" sz="1800" dirty="0"/>
              <a:t>and </a:t>
            </a:r>
            <a:r xmlns:a="http://schemas.openxmlformats.org/drawingml/2006/main">
              <a:rPr kumimoji="1" lang="en" altLang="ja-JP" sz="1800" dirty="0"/>
              <a:t>Chain of Trust )</a:t>
            </a:r>
          </a:p>
          <a:p>
            <a:r xmlns:a="http://schemas.openxmlformats.org/drawingml/2006/main">
              <a:rPr kumimoji="1" lang="en" altLang="ja-JP" sz="2400" dirty="0"/>
              <a:t>2019 </a:t>
            </a:r>
            <a:r xmlns:a="http://schemas.openxmlformats.org/drawingml/2006/main">
              <a:rPr kumimoji="1" lang="en" altLang="en-US" sz="2400" dirty="0"/>
              <a:t>Cybersecurity Center</a:t>
            </a:r>
            <a:br xmlns:a="http://schemas.openxmlformats.org/drawingml/2006/main">
              <a:rPr kumimoji="1" lang="en-US" altLang="ja-JP" sz="2400" dirty="0"/>
            </a:br>
            <a:r xmlns:a="http://schemas.openxmlformats.org/drawingml/2006/main">
              <a:rPr kumimoji="1" lang="en" altLang="en-US" sz="2000" dirty="0"/>
              <a:t>　　　　　</a:t>
            </a:r>
            <a:r xmlns:a="http://schemas.openxmlformats.org/drawingml/2006/main">
              <a:rPr kumimoji="1" lang="en" altLang="en-US" sz="1800" dirty="0"/>
              <a:t>(Planning and promoting security measures)</a:t>
            </a:r>
          </a:p>
          <a:p>
            <a:r xmlns:a="http://schemas.openxmlformats.org/drawingml/2006/main">
              <a:rPr kumimoji="1" lang="en" altLang="ja-JP" sz="2400" dirty="0"/>
              <a:t>2023 </a:t>
            </a:r>
            <a:r xmlns:a="http://schemas.openxmlformats.org/drawingml/2006/main">
              <a:rPr lang="en" altLang="en-US" sz="2400" u="sng" dirty="0"/>
              <a:t>+++ </a:t>
            </a:r>
            <a:r xmlns:a="http://schemas.openxmlformats.org/drawingml/2006/main">
              <a:rPr kumimoji="1" lang="en" altLang="en-US" sz="2400" u="sng" dirty="0"/>
              <a:t>Institute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kumimoji="1" lang="en" altLang="en-US" sz="2400" dirty="0"/>
              <a:t>​</a:t>
            </a:r>
            <a:r xmlns:a="http://schemas.openxmlformats.org/drawingml/2006/main">
              <a:rPr kumimoji="1" lang="en" altLang="en-US" sz="2000" dirty="0"/>
              <a:t>　　　　　</a:t>
            </a:r>
            <a:r xmlns:a="http://schemas.openxmlformats.org/drawingml/2006/main">
              <a:rPr kumimoji="1" lang="en" altLang="en-US" sz="1800" dirty="0"/>
              <a:t>( </a:t>
            </a:r>
            <a:r xmlns:a="http://schemas.openxmlformats.org/drawingml/2006/main">
              <a:rPr kumimoji="1" lang="en" altLang="en-US" sz="1800" dirty="0"/>
              <a:t>Data sandbox technology utilizing </a:t>
            </a:r>
            <a:endParaRPr xmlns:a="http://schemas.openxmlformats.org/drawingml/2006/main" kumimoji="1" lang="ja-JP" altLang="en-US" sz="2000" dirty="0"/>
            <a:r xmlns:a="http://schemas.openxmlformats.org/drawingml/2006/main">
              <a:rPr kumimoji="1" lang="en" altLang="ja-JP" sz="1800" dirty="0"/>
              <a:t>TEE 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8B822F-E370-4B82-C599-A096D48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8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37B26-4C4E-D690-8E9D-E2D739AA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en-US" dirty="0"/>
              <a:t>Business content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9074D70-ADF1-D757-0928-09A31D0BB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77" y="1322522"/>
            <a:ext cx="11414431" cy="358436"/>
          </a:xfrm>
        </p:spPr>
        <p:txBody>
          <a:bodyPr>
            <a:normAutofit fontScale="92500" lnSpcReduction="20000"/>
          </a:bodyPr>
          <a:lstStyle/>
          <a:p>
            <a:r xmlns:a="http://schemas.openxmlformats.org/drawingml/2006/main">
              <a:rPr kumimoji="1" lang="en" altLang="en-US" sz="2400" dirty="0"/>
              <a:t>Research and development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2FF257F-5CA5-3F77-A08F-5D291FB914BC}"/>
              </a:ext>
            </a:extLst>
          </p:cNvPr>
          <p:cNvCxnSpPr>
            <a:cxnSpLocks/>
          </p:cNvCxnSpPr>
          <p:nvPr/>
        </p:nvCxnSpPr>
        <p:spPr>
          <a:xfrm>
            <a:off x="3338918" y="2222373"/>
            <a:ext cx="309186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5FCDCE-5CEA-5D1A-C090-C1186928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55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26274-CB5F-3F9A-FA48-ED027456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Responsibilities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1419C22-F3F0-41CC-D04B-7294E5613388}"/>
              </a:ext>
            </a:extLst>
          </p:cNvPr>
          <p:cNvCxnSpPr>
            <a:cxnSpLocks/>
          </p:cNvCxnSpPr>
          <p:nvPr/>
        </p:nvCxnSpPr>
        <p:spPr>
          <a:xfrm>
            <a:off x="2439509" y="6127310"/>
            <a:ext cx="2574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6CA8753-1A8B-FF6E-3D9E-954D9BF30069}"/>
              </a:ext>
            </a:extLst>
          </p:cNvPr>
          <p:cNvCxnSpPr>
            <a:cxnSpLocks/>
          </p:cNvCxnSpPr>
          <p:nvPr/>
        </p:nvCxnSpPr>
        <p:spPr>
          <a:xfrm>
            <a:off x="2439509" y="6282389"/>
            <a:ext cx="20308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4D1047D-18E6-150F-9B85-CFACC77D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954" y="1282256"/>
            <a:ext cx="6501937" cy="359664"/>
          </a:xfrm>
        </p:spPr>
        <p:txBody>
          <a:bodyPr>
            <a:normAutofit lnSpcReduction="10000"/>
          </a:bodyPr>
          <a:lstStyle/>
          <a:p>
            <a:r xmlns:a="http://schemas.openxmlformats.org/drawingml/2006/main">
              <a:rPr kumimoji="1" lang="en" altLang="en-US" sz="2000" dirty="0"/>
              <a:t>Research and development related to technology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5202DB-E58B-C501-7314-EA773907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52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F17F1-1F19-3374-644C-CA1F66F1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achievements</a:t>
            </a:r>
          </a:p>
        </p:txBody>
      </p:sp>
      <p:graphicFrame>
        <p:nvGraphicFramePr>
          <p:cNvPr id="8" name="表 8">
            <a:extLst>
              <a:ext uri="{FF2B5EF4-FFF2-40B4-BE49-F238E27FC236}">
                <a16:creationId xmlns:a16="http://schemas.microsoft.com/office/drawing/2014/main" id="{50F80069-E0CD-28F1-0622-820C1B8FE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65889"/>
              </p:ext>
            </p:extLst>
          </p:nvPr>
        </p:nvGraphicFramePr>
        <p:xfrm>
          <a:off x="619299" y="2401634"/>
          <a:ext cx="9238487" cy="33797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5255">
                  <a:extLst>
                    <a:ext uri="{9D8B030D-6E8A-4147-A177-3AD203B41FA5}">
                      <a16:colId xmlns:a16="http://schemas.microsoft.com/office/drawing/2014/main" val="3049446775"/>
                    </a:ext>
                  </a:extLst>
                </a:gridCol>
                <a:gridCol w="1251584">
                  <a:extLst>
                    <a:ext uri="{9D8B030D-6E8A-4147-A177-3AD203B41FA5}">
                      <a16:colId xmlns:a16="http://schemas.microsoft.com/office/drawing/2014/main" val="365284777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31419342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8464617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3412595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academic journal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Study group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en-US" sz="1600" dirty="0"/>
                        <a:t>Symposium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tournament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Registered Patent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7775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Security evaluation of symmetric-key cryptography </a:t>
                      </a:r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*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Master's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4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3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20108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Secure use/application of cryptographic algorithms</a:t>
                      </a:r>
                      <a:endParaRPr xmlns:a="http://schemas.openxmlformats.org/drawingml/2006/main" kumimoji="1" lang="en-US" altLang="ja-JP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xmlns:a="http://schemas.openxmlformats.org/drawingml/2006/main"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( Application of </a:t>
                      </a:r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ID-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based cryptography, leading to cryptographic compromise)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1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3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6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69637"/>
                  </a:ext>
                </a:extLst>
              </a:tr>
              <a:tr h="141918"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Applications of </a:t>
                      </a:r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Root of Trust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and </a:t>
                      </a:r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Chain of Trust</a:t>
                      </a:r>
                    </a:p>
                    <a:p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(Integrity confirmation technology)</a:t>
                      </a:r>
                      <a:endParaRPr xmlns:a="http://schemas.openxmlformats.org/drawingml/2006/main" kumimoji="1" lang="en-US" altLang="ja-JP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1" u="sng" dirty="0">
                          <a:solidFill>
                            <a:srgbClr val="0070C0"/>
                          </a:solidFill>
                        </a:rPr>
                        <a:t>2 </a:t>
                      </a:r>
                      <a:r xmlns:a="http://schemas.openxmlformats.org/drawingml/2006/main">
                        <a:rPr kumimoji="1" lang="en" altLang="en-US" sz="1600" b="1" u="sng" dirty="0">
                          <a:solidFill>
                            <a:srgbClr val="0070C0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1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4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853041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others</a:t>
                      </a:r>
                      <a:endParaRPr xmlns:a="http://schemas.openxmlformats.org/drawingml/2006/main" kumimoji="1" lang="en-US" altLang="ja-JP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(Behavioral-based authentication, targeted attack countermeasures)</a:t>
                      </a:r>
                      <a:endParaRPr xmlns:a="http://schemas.openxmlformats.org/drawingml/2006/main" kumimoji="1" lang="en-US" altLang="ja-JP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2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2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85482"/>
                  </a:ext>
                </a:extLst>
              </a:tr>
              <a:tr h="220741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xmlns:a="http://schemas.openxmlformats.org/drawingml/2006/main" kumimoji="1" lang="en-US" altLang="ja-JP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1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11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4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b="0" u="none" dirty="0">
                          <a:solidFill>
                            <a:schemeClr val="tx1"/>
                          </a:solidFill>
                        </a:rPr>
                        <a:t>12 </a:t>
                      </a:r>
                      <a:r xmlns:a="http://schemas.openxmlformats.org/drawingml/2006/main">
                        <a:rPr kumimoji="1" lang="en" altLang="en-US" sz="1600" b="0" u="none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79341"/>
                  </a:ext>
                </a:extLst>
              </a:tr>
            </a:tbl>
          </a:graphicData>
        </a:graphic>
      </p:graphicFrame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E157D96C-8181-04D6-4ECD-62B371F704A2}"/>
              </a:ext>
            </a:extLst>
          </p:cNvPr>
          <p:cNvSpPr/>
          <p:nvPr/>
        </p:nvSpPr>
        <p:spPr>
          <a:xfrm>
            <a:off x="10058953" y="4270173"/>
            <a:ext cx="1782065" cy="526490"/>
          </a:xfrm>
          <a:prstGeom prst="wedgeRectCallout">
            <a:avLst>
              <a:gd name="adj1" fmla="val -59919"/>
              <a:gd name="adj2" fmla="val 23063"/>
            </a:avLst>
          </a:prstGeom>
          <a:solidFill>
            <a:srgbClr val="0070C0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xmlns:a="http://schemas.openxmlformats.org/drawingml/2006/main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 xmlns:a="http://schemas.openxmlformats.org/drawingml/2006/main">
              <a:rPr kumimoji="1" lang="en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Past initiatives that seem highly compatible with </a:t>
            </a:r>
            <a:r xmlns:a="http://schemas.openxmlformats.org/drawingml/2006/main">
              <a:rPr lang="en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current responsibilities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61ED2C7B-D10F-E97E-7F59-E83135BB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1" y="1679321"/>
            <a:ext cx="11277137" cy="449644"/>
          </a:xfrm>
        </p:spPr>
        <p:txBody>
          <a:bodyPr>
            <a:normAutofit/>
          </a:bodyPr>
          <a:lstStyle/>
          <a:p>
            <a:r xmlns:a="http://schemas.openxmlformats.org/drawingml/2006/main">
              <a:rPr kumimoji="1" lang="en" altLang="en-US" sz="2000" dirty="0"/>
              <a:t>At the research institute, I am mainly engaged in studying the configuration methods and systems of security systems that utilize cryptographic technology.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D6F8B9-8390-D677-E6B9-473B3F7AC2BD}"/>
              </a:ext>
            </a:extLst>
          </p:cNvPr>
          <p:cNvSpPr txBox="1"/>
          <p:nvPr/>
        </p:nvSpPr>
        <p:spPr>
          <a:xfrm>
            <a:off x="5238542" y="5884805"/>
            <a:ext cx="4872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600" dirty="0">
                <a:ea typeface="+mj-ea"/>
              </a:rPr>
              <a:t>* </a:t>
            </a:r>
            <a:r xmlns:a="http://schemas.openxmlformats.org/drawingml/2006/main">
              <a:rPr lang="en" altLang="en-US" sz="1600" dirty="0">
                <a:ea typeface="+mj-ea"/>
              </a:rPr>
              <a:t>All counts are for domestic publications and major works only (no overseas publications).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E16BBE-0E27-7521-2AA7-D80B5788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59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58C5F1-7DA4-CB3B-0FBF-BF16E80A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36525"/>
            <a:ext cx="10914888" cy="1325563"/>
          </a:xfrm>
        </p:spPr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600" dirty="0"/>
              <a:t>[ </a:t>
            </a:r>
            <a:r xmlns:a="http://schemas.openxmlformats.org/drawingml/2006/main">
              <a:rPr kumimoji="1" lang="en" altLang="en-US" sz="3600" dirty="0"/>
              <a:t>Reference </a:t>
            </a:r>
            <a:r xmlns:a="http://schemas.openxmlformats.org/drawingml/2006/main">
              <a:rPr kumimoji="1" lang="en" altLang="ja-JP" sz="3600" dirty="0"/>
              <a:t>] </a:t>
            </a:r>
            <a:r xmlns:a="http://schemas.openxmlformats.org/drawingml/2006/main">
              <a:rPr kumimoji="1" lang="en" altLang="en-US" sz="3600" dirty="0"/>
              <a:t>Past announcements </a:t>
            </a:r>
            <a:r xmlns:a="http://schemas.openxmlformats.org/drawingml/2006/main">
              <a:rPr kumimoji="1" lang="en" altLang="en-US" sz="2800" dirty="0"/>
              <a:t>(related to integrity verification technology)</a:t>
            </a:r>
            <a:endParaRPr xmlns:a="http://schemas.openxmlformats.org/drawingml/2006/main" kumimoji="1" lang="ja-JP" altLang="en-US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0D5FB8-4A6C-5CA0-650E-C8FBADE9D7E9}"/>
              </a:ext>
            </a:extLst>
          </p:cNvPr>
          <p:cNvSpPr txBox="1"/>
          <p:nvPr/>
        </p:nvSpPr>
        <p:spPr>
          <a:xfrm>
            <a:off x="438912" y="1613067"/>
            <a:ext cx="4462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dirty="0"/>
              <a:t>( </a:t>
            </a:r>
            <a:r xmlns:a="http://schemas.openxmlformats.org/drawingml/2006/main">
              <a:rPr lang="en" altLang="ja-JP" dirty="0"/>
              <a:t>SCIS2018 </a:t>
            </a:r>
            <a:r xmlns:a="http://schemas.openxmlformats.org/drawingml/2006/main">
              <a:rPr lang="en" altLang="en-US" dirty="0"/>
              <a:t>)</a:t>
            </a:r>
            <a:br xmlns:a="http://schemas.openxmlformats.org/drawingml/2006/main">
              <a:rPr lang="en-US" altLang="ja-JP" dirty="0"/>
            </a:br>
            <a:endParaRPr xmlns:a="http://schemas.openxmlformats.org/drawingml/2006/main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E738B44-FFF7-E5EE-FDCE-3DBD19D16427}"/>
              </a:ext>
            </a:extLst>
          </p:cNvPr>
          <p:cNvSpPr txBox="1"/>
          <p:nvPr/>
        </p:nvSpPr>
        <p:spPr>
          <a:xfrm>
            <a:off x="395039" y="4271173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dirty="0"/>
              <a:t>( </a:t>
            </a:r>
            <a:r xmlns:a="http://schemas.openxmlformats.org/drawingml/2006/main">
              <a:rPr lang="en" altLang="ja-JP" dirty="0"/>
              <a:t>CSS2018 </a:t>
            </a:r>
            <a:r xmlns:a="http://schemas.openxmlformats.org/drawingml/2006/main">
              <a:rPr lang="en" altLang="en-US" dirty="0"/>
              <a:t>)</a:t>
            </a:r>
            <a:br xmlns:a="http://schemas.openxmlformats.org/drawingml/2006/main">
              <a:rPr lang="en-US" altLang="ja-JP" dirty="0"/>
            </a:br>
            <a:endParaRPr xmlns:a="http://schemas.openxmlformats.org/drawingml/2006/main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E390741-C0FB-A3CE-48D9-FEFEA349C35C}"/>
              </a:ext>
            </a:extLst>
          </p:cNvPr>
          <p:cNvSpPr txBox="1"/>
          <p:nvPr/>
        </p:nvSpPr>
        <p:spPr>
          <a:xfrm>
            <a:off x="822599" y="5393038"/>
            <a:ext cx="682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>
                <a:latin typeface="+mj-ea"/>
                <a:ea typeface="+mj-ea"/>
              </a:rPr>
              <a:t>- </a:t>
            </a:r>
            <a:r xmlns:a="http://schemas.openxmlformats.org/drawingml/2006/main">
              <a:rPr lang="en" altLang="en-US" dirty="0">
                <a:latin typeface="+mj-ea"/>
                <a:ea typeface="+mj-ea"/>
              </a:rPr>
              <a:t>Users verify the code using 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a simple verification device.</a:t>
            </a:r>
          </a:p>
          <a:p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- </a:t>
            </a:r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Detects screen spoofing 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  <a:r xmlns:a="http://schemas.openxmlformats.org/drawingml/2006/main">
              <a:rPr lang="en" altLang="en-US" dirty="0">
                <a:latin typeface="+mj-ea"/>
                <a:ea typeface="+mj-ea"/>
              </a:rPr>
              <a:t>without relying on a </a:t>
            </a:r>
            <a:r xmlns:a="http://schemas.openxmlformats.org/drawingml/2006/main">
              <a:rPr lang="en" altLang="en-US" dirty="0">
                <a:latin typeface="+mj-ea"/>
                <a:ea typeface="+mj-ea"/>
              </a:rPr>
              <a:t>dedicated </a:t>
            </a:r>
            <a:r xmlns:a="http://schemas.openxmlformats.org/drawingml/2006/main">
              <a:rPr lang="en" altLang="ja-JP" dirty="0">
                <a:latin typeface="+mj-ea"/>
                <a:ea typeface="+mj-ea"/>
              </a:rPr>
              <a:t>UI or confidential information.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090BAF-9E61-2631-3A8F-12A67331CBE3}"/>
              </a:ext>
            </a:extLst>
          </p:cNvPr>
          <p:cNvSpPr txBox="1"/>
          <p:nvPr/>
        </p:nvSpPr>
        <p:spPr>
          <a:xfrm>
            <a:off x="756744" y="2796106"/>
            <a:ext cx="800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600" dirty="0">
                <a:ea typeface="+mj-ea"/>
              </a:rPr>
              <a:t>- Pre-calculate the file identifier and hash value and store them within the boot image.</a:t>
            </a:r>
          </a:p>
          <a:p>
            <a:r xmlns:a="http://schemas.openxmlformats.org/drawingml/2006/main">
              <a:rPr lang="en" altLang="en-US" sz="1600" dirty="0">
                <a:ea typeface="+mj-ea"/>
              </a:rPr>
              <a:t>- After image deployment, the files are verified using hash values to prevent tampered bootables.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3E070-281C-A5F2-6BD1-879382B5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0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58C5F1-7DA4-CB3B-0FBF-BF16E80A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36525"/>
            <a:ext cx="10914888" cy="1325563"/>
          </a:xfrm>
        </p:spPr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600" dirty="0"/>
              <a:t>[ </a:t>
            </a:r>
            <a:r xmlns:a="http://schemas.openxmlformats.org/drawingml/2006/main">
              <a:rPr kumimoji="1" lang="en" altLang="en-US" sz="3600" dirty="0"/>
              <a:t>Reference </a:t>
            </a:r>
            <a:r xmlns:a="http://schemas.openxmlformats.org/drawingml/2006/main">
              <a:rPr kumimoji="1" lang="en" altLang="ja-JP" sz="3600" dirty="0"/>
              <a:t>] </a:t>
            </a:r>
            <a:r xmlns:a="http://schemas.openxmlformats.org/drawingml/2006/main">
              <a:rPr kumimoji="1" lang="en" altLang="en-US" sz="3600" dirty="0"/>
              <a:t>Past presentations (master's theses, published papers)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CEE6C6-CAE4-21B1-3084-A273A26EDACC}"/>
              </a:ext>
            </a:extLst>
          </p:cNvPr>
          <p:cNvSpPr txBox="1"/>
          <p:nvPr/>
        </p:nvSpPr>
        <p:spPr>
          <a:xfrm>
            <a:off x="646729" y="4239817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dirty="0"/>
              <a:t>( </a:t>
            </a:r>
            <a:r xmlns:a="http://schemas.openxmlformats.org/drawingml/2006/main">
              <a:rPr lang="en" altLang="ja-JP" dirty="0"/>
              <a:t>IEICE </a:t>
            </a:r>
            <a:r xmlns:a="http://schemas.openxmlformats.org/drawingml/2006/main">
              <a:rPr lang="en" altLang="en-US" dirty="0"/>
              <a:t>Japanese journal)</a:t>
            </a:r>
            <a:br xmlns:a="http://schemas.openxmlformats.org/drawingml/2006/main">
              <a:rPr lang="en-US" altLang="ja-JP" dirty="0"/>
            </a:br>
            <a:endParaRPr xmlns:a="http://schemas.openxmlformats.org/drawingml/2006/main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1C2F74-C8DD-7086-C0E7-67A54815A6ED}"/>
              </a:ext>
            </a:extLst>
          </p:cNvPr>
          <p:cNvSpPr txBox="1"/>
          <p:nvPr/>
        </p:nvSpPr>
        <p:spPr>
          <a:xfrm>
            <a:off x="775213" y="5064561"/>
            <a:ext cx="682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>
                <a:latin typeface="+mj-ea"/>
                <a:ea typeface="+mj-ea"/>
              </a:rPr>
              <a:t>- The decryption key is split using the recipient's confidential information and entrusted to an intermediary.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  <a:p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- The intermediary handles part of the decryption calculation, reducing the risk of the decryption key being leaked.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D6EEEE-1FE3-DDAC-9185-F10C4F06ED09}"/>
              </a:ext>
            </a:extLst>
          </p:cNvPr>
          <p:cNvSpPr txBox="1"/>
          <p:nvPr/>
        </p:nvSpPr>
        <p:spPr>
          <a:xfrm>
            <a:off x="662170" y="1612947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dirty="0"/>
              <a:t>(Master's thesis)</a:t>
            </a:r>
            <a:br xmlns:a="http://schemas.openxmlformats.org/drawingml/2006/main">
              <a:rPr lang="en-US" altLang="ja-JP" dirty="0"/>
            </a:br>
            <a:endParaRPr xmlns:a="http://schemas.openxmlformats.org/drawingml/2006/main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DD5FF5-1420-B44F-9FA4-A9FC698171E0}"/>
              </a:ext>
            </a:extLst>
          </p:cNvPr>
          <p:cNvSpPr txBox="1"/>
          <p:nvPr/>
        </p:nvSpPr>
        <p:spPr>
          <a:xfrm>
            <a:off x="915161" y="2334531"/>
            <a:ext cx="613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>
                <a:latin typeface="+mj-ea"/>
                <a:ea typeface="+mj-ea"/>
              </a:rPr>
              <a:t>・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7E8007-08EC-EDAC-E0D1-34E775346B72}"/>
              </a:ext>
            </a:extLst>
          </p:cNvPr>
          <p:cNvSpPr txBox="1"/>
          <p:nvPr/>
        </p:nvSpPr>
        <p:spPr>
          <a:xfrm>
            <a:off x="1156232" y="3086098"/>
            <a:ext cx="567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>
                <a:latin typeface="+mj-ea"/>
                <a:ea typeface="+mj-ea"/>
              </a:rPr>
              <a:t>( </a:t>
            </a:r>
            <a:r xmlns:a="http://schemas.openxmlformats.org/drawingml/2006/main">
              <a:rPr lang="en" altLang="en-US" dirty="0">
                <a:latin typeface="+mj-ea"/>
                <a:ea typeface="+mj-ea"/>
              </a:rPr>
              <a:t>Presented at domestic symposia such as 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  <a:r xmlns:a="http://schemas.openxmlformats.org/drawingml/2006/main">
              <a:rPr lang="en" altLang="ja-JP" dirty="0">
                <a:latin typeface="+mj-ea"/>
                <a:ea typeface="+mj-ea"/>
              </a:rPr>
              <a:t>SITA, SCIS, and ISEC )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44A0ED3-C1EE-AF13-82C7-652C823D8DC4}"/>
              </a:ext>
            </a:extLst>
          </p:cNvPr>
          <p:cNvCxnSpPr>
            <a:cxnSpLocks/>
          </p:cNvCxnSpPr>
          <p:nvPr/>
        </p:nvCxnSpPr>
        <p:spPr>
          <a:xfrm flipH="1">
            <a:off x="11172826" y="2090738"/>
            <a:ext cx="2143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CAF6658-14E6-C7D0-E18E-3AEDD061E88C}"/>
              </a:ext>
            </a:extLst>
          </p:cNvPr>
          <p:cNvCxnSpPr>
            <a:cxnSpLocks/>
          </p:cNvCxnSpPr>
          <p:nvPr/>
        </p:nvCxnSpPr>
        <p:spPr>
          <a:xfrm flipV="1">
            <a:off x="11187115" y="2081319"/>
            <a:ext cx="0" cy="3811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F0DAE6F-2522-E418-6F81-322F79D00819}"/>
              </a:ext>
            </a:extLst>
          </p:cNvPr>
          <p:cNvCxnSpPr>
            <a:cxnSpLocks/>
          </p:cNvCxnSpPr>
          <p:nvPr/>
        </p:nvCxnSpPr>
        <p:spPr>
          <a:xfrm flipV="1">
            <a:off x="11187115" y="2603721"/>
            <a:ext cx="0" cy="4823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7E849D4-EE28-3A7C-27FD-BC4CE71C6D48}"/>
              </a:ext>
            </a:extLst>
          </p:cNvPr>
          <p:cNvCxnSpPr>
            <a:cxnSpLocks/>
          </p:cNvCxnSpPr>
          <p:nvPr/>
        </p:nvCxnSpPr>
        <p:spPr>
          <a:xfrm flipV="1">
            <a:off x="10901364" y="2604508"/>
            <a:ext cx="0" cy="4823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0A77A61-32D5-3723-8435-22058D64EFEA}"/>
              </a:ext>
            </a:extLst>
          </p:cNvPr>
          <p:cNvCxnSpPr>
            <a:cxnSpLocks/>
          </p:cNvCxnSpPr>
          <p:nvPr/>
        </p:nvCxnSpPr>
        <p:spPr>
          <a:xfrm flipH="1">
            <a:off x="9915525" y="2848305"/>
            <a:ext cx="12573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5CFC393-E8E4-13FA-F078-3682E9BB9B25}"/>
              </a:ext>
            </a:extLst>
          </p:cNvPr>
          <p:cNvCxnSpPr>
            <a:cxnSpLocks/>
          </p:cNvCxnSpPr>
          <p:nvPr/>
        </p:nvCxnSpPr>
        <p:spPr>
          <a:xfrm flipH="1">
            <a:off x="8520113" y="2353005"/>
            <a:ext cx="26527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4A45C60-AE4D-DB55-F391-80EBD456E9AE}"/>
              </a:ext>
            </a:extLst>
          </p:cNvPr>
          <p:cNvCxnSpPr>
            <a:cxnSpLocks/>
          </p:cNvCxnSpPr>
          <p:nvPr/>
        </p:nvCxnSpPr>
        <p:spPr>
          <a:xfrm flipH="1">
            <a:off x="9077325" y="2714955"/>
            <a:ext cx="18240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A17AE293-602B-D7A3-2F26-296DA86E9B41}"/>
              </a:ext>
            </a:extLst>
          </p:cNvPr>
          <p:cNvSpPr/>
          <p:nvPr/>
        </p:nvSpPr>
        <p:spPr>
          <a:xfrm>
            <a:off x="8520112" y="2338493"/>
            <a:ext cx="152400" cy="752475"/>
          </a:xfrm>
          <a:custGeom>
            <a:avLst/>
            <a:gdLst>
              <a:gd name="connsiteX0" fmla="*/ 0 w 152400"/>
              <a:gd name="connsiteY0" fmla="*/ 0 h 742950"/>
              <a:gd name="connsiteX1" fmla="*/ 0 w 152400"/>
              <a:gd name="connsiteY1" fmla="*/ 609600 h 742950"/>
              <a:gd name="connsiteX2" fmla="*/ 147638 w 152400"/>
              <a:gd name="connsiteY2" fmla="*/ 647700 h 742950"/>
              <a:gd name="connsiteX3" fmla="*/ 152400 w 152400"/>
              <a:gd name="connsiteY3" fmla="*/ 74295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" h="742950">
                <a:moveTo>
                  <a:pt x="0" y="0"/>
                </a:moveTo>
                <a:lnTo>
                  <a:pt x="0" y="609600"/>
                </a:lnTo>
                <a:lnTo>
                  <a:pt x="147638" y="647700"/>
                </a:lnTo>
                <a:lnTo>
                  <a:pt x="152400" y="74295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24FF837A-53C6-E515-490A-161ED4E58F22}"/>
              </a:ext>
            </a:extLst>
          </p:cNvPr>
          <p:cNvSpPr/>
          <p:nvPr/>
        </p:nvSpPr>
        <p:spPr>
          <a:xfrm>
            <a:off x="8524875" y="2709863"/>
            <a:ext cx="561975" cy="376235"/>
          </a:xfrm>
          <a:custGeom>
            <a:avLst/>
            <a:gdLst>
              <a:gd name="connsiteX0" fmla="*/ 0 w 561975"/>
              <a:gd name="connsiteY0" fmla="*/ 0 h 371475"/>
              <a:gd name="connsiteX1" fmla="*/ 419100 w 561975"/>
              <a:gd name="connsiteY1" fmla="*/ 0 h 371475"/>
              <a:gd name="connsiteX2" fmla="*/ 419100 w 561975"/>
              <a:gd name="connsiteY2" fmla="*/ 242887 h 371475"/>
              <a:gd name="connsiteX3" fmla="*/ 561975 w 561975"/>
              <a:gd name="connsiteY3" fmla="*/ 290512 h 371475"/>
              <a:gd name="connsiteX4" fmla="*/ 561975 w 561975"/>
              <a:gd name="connsiteY4" fmla="*/ 371475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975" h="371475">
                <a:moveTo>
                  <a:pt x="0" y="0"/>
                </a:moveTo>
                <a:lnTo>
                  <a:pt x="419100" y="0"/>
                </a:lnTo>
                <a:lnTo>
                  <a:pt x="419100" y="242887"/>
                </a:lnTo>
                <a:lnTo>
                  <a:pt x="561975" y="290512"/>
                </a:lnTo>
                <a:lnTo>
                  <a:pt x="561975" y="37147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A8DF5954-8D4A-8DDA-59DC-C5B4B6B394E0}"/>
              </a:ext>
            </a:extLst>
          </p:cNvPr>
          <p:cNvSpPr/>
          <p:nvPr/>
        </p:nvSpPr>
        <p:spPr>
          <a:xfrm>
            <a:off x="9076530" y="2705098"/>
            <a:ext cx="142875" cy="381000"/>
          </a:xfrm>
          <a:custGeom>
            <a:avLst/>
            <a:gdLst>
              <a:gd name="connsiteX0" fmla="*/ 0 w 142875"/>
              <a:gd name="connsiteY0" fmla="*/ 0 h 381000"/>
              <a:gd name="connsiteX1" fmla="*/ 0 w 142875"/>
              <a:gd name="connsiteY1" fmla="*/ 234950 h 381000"/>
              <a:gd name="connsiteX2" fmla="*/ 142875 w 142875"/>
              <a:gd name="connsiteY2" fmla="*/ 282575 h 381000"/>
              <a:gd name="connsiteX3" fmla="*/ 142875 w 142875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381000">
                <a:moveTo>
                  <a:pt x="0" y="0"/>
                </a:moveTo>
                <a:lnTo>
                  <a:pt x="0" y="234950"/>
                </a:lnTo>
                <a:lnTo>
                  <a:pt x="142875" y="282575"/>
                </a:lnTo>
                <a:lnTo>
                  <a:pt x="142875" y="38100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B725681-A108-FC9A-6C73-FEC489360674}"/>
              </a:ext>
            </a:extLst>
          </p:cNvPr>
          <p:cNvCxnSpPr>
            <a:cxnSpLocks/>
          </p:cNvCxnSpPr>
          <p:nvPr/>
        </p:nvCxnSpPr>
        <p:spPr>
          <a:xfrm flipH="1">
            <a:off x="9076530" y="2844910"/>
            <a:ext cx="6992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82956B19-28BD-539E-0DB3-6AE65EEC2151}"/>
              </a:ext>
            </a:extLst>
          </p:cNvPr>
          <p:cNvSpPr/>
          <p:nvPr/>
        </p:nvSpPr>
        <p:spPr>
          <a:xfrm>
            <a:off x="9775825" y="2832727"/>
            <a:ext cx="142875" cy="259723"/>
          </a:xfrm>
          <a:custGeom>
            <a:avLst/>
            <a:gdLst>
              <a:gd name="connsiteX0" fmla="*/ 0 w 142875"/>
              <a:gd name="connsiteY0" fmla="*/ 0 h 250825"/>
              <a:gd name="connsiteX1" fmla="*/ 0 w 142875"/>
              <a:gd name="connsiteY1" fmla="*/ 104775 h 250825"/>
              <a:gd name="connsiteX2" fmla="*/ 142875 w 142875"/>
              <a:gd name="connsiteY2" fmla="*/ 155575 h 250825"/>
              <a:gd name="connsiteX3" fmla="*/ 142875 w 142875"/>
              <a:gd name="connsiteY3" fmla="*/ 250825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250825">
                <a:moveTo>
                  <a:pt x="0" y="0"/>
                </a:moveTo>
                <a:lnTo>
                  <a:pt x="0" y="104775"/>
                </a:lnTo>
                <a:lnTo>
                  <a:pt x="142875" y="155575"/>
                </a:lnTo>
                <a:lnTo>
                  <a:pt x="142875" y="25082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56DA9239-D0D7-3BFC-1EBD-7FB92DBF5F59}"/>
              </a:ext>
            </a:extLst>
          </p:cNvPr>
          <p:cNvSpPr/>
          <p:nvPr/>
        </p:nvSpPr>
        <p:spPr>
          <a:xfrm>
            <a:off x="9915525" y="2832727"/>
            <a:ext cx="142875" cy="259723"/>
          </a:xfrm>
          <a:custGeom>
            <a:avLst/>
            <a:gdLst>
              <a:gd name="connsiteX0" fmla="*/ 0 w 142875"/>
              <a:gd name="connsiteY0" fmla="*/ 0 h 250825"/>
              <a:gd name="connsiteX1" fmla="*/ 0 w 142875"/>
              <a:gd name="connsiteY1" fmla="*/ 104775 h 250825"/>
              <a:gd name="connsiteX2" fmla="*/ 142875 w 142875"/>
              <a:gd name="connsiteY2" fmla="*/ 155575 h 250825"/>
              <a:gd name="connsiteX3" fmla="*/ 142875 w 142875"/>
              <a:gd name="connsiteY3" fmla="*/ 250825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250825">
                <a:moveTo>
                  <a:pt x="0" y="0"/>
                </a:moveTo>
                <a:lnTo>
                  <a:pt x="0" y="104775"/>
                </a:lnTo>
                <a:lnTo>
                  <a:pt x="142875" y="155575"/>
                </a:lnTo>
                <a:lnTo>
                  <a:pt x="142875" y="25082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8B49B3F-A3E7-D0BE-1AE9-EEC74E8E36C5}"/>
              </a:ext>
            </a:extLst>
          </p:cNvPr>
          <p:cNvSpPr/>
          <p:nvPr/>
        </p:nvSpPr>
        <p:spPr>
          <a:xfrm>
            <a:off x="10544175" y="2289074"/>
            <a:ext cx="152395" cy="1266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74EC79D-24E1-4548-8F66-686B1BBE3BFE}"/>
              </a:ext>
            </a:extLst>
          </p:cNvPr>
          <p:cNvSpPr/>
          <p:nvPr/>
        </p:nvSpPr>
        <p:spPr>
          <a:xfrm>
            <a:off x="10544175" y="2631664"/>
            <a:ext cx="152395" cy="3102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9E7CB6A-1715-1A44-19A4-1795603AC6B1}"/>
              </a:ext>
            </a:extLst>
          </p:cNvPr>
          <p:cNvSpPr/>
          <p:nvPr/>
        </p:nvSpPr>
        <p:spPr>
          <a:xfrm>
            <a:off x="10825167" y="3092450"/>
            <a:ext cx="142876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BE789E7-66CA-36DE-C3F6-DA7F7904EAD6}"/>
              </a:ext>
            </a:extLst>
          </p:cNvPr>
          <p:cNvSpPr/>
          <p:nvPr/>
        </p:nvSpPr>
        <p:spPr>
          <a:xfrm>
            <a:off x="11115677" y="3086859"/>
            <a:ext cx="142876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3B6BB9E-A5F0-B187-67AD-FD89695964C5}"/>
              </a:ext>
            </a:extLst>
          </p:cNvPr>
          <p:cNvSpPr/>
          <p:nvPr/>
        </p:nvSpPr>
        <p:spPr>
          <a:xfrm>
            <a:off x="9858375" y="3092450"/>
            <a:ext cx="281630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4E92FEA-D3A1-B3CB-2CDF-18824151D439}"/>
              </a:ext>
            </a:extLst>
          </p:cNvPr>
          <p:cNvSpPr/>
          <p:nvPr/>
        </p:nvSpPr>
        <p:spPr>
          <a:xfrm>
            <a:off x="9015411" y="3093362"/>
            <a:ext cx="281630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52E3E2A-E7E0-2E79-B893-01BE2F7B5126}"/>
              </a:ext>
            </a:extLst>
          </p:cNvPr>
          <p:cNvSpPr/>
          <p:nvPr/>
        </p:nvSpPr>
        <p:spPr>
          <a:xfrm>
            <a:off x="8593929" y="3093362"/>
            <a:ext cx="121748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C5FA2B57-5F68-2602-8CB7-D3F948CE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43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C0CB4-B119-5A5D-7DBC-70D5E362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Motivation for pursuing higher education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BE3032-6971-0B08-F32C-153ED20B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1" y="1611085"/>
            <a:ext cx="11127377" cy="4685211"/>
          </a:xfrm>
        </p:spPr>
        <p:txBody>
          <a:bodyPr>
            <a:normAutofit fontScale="92500"/>
          </a:bodyPr>
          <a:lstStyle/>
          <a:p>
            <a:pPr xmlns:a="http://schemas.openxmlformats.org/drawingml/2006/main">
              <a:spcAft>
                <a:spcPts val="600"/>
              </a:spcAft>
            </a:pPr>
            <a:r xmlns:a="http://schemas.openxmlformats.org/drawingml/2006/main">
              <a:rPr kumimoji="1" lang="en" altLang="en-US" sz="2400" dirty="0"/>
              <a:t>To lead </a:t>
            </a:r>
            <a:endParaRPr xmlns:a="http://schemas.openxmlformats.org/drawingml/2006/main" kumimoji="1" lang="en-US" altLang="ja-JP" sz="2400" dirty="0"/>
            <a:r xmlns:a="http://schemas.openxmlformats.org/drawingml/2006/main">
              <a:rPr kumimoji="1" lang="en" altLang="en-US" sz="2400" dirty="0"/>
              <a:t>security </a:t>
            </a:r>
            <a:r xmlns:a="http://schemas.openxmlformats.org/drawingml/2006/main">
              <a:rPr kumimoji="1" lang="en" altLang="ja-JP" sz="2400" dirty="0"/>
              <a:t>R&amp;D ...</a:t>
            </a:r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kumimoji="1" lang="en" altLang="en-US" sz="2000" dirty="0"/>
              <a:t>It is necessary to solidify one's own area of expertise.</a:t>
            </a:r>
            <a:endParaRPr xmlns:a="http://schemas.openxmlformats.org/drawingml/2006/main" kumimoji="1" lang="en-US" altLang="ja-JP" sz="20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000" dirty="0"/>
              <a:t>Highly specialized research and development activities need to be managed effectively from a technical standpoint.</a:t>
            </a:r>
            <a:endParaRPr xmlns:a="http://schemas.openxmlformats.org/drawingml/2006/main" lang="en-US" altLang="ja-JP" sz="2000" dirty="0"/>
          </a:p>
          <a:p>
            <a:pPr lvl="1">
              <a:spcAft>
                <a:spcPts val="600"/>
              </a:spcAft>
            </a:pPr>
            <a:endParaRPr kumimoji="1" lang="en-US" altLang="ja-JP" sz="2000" dirty="0"/>
          </a:p>
          <a:p>
            <a:pPr xmlns:a="http://schemas.openxmlformats.org/drawingml/2006/main">
              <a:spcAft>
                <a:spcPts val="600"/>
              </a:spcAft>
            </a:pPr>
            <a:r xmlns:a="http://schemas.openxmlformats.org/drawingml/2006/main">
              <a:rPr lang="en" altLang="en-US" sz="2400" dirty="0"/>
              <a:t>Things I want to cultivate in my doctoral studies</a:t>
            </a:r>
            <a:endParaRPr xmlns:a="http://schemas.openxmlformats.org/drawingml/2006/main" lang="en-US" altLang="ja-JP" sz="24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000" dirty="0"/>
              <a:t>Research execution ability</a:t>
            </a:r>
            <a:endParaRPr xmlns:a="http://schemas.openxmlformats.org/drawingml/2006/main" lang="en-US" altLang="ja-JP" sz="20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kumimoji="1" lang="en" altLang="en-US" sz="2000" dirty="0"/>
              <a:t>Technical leadership in research and development management</a:t>
            </a:r>
            <a:endParaRPr xmlns:a="http://schemas.openxmlformats.org/drawingml/2006/main" kumimoji="1" lang="en-US" altLang="ja-JP" sz="2000" dirty="0"/>
          </a:p>
          <a:p>
            <a:pPr lvl="1">
              <a:spcAft>
                <a:spcPts val="600"/>
              </a:spcAft>
            </a:pPr>
            <a:endParaRPr kumimoji="1" lang="en-US" altLang="ja-JP" sz="2000" dirty="0"/>
          </a:p>
          <a:p>
            <a:pPr xmlns:a="http://schemas.openxmlformats.org/drawingml/2006/main">
              <a:spcAft>
                <a:spcPts val="600"/>
              </a:spcAft>
            </a:pPr>
            <a:r xmlns:a="http://schemas.openxmlformats.org/drawingml/2006/main">
              <a:rPr lang="en" altLang="en-US" sz="2400" dirty="0"/>
              <a:t>We aim to cultivate individuals who can bridge the gap between academic research and technological development (creating synergies between research and development).</a:t>
            </a:r>
            <a:endParaRPr xmlns:a="http://schemas.openxmlformats.org/drawingml/2006/main" kumimoji="1" lang="en-US" altLang="ja-JP" sz="24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1900" dirty="0"/>
              <a:t>various stakeholders </a:t>
            </a:r>
            <a:r xmlns:a="http://schemas.openxmlformats.org/drawingml/2006/main">
              <a:rPr kumimoji="1" lang="en" altLang="en-US" sz="1900" dirty="0"/>
              <a:t>and research and development organizations to increase our influence and contribution toward social implementation.</a:t>
            </a:r>
            <a:endParaRPr xmlns:a="http://schemas.openxmlformats.org/drawingml/2006/main" kumimoji="1" lang="en-US" altLang="ja-JP" sz="19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kumimoji="1" lang="en" altLang="en-US" sz="1900" dirty="0"/>
              <a:t>Conceiving a convenient and secure information society and the technological architecture to realize it.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7B2C1F-C2FF-F357-0414-1C478344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09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D4065-61F5-8DB7-058D-D5C2EEB4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63" y="2010647"/>
            <a:ext cx="10515600" cy="1325563"/>
          </a:xfrm>
        </p:spPr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dirty="0"/>
              <a:t>Research plan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F4839-4280-6694-E130-A7CE03895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513" y="3772727"/>
            <a:ext cx="9750700" cy="1355862"/>
          </a:xfrm>
        </p:spPr>
        <p:txBody>
          <a:bodyPr>
            <a:normAutofit/>
          </a:bodyPr>
          <a:lstStyle/>
          <a:p>
            <a:pPr xmlns:a="http://schemas.openxmlformats.org/drawingml/2006/main" marL="0" indent="0" algn="ctr">
              <a:buNone/>
            </a:pPr>
            <a:r xmlns:a="http://schemas.openxmlformats.org/drawingml/2006/main">
              <a:rPr lang="en" altLang="en-US" dirty="0"/>
              <a:t>Research on extending </a:t>
            </a:r>
            <a:endParaRPr xmlns:a="http://schemas.openxmlformats.org/drawingml/2006/main" kumimoji="1" lang="ja-JP" altLang="en-US" dirty="0"/>
            <a:r xmlns:a="http://schemas.openxmlformats.org/drawingml/2006/main">
              <a:rPr lang="en" altLang="ja-JP" dirty="0"/>
              <a:t>Chain of Trust </a:t>
            </a:r>
            <a:r xmlns:a="http://schemas.openxmlformats.org/drawingml/2006/main">
              <a:rPr lang="en" altLang="en-US" dirty="0"/>
              <a:t>and </a:t>
            </a:r>
            <a:r xmlns:a="http://schemas.openxmlformats.org/drawingml/2006/main">
              <a:rPr lang="en" altLang="ja-JP" dirty="0"/>
              <a:t>Remote Attestation </a:t>
            </a:r>
            <a:r xmlns:a="http://schemas.openxmlformats.org/drawingml/2006/main">
              <a:rPr kumimoji="1" lang="en" altLang="en-US" dirty="0"/>
              <a:t>for advanced </a:t>
            </a:r>
            <a:br xmlns:a="http://schemas.openxmlformats.org/drawingml/2006/main">
              <a:rPr lang="en-US" altLang="ja-JP" dirty="0"/>
            </a:br>
            <a:r xmlns:a="http://schemas.openxmlformats.org/drawingml/2006/main">
              <a:rPr kumimoji="1" lang="en" altLang="ja-JP" dirty="0"/>
              <a:t>Confidential Computing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C24520-08F3-666A-B1F6-F04992D3ED25}"/>
              </a:ext>
            </a:extLst>
          </p:cNvPr>
          <p:cNvSpPr/>
          <p:nvPr/>
        </p:nvSpPr>
        <p:spPr>
          <a:xfrm>
            <a:off x="973365" y="3568144"/>
            <a:ext cx="10272298" cy="12225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1E28C4-D836-D2E3-126D-C4A725D7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矢印: 右 13">
            <a:extLst>
              <a:ext uri="{FF2B5EF4-FFF2-40B4-BE49-F238E27FC236}">
                <a16:creationId xmlns:a16="http://schemas.microsoft.com/office/drawing/2014/main" id="{071CA8AC-05C7-2E23-CF2F-390CB12C95D2}"/>
              </a:ext>
            </a:extLst>
          </p:cNvPr>
          <p:cNvSpPr/>
          <p:nvPr/>
        </p:nvSpPr>
        <p:spPr>
          <a:xfrm>
            <a:off x="4724829" y="2571670"/>
            <a:ext cx="2670865" cy="117733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EDCA60-8E19-B713-8982-72EF65A9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en" altLang="en-US" dirty="0"/>
              <a:t>background</a:t>
            </a:r>
            <a:endParaRPr xmlns:a="http://schemas.openxmlformats.org/drawingml/2006/main"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8D4385-E5C8-8F4D-E990-758635CC6D0F}"/>
              </a:ext>
            </a:extLst>
          </p:cNvPr>
          <p:cNvSpPr txBox="1"/>
          <p:nvPr/>
        </p:nvSpPr>
        <p:spPr>
          <a:xfrm>
            <a:off x="7395694" y="1985996"/>
            <a:ext cx="4725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400" u="sng" dirty="0">
                <a:solidFill>
                  <a:srgbClr val="FF0000"/>
                </a:solidFill>
              </a:rPr>
              <a:t>Trusted Execution Environment </a:t>
            </a:r>
            <a:r xmlns:a="http://schemas.openxmlformats.org/drawingml/2006/main">
              <a:rPr kumimoji="1" lang="en" altLang="en-US" sz="1400" u="sng" dirty="0">
                <a:solidFill>
                  <a:srgbClr val="FF0000"/>
                </a:solidFill>
              </a:rPr>
              <a:t>( </a:t>
            </a:r>
            <a:r xmlns:a="http://schemas.openxmlformats.org/drawingml/2006/main">
              <a:rPr kumimoji="1" lang="en" altLang="ja-JP" sz="1400" u="sng" dirty="0">
                <a:solidFill>
                  <a:srgbClr val="FF0000"/>
                </a:solidFill>
              </a:rPr>
              <a:t>TEE </a:t>
            </a:r>
            <a:r xmlns:a="http://schemas.openxmlformats.org/drawingml/2006/main">
              <a:rPr kumimoji="1" lang="en" altLang="en-US" sz="1400" u="sng" dirty="0">
                <a:solidFill>
                  <a:srgbClr val="FF0000"/>
                </a:solidFill>
              </a:rPr>
              <a:t>) , </a:t>
            </a:r>
            <a:r xmlns:a="http://schemas.openxmlformats.org/drawingml/2006/main">
              <a:rPr kumimoji="1" lang="en" altLang="en-US" sz="1400" dirty="0"/>
              <a:t>which enables a </a:t>
            </a:r>
            <a:br xmlns:a="http://schemas.openxmlformats.org/drawingml/2006/main">
              <a:rPr kumimoji="1" lang="en-US" altLang="ja-JP" sz="1400" dirty="0"/>
            </a:br>
            <a:r xmlns:a="http://schemas.openxmlformats.org/drawingml/2006/main">
              <a:rPr kumimoji="1" lang="en" altLang="ja-JP" sz="1400" dirty="0"/>
              <a:t>" </a:t>
            </a:r>
            <a:r xmlns:a="http://schemas.openxmlformats.org/drawingml/2006/main">
              <a:rPr lang="en" altLang="en-US" sz="1400" dirty="0"/>
              <a:t>reliable </a:t>
            </a:r>
            <a:r xmlns:a="http://schemas.openxmlformats.org/drawingml/2006/main">
              <a:rPr kumimoji="1" lang="en" altLang="en-US" sz="1400" dirty="0"/>
              <a:t>execution environment </a:t>
            </a:r>
            <a:r xmlns:a="http://schemas.openxmlformats.org/drawingml/2006/main">
              <a:rPr kumimoji="1" lang="en" altLang="ja-JP" sz="1400" dirty="0"/>
              <a:t>" </a:t>
            </a:r>
            <a:r xmlns:a="http://schemas.openxmlformats.org/drawingml/2006/main">
              <a:rPr kumimoji="1" lang="en" altLang="en-US" sz="1400" dirty="0"/>
              <a:t>based on hardware, </a:t>
            </a:r>
            <a:r xmlns:a="http://schemas.openxmlformats.org/drawingml/2006/main">
              <a:rPr kumimoji="1" lang="en" altLang="en-US" sz="1400" dirty="0"/>
              <a:t>is a technology attracting attention!</a:t>
            </a:r>
            <a:endParaRPr xmlns:a="http://schemas.openxmlformats.org/drawingml/2006/main" kumimoji="1" lang="en-US" altLang="ja-JP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49302E-E653-F9B0-A206-AAB190F9BF1D}"/>
              </a:ext>
            </a:extLst>
          </p:cNvPr>
          <p:cNvSpPr txBox="1"/>
          <p:nvPr/>
        </p:nvSpPr>
        <p:spPr>
          <a:xfrm>
            <a:off x="2386200" y="5218470"/>
            <a:ext cx="449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kumimoji="1" lang="en" altLang="ja-JP" sz="1200" dirty="0"/>
              <a:t>a Linux Foundation </a:t>
            </a:r>
            <a:r xmlns:a="http://schemas.openxmlformats.org/drawingml/2006/main">
              <a:rPr kumimoji="1" lang="en" altLang="en-US" sz="1200" dirty="0"/>
              <a:t>project,</a:t>
            </a:r>
            <a:endParaRPr xmlns:a="http://schemas.openxmlformats.org/drawingml/2006/main" kumimoji="1" lang="en-US" altLang="ja-JP" sz="1200" dirty="0"/>
          </a:p>
          <a:p>
            <a:r xmlns:a="http://schemas.openxmlformats.org/drawingml/2006/main">
              <a:rPr lang="en" altLang="ja-JP" sz="1200" dirty="0"/>
              <a:t>The Confidential Computing Consortium </a:t>
            </a:r>
            <a:r xmlns:a="http://schemas.openxmlformats.org/drawingml/2006/main">
              <a:rPr lang="en" altLang="en-US" sz="1200" dirty="0"/>
              <a:t>( </a:t>
            </a:r>
            <a:r xmlns:a="http://schemas.openxmlformats.org/drawingml/2006/main">
              <a:rPr lang="en" altLang="ja-JP" sz="1200" dirty="0"/>
              <a:t>CCC </a:t>
            </a:r>
            <a:r xmlns:a="http://schemas.openxmlformats.org/drawingml/2006/main">
              <a:rPr lang="en" altLang="en-US" sz="1200" dirty="0"/>
              <a:t>) has been established.</a:t>
            </a:r>
            <a:endParaRPr xmlns:a="http://schemas.openxmlformats.org/drawingml/2006/main" lang="en-US" altLang="ja-JP" sz="12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5DCC4E4-53C6-81EE-6476-DEA4B97B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5" y="5150543"/>
            <a:ext cx="1772131" cy="6083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E84AA9-08BD-1E83-565E-228BFCB1F4DF}"/>
              </a:ext>
            </a:extLst>
          </p:cNvPr>
          <p:cNvSpPr txBox="1"/>
          <p:nvPr/>
        </p:nvSpPr>
        <p:spPr>
          <a:xfrm>
            <a:off x="454293" y="1711366"/>
            <a:ext cx="525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600" dirty="0"/>
              <a:t>With the advent of the digital age and rapid technological innovation, </a:t>
            </a:r>
            <a:br xmlns:a="http://schemas.openxmlformats.org/drawingml/2006/main">
              <a:rPr lang="en-US" altLang="ja-JP" sz="1600" dirty="0"/>
            </a:br>
            <a:r xmlns:a="http://schemas.openxmlformats.org/drawingml/2006/main">
              <a:rPr lang="en" altLang="en-US" sz="1600" dirty="0"/>
              <a:t>the need for data exchange that transcends the boundaries of individuals and organizations is rapidly increasing.</a:t>
            </a:r>
            <a:endParaRPr xmlns:a="http://schemas.openxmlformats.org/drawingml/2006/main" lang="en-US" altLang="ja-JP" sz="16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BE75053-928F-0506-0996-7F3C3FB79595}"/>
              </a:ext>
            </a:extLst>
          </p:cNvPr>
          <p:cNvSpPr txBox="1"/>
          <p:nvPr/>
        </p:nvSpPr>
        <p:spPr>
          <a:xfrm>
            <a:off x="4726553" y="2900780"/>
            <a:ext cx="268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>
                <a:solidFill>
                  <a:schemeClr val="bg1"/>
                </a:solidFill>
              </a:rPr>
              <a:t>privacy and security </a:t>
            </a:r>
            <a:br xmlns:a="http://schemas.openxmlformats.org/drawingml/2006/main">
              <a:rPr kumimoji="1" lang="en-US" altLang="ja-JP" sz="1400" dirty="0">
                <a:solidFill>
                  <a:schemeClr val="bg1"/>
                </a:solidFill>
              </a:rPr>
            </a:br>
            <a:r xmlns:a="http://schemas.openxmlformats.org/drawingml/2006/main">
              <a:rPr kumimoji="1" lang="en" altLang="en-US" sz="1400" dirty="0">
                <a:solidFill>
                  <a:schemeClr val="bg1"/>
                </a:solidFill>
              </a:rPr>
              <a:t>is essential.</a:t>
            </a:r>
          </a:p>
        </p:txBody>
      </p:sp>
      <p:sp>
        <p:nvSpPr>
          <p:cNvPr id="17" name="思考の吹き出し: 雲形 16">
            <a:extLst>
              <a:ext uri="{FF2B5EF4-FFF2-40B4-BE49-F238E27FC236}">
                <a16:creationId xmlns:a16="http://schemas.microsoft.com/office/drawing/2014/main" id="{CE6050D0-6569-A495-467B-78A689BC74A0}"/>
              </a:ext>
            </a:extLst>
          </p:cNvPr>
          <p:cNvSpPr/>
          <p:nvPr/>
        </p:nvSpPr>
        <p:spPr>
          <a:xfrm>
            <a:off x="5647438" y="1222534"/>
            <a:ext cx="2650835" cy="752206"/>
          </a:xfrm>
          <a:prstGeom prst="cloudCallout">
            <a:avLst>
              <a:gd name="adj1" fmla="val -6147"/>
              <a:gd name="adj2" fmla="val 1153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200" dirty="0">
                <a:solidFill>
                  <a:schemeClr val="tx1"/>
                </a:solidFill>
              </a:rPr>
              <a:t>Expectations for </a:t>
            </a:r>
            <a:r xmlns:a="http://schemas.openxmlformats.org/drawingml/2006/main">
              <a:rPr kumimoji="1" lang="en" altLang="ja-JP" sz="1200" dirty="0">
                <a:solidFill>
                  <a:schemeClr val="tx1"/>
                </a:solidFill>
              </a:rPr>
              <a:t>Privacy Enhancing Technologies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86AD4D-9EA0-0C5B-7CB0-DE6282AE1F2D}"/>
              </a:ext>
            </a:extLst>
          </p:cNvPr>
          <p:cNvSpPr txBox="1"/>
          <p:nvPr/>
        </p:nvSpPr>
        <p:spPr>
          <a:xfrm>
            <a:off x="2135780" y="1172956"/>
            <a:ext cx="204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b="1" u="sng" dirty="0"/>
              <a:t>Industry Trends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FC63552-C238-C9EE-0DDA-44175E10F23A}"/>
              </a:ext>
            </a:extLst>
          </p:cNvPr>
          <p:cNvSpPr txBox="1"/>
          <p:nvPr/>
        </p:nvSpPr>
        <p:spPr>
          <a:xfrm>
            <a:off x="8896798" y="1168144"/>
            <a:ext cx="204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b="1" u="sng" dirty="0"/>
              <a:t>technology trends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1439F080-97D1-5280-5F82-C2C9E597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037" y="2908814"/>
            <a:ext cx="851317" cy="297519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D3C29638-8DD2-BA5B-102C-CBF39EC00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07" y="3224301"/>
            <a:ext cx="636997" cy="317143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36BC693B-F94F-6936-5D22-CBF0E4638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722" y="3584862"/>
            <a:ext cx="744918" cy="37245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2D92A5DC-5F1F-6000-010F-FBFAE621B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355" y="5041868"/>
            <a:ext cx="1360732" cy="415139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D07B3D25-FB21-CE62-AADF-98330938AB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1972" y="5275789"/>
            <a:ext cx="887049" cy="371844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1C4BEA7-965E-FC94-9476-A3A2360725CD}"/>
              </a:ext>
            </a:extLst>
          </p:cNvPr>
          <p:cNvSpPr txBox="1"/>
          <p:nvPr/>
        </p:nvSpPr>
        <p:spPr>
          <a:xfrm>
            <a:off x="9469719" y="2872859"/>
            <a:ext cx="15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SEV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90BAE1-40CA-0CB8-843E-52BE76CB447D}"/>
              </a:ext>
            </a:extLst>
          </p:cNvPr>
          <p:cNvSpPr txBox="1"/>
          <p:nvPr/>
        </p:nvSpPr>
        <p:spPr>
          <a:xfrm>
            <a:off x="9469719" y="3245392"/>
            <a:ext cx="15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SGX, TDX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FC6D3B0-0E06-9F7E-40B7-8C40D69649C4}"/>
              </a:ext>
            </a:extLst>
          </p:cNvPr>
          <p:cNvSpPr txBox="1"/>
          <p:nvPr/>
        </p:nvSpPr>
        <p:spPr>
          <a:xfrm>
            <a:off x="9468230" y="3635786"/>
            <a:ext cx="2101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 err="1"/>
              <a:t>TrustZone </a:t>
            </a:r>
            <a:r xmlns:a="http://schemas.openxmlformats.org/drawingml/2006/main">
              <a:rPr kumimoji="1" lang="en" altLang="ja-JP" sz="1600" dirty="0"/>
              <a:t>, CCA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D93A3ED-8D4E-7F91-DDB6-4C771B39B379}"/>
              </a:ext>
            </a:extLst>
          </p:cNvPr>
          <p:cNvSpPr txBox="1"/>
          <p:nvPr/>
        </p:nvSpPr>
        <p:spPr>
          <a:xfrm>
            <a:off x="11159610" y="3653610"/>
            <a:ext cx="43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...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C5F43D-9387-CCC9-A9C4-5F333BAD02B2}"/>
              </a:ext>
            </a:extLst>
          </p:cNvPr>
          <p:cNvSpPr/>
          <p:nvPr/>
        </p:nvSpPr>
        <p:spPr>
          <a:xfrm>
            <a:off x="7998530" y="2812633"/>
            <a:ext cx="3707180" cy="1262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4B0C0E1-9FA2-0C23-8903-518C8916F249}"/>
              </a:ext>
            </a:extLst>
          </p:cNvPr>
          <p:cNvGrpSpPr/>
          <p:nvPr/>
        </p:nvGrpSpPr>
        <p:grpSpPr>
          <a:xfrm>
            <a:off x="7648856" y="3081548"/>
            <a:ext cx="618178" cy="523220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11C5CFF7-81C2-0A0B-AC76-76EC2B63EA59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752994FA-1767-BE8A-6868-6D2F13E6BCA7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3B8EE1BD-3D5E-D3CC-CEC8-0ACFCC595A2E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05D48926-5D06-71F2-92CA-456690BFD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5978D75F-5CF1-BE40-D902-475827815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0F467C56-C2EB-9D68-068D-D2EE4BDCF7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4D78729F-BD0E-92D3-5ED3-CA2AF24F9D28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A0976FC-0E75-633B-9BC3-5CAE076760DB}"/>
              </a:ext>
            </a:extLst>
          </p:cNvPr>
          <p:cNvSpPr txBox="1"/>
          <p:nvPr/>
        </p:nvSpPr>
        <p:spPr>
          <a:xfrm>
            <a:off x="7690963" y="3226254"/>
            <a:ext cx="618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1C48E81-767B-D79F-108D-1E00BA9F7E02}"/>
              </a:ext>
            </a:extLst>
          </p:cNvPr>
          <p:cNvSpPr txBox="1"/>
          <p:nvPr/>
        </p:nvSpPr>
        <p:spPr>
          <a:xfrm>
            <a:off x="7229774" y="6078243"/>
            <a:ext cx="4562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400" dirty="0"/>
              <a:t>This has evolved into areas such as </a:t>
            </a:r>
            <a:r xmlns:a="http://schemas.openxmlformats.org/drawingml/2006/main">
              <a:rPr lang="en" altLang="ja-JP" sz="1400" u="sng" dirty="0">
                <a:solidFill>
                  <a:srgbClr val="FF0000"/>
                </a:solidFill>
              </a:rPr>
              <a:t>Confidential Computing </a:t>
            </a:r>
            <a:r xmlns:a="http://schemas.openxmlformats.org/drawingml/2006/main">
              <a:rPr lang="en" altLang="en-US" sz="1400" u="sng" dirty="0">
                <a:solidFill>
                  <a:srgbClr val="FF0000"/>
                </a:solidFill>
              </a:rPr>
              <a:t>( </a:t>
            </a:r>
            <a:r xmlns:a="http://schemas.openxmlformats.org/drawingml/2006/main">
              <a:rPr lang="en" altLang="ja-JP" sz="1400" u="sng" dirty="0">
                <a:solidFill>
                  <a:srgbClr val="FF0000"/>
                </a:solidFill>
              </a:rPr>
              <a:t>CC </a:t>
            </a:r>
            <a:r xmlns:a="http://schemas.openxmlformats.org/drawingml/2006/main">
              <a:rPr lang="en" altLang="en-US" sz="1400" u="sng" dirty="0">
                <a:solidFill>
                  <a:srgbClr val="FF0000"/>
                </a:solidFill>
              </a:rPr>
              <a:t>) , which aims to </a:t>
            </a:r>
            <a:r xmlns:a="http://schemas.openxmlformats.org/drawingml/2006/main">
              <a:rPr lang="en" altLang="en-US" sz="1400" dirty="0"/>
              <a:t>protect data during processing ( </a:t>
            </a:r>
            <a:r xmlns:a="http://schemas.openxmlformats.org/drawingml/2006/main">
              <a:rPr lang="en" altLang="ja-JP" sz="1400" dirty="0"/>
              <a:t>Data in Use </a:t>
            </a:r>
            <a:r xmlns:a="http://schemas.openxmlformats.org/drawingml/2006/main">
              <a:rPr lang="en" altLang="en-US" sz="1400" dirty="0"/>
              <a:t>).</a:t>
            </a: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5CF727A7-DB7D-7B9C-58BE-CFA775E3C8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5536" y="5230135"/>
            <a:ext cx="629203" cy="486849"/>
          </a:xfrm>
          <a:prstGeom prst="rect">
            <a:avLst/>
          </a:pr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19E7EC6-4ABE-3841-9EF0-BEC33F26A98C}"/>
              </a:ext>
            </a:extLst>
          </p:cNvPr>
          <p:cNvSpPr txBox="1"/>
          <p:nvPr/>
        </p:nvSpPr>
        <p:spPr>
          <a:xfrm>
            <a:off x="11191396" y="5321656"/>
            <a:ext cx="5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dirty="0"/>
              <a:t>...</a:t>
            </a:r>
            <a:endParaRPr xmlns:a="http://schemas.openxmlformats.org/drawingml/2006/main" kumimoji="1" lang="ja-JP" altLang="en-US" dirty="0"/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87B8539B-0122-BF61-11D6-6CCE6A8F85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287" y="5611877"/>
            <a:ext cx="1324906" cy="382751"/>
          </a:xfrm>
          <a:prstGeom prst="rect">
            <a:avLst/>
          </a:prstGeom>
        </p:spPr>
      </p:pic>
      <p:pic>
        <p:nvPicPr>
          <p:cNvPr id="1042" name="Picture 18" descr="ネットワークで繋がる人々のイラスト">
            <a:extLst>
              <a:ext uri="{FF2B5EF4-FFF2-40B4-BE49-F238E27FC236}">
                <a16:creationId xmlns:a16="http://schemas.microsoft.com/office/drawing/2014/main" id="{48873E7F-F5D1-B614-5334-F208D3991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22" y="2460696"/>
            <a:ext cx="2444514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企業の合併・M&amp;Aのイラスト">
            <a:extLst>
              <a:ext uri="{FF2B5EF4-FFF2-40B4-BE49-F238E27FC236}">
                <a16:creationId xmlns:a16="http://schemas.microsoft.com/office/drawing/2014/main" id="{5C886B7D-059E-BD16-64B7-00717086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20" y="3173532"/>
            <a:ext cx="1692574" cy="115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直線コネクタ 1023">
            <a:extLst>
              <a:ext uri="{FF2B5EF4-FFF2-40B4-BE49-F238E27FC236}">
                <a16:creationId xmlns:a16="http://schemas.microsoft.com/office/drawing/2014/main" id="{42CB7EF2-B207-27B5-AEAF-200B93546648}"/>
              </a:ext>
            </a:extLst>
          </p:cNvPr>
          <p:cNvCxnSpPr/>
          <p:nvPr/>
        </p:nvCxnSpPr>
        <p:spPr>
          <a:xfrm>
            <a:off x="591127" y="4710262"/>
            <a:ext cx="115043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フローチャート: 組合せ 1026">
            <a:extLst>
              <a:ext uri="{FF2B5EF4-FFF2-40B4-BE49-F238E27FC236}">
                <a16:creationId xmlns:a16="http://schemas.microsoft.com/office/drawing/2014/main" id="{271B5A1E-E1AB-BA38-C7D8-AF7F1FBABD7A}"/>
              </a:ext>
            </a:extLst>
          </p:cNvPr>
          <p:cNvSpPr/>
          <p:nvPr/>
        </p:nvSpPr>
        <p:spPr>
          <a:xfrm>
            <a:off x="8634488" y="4391272"/>
            <a:ext cx="2334634" cy="637980"/>
          </a:xfrm>
          <a:prstGeom prst="flowChartMerg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フローチャート: 組合せ 1028">
            <a:extLst>
              <a:ext uri="{FF2B5EF4-FFF2-40B4-BE49-F238E27FC236}">
                <a16:creationId xmlns:a16="http://schemas.microsoft.com/office/drawing/2014/main" id="{BBA8827C-3E77-D92A-2A3E-9AAE987BA0E8}"/>
              </a:ext>
            </a:extLst>
          </p:cNvPr>
          <p:cNvSpPr/>
          <p:nvPr/>
        </p:nvSpPr>
        <p:spPr>
          <a:xfrm>
            <a:off x="1744160" y="4475900"/>
            <a:ext cx="2334634" cy="637980"/>
          </a:xfrm>
          <a:prstGeom prst="flowChartMerg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340FD7-8CB5-67BD-181D-D3AD267872E9}"/>
              </a:ext>
            </a:extLst>
          </p:cNvPr>
          <p:cNvSpPr txBox="1"/>
          <p:nvPr/>
        </p:nvSpPr>
        <p:spPr>
          <a:xfrm>
            <a:off x="9019166" y="4401256"/>
            <a:ext cx="233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600" dirty="0"/>
              <a:t>Rapid growth in practical applications</a:t>
            </a:r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8D8D64F6-FF63-B0A5-0CE3-D6265E32EE11}"/>
              </a:ext>
            </a:extLst>
          </p:cNvPr>
          <p:cNvSpPr txBox="1"/>
          <p:nvPr/>
        </p:nvSpPr>
        <p:spPr>
          <a:xfrm>
            <a:off x="2390196" y="4540985"/>
            <a:ext cx="233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600" dirty="0"/>
              <a:t>From </a:t>
            </a:r>
            <a:r xmlns:a="http://schemas.openxmlformats.org/drawingml/2006/main">
              <a:rPr kumimoji="1" lang="en" altLang="ja-JP" sz="1600" dirty="0"/>
              <a:t>2019</a:t>
            </a:r>
          </a:p>
        </p:txBody>
      </p:sp>
      <p:pic>
        <p:nvPicPr>
          <p:cNvPr id="1035" name="図 1034">
            <a:extLst>
              <a:ext uri="{FF2B5EF4-FFF2-40B4-BE49-F238E27FC236}">
                <a16:creationId xmlns:a16="http://schemas.microsoft.com/office/drawing/2014/main" id="{9A8579F5-3C59-8B4B-928B-1E0A53B50F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309" y="6076208"/>
            <a:ext cx="1369425" cy="283329"/>
          </a:xfrm>
          <a:prstGeom prst="rect">
            <a:avLst/>
          </a:prstGeom>
        </p:spPr>
      </p:pic>
      <p:pic>
        <p:nvPicPr>
          <p:cNvPr id="1039" name="図 1038">
            <a:extLst>
              <a:ext uri="{FF2B5EF4-FFF2-40B4-BE49-F238E27FC236}">
                <a16:creationId xmlns:a16="http://schemas.microsoft.com/office/drawing/2014/main" id="{B822C8EE-D701-A0E4-A311-082EB471B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734" y="5928143"/>
            <a:ext cx="695024" cy="723147"/>
          </a:xfrm>
          <a:prstGeom prst="rect">
            <a:avLst/>
          </a:prstGeom>
        </p:spPr>
      </p:pic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6D72CEA1-B853-D5F2-DA2F-2F34EF061468}"/>
              </a:ext>
            </a:extLst>
          </p:cNvPr>
          <p:cNvSpPr txBox="1"/>
          <p:nvPr/>
        </p:nvSpPr>
        <p:spPr>
          <a:xfrm>
            <a:off x="2386200" y="6031476"/>
            <a:ext cx="449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ja-JP" sz="1200" dirty="0"/>
              <a:t>the Cloud Native Computing Foundation </a:t>
            </a:r>
            <a:r xmlns:a="http://schemas.openxmlformats.org/drawingml/2006/main">
              <a:rPr lang="en" altLang="en-US" sz="1200" dirty="0"/>
              <a:t>,</a:t>
            </a:r>
            <a:endParaRPr xmlns:a="http://schemas.openxmlformats.org/drawingml/2006/main" lang="en-US" altLang="ja-JP" sz="1200" dirty="0"/>
          </a:p>
          <a:p>
            <a:r xmlns:a="http://schemas.openxmlformats.org/drawingml/2006/main">
              <a:rPr lang="en" altLang="ja-JP" sz="1200" dirty="0"/>
              <a:t>The Confidential Container </a:t>
            </a:r>
            <a:r xmlns:a="http://schemas.openxmlformats.org/drawingml/2006/main">
              <a:rPr lang="en" altLang="en-US" sz="1200" dirty="0"/>
              <a:t>project has launched.</a:t>
            </a:r>
            <a:endParaRPr xmlns:a="http://schemas.openxmlformats.org/drawingml/2006/main" lang="en-US" altLang="ja-JP" sz="12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A7853E-1AAC-4FAF-37A1-6BA5A971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56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B057D79-0A05-8CEB-4342-7C58533408B1}"/>
              </a:ext>
            </a:extLst>
          </p:cNvPr>
          <p:cNvSpPr/>
          <p:nvPr/>
        </p:nvSpPr>
        <p:spPr>
          <a:xfrm>
            <a:off x="10215647" y="4727281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2E2F7AF0-AFE4-4D8D-7907-D6E73620EA38}"/>
              </a:ext>
            </a:extLst>
          </p:cNvPr>
          <p:cNvSpPr/>
          <p:nvPr/>
        </p:nvSpPr>
        <p:spPr>
          <a:xfrm>
            <a:off x="9429107" y="473623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A298802-C648-695E-DC04-E3D3728C7832}"/>
              </a:ext>
            </a:extLst>
          </p:cNvPr>
          <p:cNvSpPr/>
          <p:nvPr/>
        </p:nvSpPr>
        <p:spPr>
          <a:xfrm>
            <a:off x="8661125" y="474493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A854DDE5-5024-9961-4B98-9FFAADCC788A}"/>
              </a:ext>
            </a:extLst>
          </p:cNvPr>
          <p:cNvSpPr/>
          <p:nvPr/>
        </p:nvSpPr>
        <p:spPr>
          <a:xfrm>
            <a:off x="7903776" y="474419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0" name="雲 89">
            <a:extLst>
              <a:ext uri="{FF2B5EF4-FFF2-40B4-BE49-F238E27FC236}">
                <a16:creationId xmlns:a16="http://schemas.microsoft.com/office/drawing/2014/main" id="{73166E94-D2B9-B9CB-3F40-90BEDB6131D8}"/>
              </a:ext>
            </a:extLst>
          </p:cNvPr>
          <p:cNvSpPr/>
          <p:nvPr/>
        </p:nvSpPr>
        <p:spPr>
          <a:xfrm>
            <a:off x="7135433" y="3823923"/>
            <a:ext cx="4481387" cy="109591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5AB53315-412B-531E-C83B-D7B0097FCDA2}"/>
              </a:ext>
            </a:extLst>
          </p:cNvPr>
          <p:cNvSpPr/>
          <p:nvPr/>
        </p:nvSpPr>
        <p:spPr>
          <a:xfrm>
            <a:off x="9513453" y="3515970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73167784-86CD-DB47-8C8A-D0DBF268D1A7}"/>
              </a:ext>
            </a:extLst>
          </p:cNvPr>
          <p:cNvSpPr/>
          <p:nvPr/>
        </p:nvSpPr>
        <p:spPr>
          <a:xfrm>
            <a:off x="9375982" y="3389311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034D1D6B-94D5-957B-1511-5500DCD57F82}"/>
              </a:ext>
            </a:extLst>
          </p:cNvPr>
          <p:cNvSpPr/>
          <p:nvPr/>
        </p:nvSpPr>
        <p:spPr>
          <a:xfrm>
            <a:off x="8219655" y="3435725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DBE516B-4712-200A-FD16-A3138DEA74DF}"/>
              </a:ext>
            </a:extLst>
          </p:cNvPr>
          <p:cNvSpPr/>
          <p:nvPr/>
        </p:nvSpPr>
        <p:spPr>
          <a:xfrm>
            <a:off x="8088076" y="3309972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7B0C90F-795A-A48C-C7AF-79DC9E9CF5D8}"/>
              </a:ext>
            </a:extLst>
          </p:cNvPr>
          <p:cNvSpPr/>
          <p:nvPr/>
        </p:nvSpPr>
        <p:spPr>
          <a:xfrm>
            <a:off x="1558162" y="4816715"/>
            <a:ext cx="1467352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OS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D12492F-F3AC-45F7-6F57-B3FE58E517B0}"/>
              </a:ext>
            </a:extLst>
          </p:cNvPr>
          <p:cNvSpPr/>
          <p:nvPr/>
        </p:nvSpPr>
        <p:spPr>
          <a:xfrm>
            <a:off x="1558161" y="4487478"/>
            <a:ext cx="1467352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Hypervisor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F88293-33A6-B04D-AC8A-3EE59958FD3C}"/>
              </a:ext>
            </a:extLst>
          </p:cNvPr>
          <p:cNvSpPr/>
          <p:nvPr/>
        </p:nvSpPr>
        <p:spPr>
          <a:xfrm>
            <a:off x="1558160" y="5103115"/>
            <a:ext cx="1467353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Firmware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0FCCB21-8D03-0E4A-1CD5-64C1DB1101A2}"/>
              </a:ext>
            </a:extLst>
          </p:cNvPr>
          <p:cNvSpPr/>
          <p:nvPr/>
        </p:nvSpPr>
        <p:spPr>
          <a:xfrm>
            <a:off x="1441198" y="5440182"/>
            <a:ext cx="1774420" cy="3272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b="1" u="sng" dirty="0">
                <a:solidFill>
                  <a:schemeClr val="tx1"/>
                </a:solidFill>
              </a:rPr>
              <a:t>Root of Trust</a:t>
            </a:r>
            <a:endParaRPr xmlns:a="http://schemas.openxmlformats.org/drawingml/2006/main" kumimoji="1" lang="ja-JP" altLang="en-US" b="1" u="sng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76BAAB-B6DF-B4C3-288E-EFE92533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area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F9062D-A502-3306-177E-3174EF5E7A54}"/>
              </a:ext>
            </a:extLst>
          </p:cNvPr>
          <p:cNvSpPr txBox="1"/>
          <p:nvPr/>
        </p:nvSpPr>
        <p:spPr>
          <a:xfrm>
            <a:off x="1210983" y="1199096"/>
            <a:ext cx="3395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2400" b="1" dirty="0"/>
              <a:t>TEE 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lang="en" altLang="ja-JP" sz="1600" dirty="0"/>
              <a:t>( </a:t>
            </a:r>
            <a:r xmlns:a="http://schemas.openxmlformats.org/drawingml/2006/main">
              <a:rPr kumimoji="1" lang="en" altLang="ja-JP" sz="1600" dirty="0"/>
              <a:t>Trusted Execution Environment)</a:t>
            </a:r>
            <a:endParaRPr xmlns:a="http://schemas.openxmlformats.org/drawingml/2006/main"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2481FF-7C05-2101-6AA6-E2F6DED6DA44}"/>
              </a:ext>
            </a:extLst>
          </p:cNvPr>
          <p:cNvSpPr txBox="1"/>
          <p:nvPr/>
        </p:nvSpPr>
        <p:spPr>
          <a:xfrm>
            <a:off x="7585886" y="1240215"/>
            <a:ext cx="2717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2400" b="1" dirty="0"/>
              <a:t>CC </a:t>
            </a:r>
            <a:br xmlns:a="http://schemas.openxmlformats.org/drawingml/2006/main">
              <a:rPr kumimoji="1" lang="en-US" altLang="ja-JP" sz="2000" dirty="0"/>
            </a:br>
            <a:r xmlns:a="http://schemas.openxmlformats.org/drawingml/2006/main">
              <a:rPr lang="en" altLang="ja-JP" sz="1600" dirty="0"/>
              <a:t>(Confidential </a:t>
            </a:r>
            <a:r xmlns:a="http://schemas.openxmlformats.org/drawingml/2006/main">
              <a:rPr kumimoji="1" lang="en" altLang="ja-JP" sz="1600" dirty="0"/>
              <a:t>Computing)</a:t>
            </a:r>
            <a:endParaRPr xmlns:a="http://schemas.openxmlformats.org/drawingml/2006/main" kumimoji="1" lang="ja-JP" altLang="en-US" sz="20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44668B-86D5-5C23-FC5A-6CBD0575D55A}"/>
              </a:ext>
            </a:extLst>
          </p:cNvPr>
          <p:cNvGrpSpPr/>
          <p:nvPr/>
        </p:nvGrpSpPr>
        <p:grpSpPr>
          <a:xfrm>
            <a:off x="1104712" y="5597003"/>
            <a:ext cx="472576" cy="299384"/>
            <a:chOff x="4649389" y="2612399"/>
            <a:chExt cx="150019" cy="134772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F8074C95-3B99-50DC-E5B9-0C14FD396FB1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B95163AE-C7B4-3B3F-A95F-141F5CFB31CB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9C3F3477-63D1-A2DF-4178-BD2A62A7F87C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F97D356-EE2C-B708-0386-85395E4EF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4CBB920-B537-1E7D-76EA-145722AC49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B9AD03D4-0D10-90FC-2C00-DD502F09F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AB7FD4C3-EADB-3A7A-6DFB-BD56C24FBD03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7C9E9D-F332-EFAF-57F0-D45FD1749BB5}"/>
              </a:ext>
            </a:extLst>
          </p:cNvPr>
          <p:cNvSpPr txBox="1"/>
          <p:nvPr/>
        </p:nvSpPr>
        <p:spPr>
          <a:xfrm>
            <a:off x="1127275" y="5624801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9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35F17E-87E5-8846-D453-5672A6BDD666}"/>
              </a:ext>
            </a:extLst>
          </p:cNvPr>
          <p:cNvCxnSpPr>
            <a:cxnSpLocks/>
          </p:cNvCxnSpPr>
          <p:nvPr/>
        </p:nvCxnSpPr>
        <p:spPr>
          <a:xfrm flipV="1">
            <a:off x="2733674" y="4032018"/>
            <a:ext cx="0" cy="1408165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386EDA5-3F5E-3B14-F515-7B9463FAD523}"/>
              </a:ext>
            </a:extLst>
          </p:cNvPr>
          <p:cNvSpPr/>
          <p:nvPr/>
        </p:nvSpPr>
        <p:spPr>
          <a:xfrm>
            <a:off x="1137131" y="2670693"/>
            <a:ext cx="1942781" cy="13613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4577511-4813-6C25-2D47-23EF43E9951E}"/>
              </a:ext>
            </a:extLst>
          </p:cNvPr>
          <p:cNvSpPr/>
          <p:nvPr/>
        </p:nvSpPr>
        <p:spPr>
          <a:xfrm>
            <a:off x="1099860" y="2702494"/>
            <a:ext cx="1467352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600" b="1" u="sng" dirty="0">
                <a:solidFill>
                  <a:schemeClr val="tx1"/>
                </a:solidFill>
              </a:rPr>
              <a:t>Isolation execution environment</a:t>
            </a:r>
            <a:endParaRPr xmlns:a="http://schemas.openxmlformats.org/drawingml/2006/main" kumimoji="1" lang="ja-JP" altLang="en-US" sz="1600" b="1" u="sng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E6CCD27-03B0-E3F0-34CF-A3C4273A1B33}"/>
              </a:ext>
            </a:extLst>
          </p:cNvPr>
          <p:cNvSpPr txBox="1"/>
          <p:nvPr/>
        </p:nvSpPr>
        <p:spPr>
          <a:xfrm>
            <a:off x="1052815" y="4095437"/>
            <a:ext cx="2410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b="1" u="sng" dirty="0"/>
              <a:t>Chain of Trust</a:t>
            </a:r>
            <a:endParaRPr xmlns:a="http://schemas.openxmlformats.org/drawingml/2006/main" kumimoji="1" lang="ja-JP" altLang="en-US" sz="1600" b="1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B897CCE-F659-2A9B-8ABC-AD5DAA9F560E}"/>
              </a:ext>
            </a:extLst>
          </p:cNvPr>
          <p:cNvSpPr/>
          <p:nvPr/>
        </p:nvSpPr>
        <p:spPr>
          <a:xfrm>
            <a:off x="1469483" y="3427187"/>
            <a:ext cx="1302719" cy="309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100" dirty="0">
                <a:solidFill>
                  <a:schemeClr val="tx1"/>
                </a:solidFill>
              </a:rPr>
              <a:t>Sensitive data processing</a:t>
            </a:r>
            <a:endParaRPr xmlns:a="http://schemas.openxmlformats.org/drawingml/2006/main"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38" name="吹き出し: 角を丸めた四角形 37">
            <a:extLst>
              <a:ext uri="{FF2B5EF4-FFF2-40B4-BE49-F238E27FC236}">
                <a16:creationId xmlns:a16="http://schemas.microsoft.com/office/drawing/2014/main" id="{1C97B5DF-4C28-A1FB-BAA6-B7CE8D63AF29}"/>
              </a:ext>
            </a:extLst>
          </p:cNvPr>
          <p:cNvSpPr/>
          <p:nvPr/>
        </p:nvSpPr>
        <p:spPr>
          <a:xfrm>
            <a:off x="300845" y="5440182"/>
            <a:ext cx="618179" cy="399241"/>
          </a:xfrm>
          <a:prstGeom prst="wedgeRoundRectCallout">
            <a:avLst>
              <a:gd name="adj1" fmla="val 71444"/>
              <a:gd name="adj2" fmla="val 25106"/>
              <a:gd name="adj3" fmla="val 16667"/>
            </a:avLst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Graphic 81">
            <a:extLst>
              <a:ext uri="{FF2B5EF4-FFF2-40B4-BE49-F238E27FC236}">
                <a16:creationId xmlns:a16="http://schemas.microsoft.com/office/drawing/2014/main" id="{4B0CA535-F676-4625-548E-C04905458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126" y="5524188"/>
            <a:ext cx="434227" cy="201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5C3077-05A7-D68D-4A7E-25AA257AC3AB}"/>
              </a:ext>
            </a:extLst>
          </p:cNvPr>
          <p:cNvSpPr txBox="1"/>
          <p:nvPr/>
        </p:nvSpPr>
        <p:spPr>
          <a:xfrm>
            <a:off x="193138" y="5974595"/>
            <a:ext cx="15926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000" b="1" dirty="0"/>
              <a:t>Signatures, encryption, key management, etc.</a:t>
            </a:r>
            <a:endParaRPr xmlns:a="http://schemas.openxmlformats.org/drawingml/2006/main" kumimoji="1" lang="ja-JP" altLang="en-US" sz="1000" b="1" dirty="0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9F92FE99-88F2-0ED6-FC43-6757F25D091B}"/>
              </a:ext>
            </a:extLst>
          </p:cNvPr>
          <p:cNvSpPr/>
          <p:nvPr/>
        </p:nvSpPr>
        <p:spPr>
          <a:xfrm>
            <a:off x="4562755" y="2885687"/>
            <a:ext cx="279400" cy="23689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二等辺三角形 40">
            <a:extLst>
              <a:ext uri="{FF2B5EF4-FFF2-40B4-BE49-F238E27FC236}">
                <a16:creationId xmlns:a16="http://schemas.microsoft.com/office/drawing/2014/main" id="{A17897D6-160C-A464-6106-9DB690943499}"/>
              </a:ext>
            </a:extLst>
          </p:cNvPr>
          <p:cNvSpPr/>
          <p:nvPr/>
        </p:nvSpPr>
        <p:spPr>
          <a:xfrm>
            <a:off x="4545821" y="3034104"/>
            <a:ext cx="313262" cy="25060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3708BCB5-4C6C-8D79-DE61-B884FF793F22}"/>
              </a:ext>
            </a:extLst>
          </p:cNvPr>
          <p:cNvSpPr/>
          <p:nvPr/>
        </p:nvSpPr>
        <p:spPr>
          <a:xfrm rot="1371790" flipV="1">
            <a:off x="4500268" y="2933884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DD345D0F-6FCC-29BA-40C0-4400770075C8}"/>
              </a:ext>
            </a:extLst>
          </p:cNvPr>
          <p:cNvCxnSpPr>
            <a:cxnSpLocks/>
          </p:cNvCxnSpPr>
          <p:nvPr/>
        </p:nvCxnSpPr>
        <p:spPr>
          <a:xfrm flipH="1">
            <a:off x="3318200" y="3112620"/>
            <a:ext cx="1009712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二等辺三角形 48">
            <a:extLst>
              <a:ext uri="{FF2B5EF4-FFF2-40B4-BE49-F238E27FC236}">
                <a16:creationId xmlns:a16="http://schemas.microsoft.com/office/drawing/2014/main" id="{89F6EFC8-7EAD-8D64-1B46-132389F1EABC}"/>
              </a:ext>
            </a:extLst>
          </p:cNvPr>
          <p:cNvSpPr/>
          <p:nvPr/>
        </p:nvSpPr>
        <p:spPr>
          <a:xfrm rot="20130143" flipV="1">
            <a:off x="4710214" y="2933884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54" name="フローチャート: 複数書類 53">
            <a:extLst>
              <a:ext uri="{FF2B5EF4-FFF2-40B4-BE49-F238E27FC236}">
                <a16:creationId xmlns:a16="http://schemas.microsoft.com/office/drawing/2014/main" id="{2EEBFB7B-B873-5F31-E4BF-225F5616D0DA}"/>
              </a:ext>
            </a:extLst>
          </p:cNvPr>
          <p:cNvSpPr/>
          <p:nvPr/>
        </p:nvSpPr>
        <p:spPr>
          <a:xfrm>
            <a:off x="1579575" y="3094747"/>
            <a:ext cx="477270" cy="355657"/>
          </a:xfrm>
          <a:prstGeom prst="flowChartMulti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EC8CA8C-6C52-B55E-FB36-5B256EA7E26E}"/>
              </a:ext>
            </a:extLst>
          </p:cNvPr>
          <p:cNvSpPr txBox="1"/>
          <p:nvPr/>
        </p:nvSpPr>
        <p:spPr>
          <a:xfrm>
            <a:off x="2024539" y="3142174"/>
            <a:ext cx="864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000" b="1" dirty="0"/>
              <a:t>Sensitive data</a:t>
            </a:r>
            <a:endParaRPr xmlns:a="http://schemas.openxmlformats.org/drawingml/2006/main" kumimoji="1" lang="ja-JP" altLang="en-US" sz="1000" b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FEE5D6AA-E491-7A57-721F-DAFDDA54A5B4}"/>
              </a:ext>
            </a:extLst>
          </p:cNvPr>
          <p:cNvSpPr txBox="1"/>
          <p:nvPr/>
        </p:nvSpPr>
        <p:spPr>
          <a:xfrm>
            <a:off x="3707052" y="3377831"/>
            <a:ext cx="25146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100" dirty="0"/>
              <a:t>Memory encryption, etc.</a:t>
            </a:r>
            <a:endParaRPr xmlns:a="http://schemas.openxmlformats.org/drawingml/2006/main" lang="en-US" altLang="ja-JP" sz="1100" dirty="0"/>
          </a:p>
          <a:p>
            <a:r xmlns:a="http://schemas.openxmlformats.org/drawingml/2006/main">
              <a:rPr lang="en" altLang="en-US" sz="1100" dirty="0"/>
              <a:t>Isolate the environment,</a:t>
            </a:r>
            <a:endParaRPr xmlns:a="http://schemas.openxmlformats.org/drawingml/2006/main" lang="en-US" altLang="ja-JP" sz="1100" dirty="0"/>
          </a:p>
          <a:p>
            <a:r xmlns:a="http://schemas.openxmlformats.org/drawingml/2006/main">
              <a:rPr lang="en" altLang="en-US" sz="1100" dirty="0"/>
              <a:t>Prevent attackers from stealing information.</a:t>
            </a:r>
            <a:endParaRPr xmlns:a="http://schemas.openxmlformats.org/drawingml/2006/main" kumimoji="1" lang="ja-JP" altLang="en-US" sz="1100" dirty="0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CFA45CA-A071-5D93-6965-FBACF5B48948}"/>
              </a:ext>
            </a:extLst>
          </p:cNvPr>
          <p:cNvCxnSpPr>
            <a:cxnSpLocks/>
          </p:cNvCxnSpPr>
          <p:nvPr/>
        </p:nvCxnSpPr>
        <p:spPr>
          <a:xfrm>
            <a:off x="3278832" y="5593930"/>
            <a:ext cx="110960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A42A95B1-815F-97C8-A97A-FE6F8BCF5023}"/>
              </a:ext>
            </a:extLst>
          </p:cNvPr>
          <p:cNvCxnSpPr/>
          <p:nvPr/>
        </p:nvCxnSpPr>
        <p:spPr>
          <a:xfrm>
            <a:off x="3608245" y="2578284"/>
            <a:ext cx="0" cy="3505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楕円 71">
            <a:extLst>
              <a:ext uri="{FF2B5EF4-FFF2-40B4-BE49-F238E27FC236}">
                <a16:creationId xmlns:a16="http://schemas.microsoft.com/office/drawing/2014/main" id="{A5EB5E8D-DB0F-7D16-EFFA-C5AFD0F9534A}"/>
              </a:ext>
            </a:extLst>
          </p:cNvPr>
          <p:cNvSpPr/>
          <p:nvPr/>
        </p:nvSpPr>
        <p:spPr>
          <a:xfrm>
            <a:off x="4522027" y="5380969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752B669F-5C6D-0F65-98CB-6C3A3B098B5A}"/>
              </a:ext>
            </a:extLst>
          </p:cNvPr>
          <p:cNvSpPr/>
          <p:nvPr/>
        </p:nvSpPr>
        <p:spPr>
          <a:xfrm>
            <a:off x="4505093" y="5529386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スクロール: 縦 73">
            <a:extLst>
              <a:ext uri="{FF2B5EF4-FFF2-40B4-BE49-F238E27FC236}">
                <a16:creationId xmlns:a16="http://schemas.microsoft.com/office/drawing/2014/main" id="{E180922C-3108-A3F6-590D-10F90739BB93}"/>
              </a:ext>
            </a:extLst>
          </p:cNvPr>
          <p:cNvSpPr/>
          <p:nvPr/>
        </p:nvSpPr>
        <p:spPr>
          <a:xfrm>
            <a:off x="3813948" y="5001003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C03A7ECA-464D-D439-38FC-81194750BF2A}"/>
              </a:ext>
            </a:extLst>
          </p:cNvPr>
          <p:cNvSpPr txBox="1"/>
          <p:nvPr/>
        </p:nvSpPr>
        <p:spPr>
          <a:xfrm>
            <a:off x="3824392" y="5062686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087A256-542D-4019-2302-B205DAC0D2F0}"/>
              </a:ext>
            </a:extLst>
          </p:cNvPr>
          <p:cNvSpPr txBox="1"/>
          <p:nvPr/>
        </p:nvSpPr>
        <p:spPr>
          <a:xfrm>
            <a:off x="3620410" y="5966392"/>
            <a:ext cx="225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100" dirty="0"/>
              <a:t>Isolation execution environment </a:t>
            </a:r>
            <a:r xmlns:a="http://schemas.openxmlformats.org/drawingml/2006/main">
              <a:rPr lang="en" altLang="en-US" sz="1100" dirty="0"/>
              <a:t>and </a:t>
            </a:r>
            <a:br xmlns:a="http://schemas.openxmlformats.org/drawingml/2006/main">
              <a:rPr lang="en-US" altLang="ja-JP" sz="1100" dirty="0"/>
            </a:br>
            <a:r xmlns:a="http://schemas.openxmlformats.org/drawingml/2006/main">
              <a:rPr lang="en" altLang="ja-JP" sz="1100" dirty="0"/>
              <a:t>Chain of Trust </a:t>
            </a:r>
            <a:r xmlns:a="http://schemas.openxmlformats.org/drawingml/2006/main">
              <a:rPr lang="en" altLang="en-US" sz="1100" dirty="0"/>
              <a:t>verification </a:t>
            </a:r>
            <a:br xmlns:a="http://schemas.openxmlformats.org/drawingml/2006/main">
              <a:rPr lang="en-US" altLang="ja-JP" sz="1100" dirty="0"/>
            </a:br>
            <a:r xmlns:a="http://schemas.openxmlformats.org/drawingml/2006/main">
              <a:rPr lang="en" altLang="en-US" sz="1100" dirty="0"/>
              <a:t>( </a:t>
            </a:r>
            <a:r xmlns:a="http://schemas.openxmlformats.org/drawingml/2006/main">
              <a:rPr lang="en" altLang="ja-JP" sz="1400" b="1" u="sng" dirty="0"/>
              <a:t>Remote Attestation </a:t>
            </a:r>
            <a:r xmlns:a="http://schemas.openxmlformats.org/drawingml/2006/main">
              <a:rPr lang="en" altLang="en-US" sz="1100" dirty="0"/>
              <a:t>)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2FEF765-7FC4-231D-8D74-C8022435A580}"/>
              </a:ext>
            </a:extLst>
          </p:cNvPr>
          <p:cNvSpPr txBox="1"/>
          <p:nvPr/>
        </p:nvSpPr>
        <p:spPr>
          <a:xfrm>
            <a:off x="4340568" y="253341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Attacker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B7C22F19-FD0E-8933-EBCB-3FC932CDDC1E}"/>
              </a:ext>
            </a:extLst>
          </p:cNvPr>
          <p:cNvSpPr txBox="1"/>
          <p:nvPr/>
        </p:nvSpPr>
        <p:spPr>
          <a:xfrm>
            <a:off x="4407894" y="5006184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AF3CCB3-BC56-FDCB-E62D-F8A959FA7340}"/>
              </a:ext>
            </a:extLst>
          </p:cNvPr>
          <p:cNvSpPr txBox="1"/>
          <p:nvPr/>
        </p:nvSpPr>
        <p:spPr>
          <a:xfrm>
            <a:off x="2547553" y="5804779"/>
            <a:ext cx="78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9898DEF8-DC9A-2124-F9BC-19124DD14A50}"/>
              </a:ext>
            </a:extLst>
          </p:cNvPr>
          <p:cNvSpPr/>
          <p:nvPr/>
        </p:nvSpPr>
        <p:spPr>
          <a:xfrm>
            <a:off x="7956166" y="3184219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631E6F48-B211-FC3F-B320-EC9A5E5ED578}"/>
              </a:ext>
            </a:extLst>
          </p:cNvPr>
          <p:cNvSpPr/>
          <p:nvPr/>
        </p:nvSpPr>
        <p:spPr>
          <a:xfrm>
            <a:off x="7906704" y="3247217"/>
            <a:ext cx="980074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en-US" sz="1100" b="1" u="sng" dirty="0">
                <a:solidFill>
                  <a:schemeClr val="tx1"/>
                </a:solidFill>
              </a:rPr>
              <a:t>confidential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  <a:p>
            <a:r xmlns:a="http://schemas.openxmlformats.org/drawingml/2006/main">
              <a:rPr kumimoji="1" lang="en" altLang="ja-JP" sz="1100" b="1" u="sng" dirty="0">
                <a:solidFill>
                  <a:schemeClr val="tx1"/>
                </a:solidFill>
              </a:rPr>
              <a:t>Container</a:t>
            </a:r>
            <a:endParaRPr xmlns:a="http://schemas.openxmlformats.org/drawingml/2006/main" kumimoji="1" lang="ja-JP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48EDC16A-8556-FDCB-1D20-908DC7CBBD39}"/>
              </a:ext>
            </a:extLst>
          </p:cNvPr>
          <p:cNvSpPr/>
          <p:nvPr/>
        </p:nvSpPr>
        <p:spPr>
          <a:xfrm>
            <a:off x="9238511" y="3275193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117F8016-2AA5-ED1D-5DE6-8296DCF99A85}"/>
              </a:ext>
            </a:extLst>
          </p:cNvPr>
          <p:cNvSpPr/>
          <p:nvPr/>
        </p:nvSpPr>
        <p:spPr>
          <a:xfrm>
            <a:off x="9225052" y="3347099"/>
            <a:ext cx="532157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en-US" sz="1100" b="1" u="sng" dirty="0">
                <a:solidFill>
                  <a:schemeClr val="tx1"/>
                </a:solidFill>
              </a:rPr>
              <a:t>confidential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  <a:p>
            <a:r xmlns:a="http://schemas.openxmlformats.org/drawingml/2006/main">
              <a:rPr lang="en" altLang="ja-JP" sz="1100" b="1" u="sng" dirty="0">
                <a:solidFill>
                  <a:schemeClr val="tx1"/>
                </a:solidFill>
              </a:rPr>
              <a:t>VM</a:t>
            </a:r>
            <a:endParaRPr xmlns:a="http://schemas.openxmlformats.org/drawingml/2006/main" kumimoji="1" lang="ja-JP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A4A1DC0-4E70-3338-2BB7-AC0F6F403A08}"/>
              </a:ext>
            </a:extLst>
          </p:cNvPr>
          <p:cNvSpPr txBox="1"/>
          <p:nvPr/>
        </p:nvSpPr>
        <p:spPr>
          <a:xfrm>
            <a:off x="8634884" y="4308664"/>
            <a:ext cx="2630483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Cloud Service</a:t>
            </a:r>
          </a:p>
          <a:p>
            <a:r xmlns:a="http://schemas.openxmlformats.org/drawingml/2006/main">
              <a:rPr lang="en" altLang="ja-JP" sz="1050" dirty="0"/>
              <a:t>(Azure, AWS, GCP…)</a:t>
            </a:r>
            <a:endParaRPr xmlns:a="http://schemas.openxmlformats.org/drawingml/2006/main" kumimoji="1" lang="ja-JP" altLang="en-US" sz="1050" dirty="0"/>
          </a:p>
        </p:txBody>
      </p:sp>
      <p:grpSp>
        <p:nvGrpSpPr>
          <p:cNvPr id="137" name="グループ化 136">
            <a:extLst>
              <a:ext uri="{FF2B5EF4-FFF2-40B4-BE49-F238E27FC236}">
                <a16:creationId xmlns:a16="http://schemas.microsoft.com/office/drawing/2014/main" id="{1FDED831-B994-5DC3-763C-8B3E27A3CF7A}"/>
              </a:ext>
            </a:extLst>
          </p:cNvPr>
          <p:cNvGrpSpPr/>
          <p:nvPr/>
        </p:nvGrpSpPr>
        <p:grpSpPr>
          <a:xfrm>
            <a:off x="7946342" y="4910402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E0EA3E4-B978-6C5A-A5AC-7736F0505FBC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BDD938C7-4AAB-11AE-9D7B-9B3D8A82A790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FFEA4120-BBFA-5330-48B8-C11148E18D9C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コネクタ 140">
              <a:extLst>
                <a:ext uri="{FF2B5EF4-FFF2-40B4-BE49-F238E27FC236}">
                  <a16:creationId xmlns:a16="http://schemas.microsoft.com/office/drawing/2014/main" id="{8B09972D-41DA-482C-5C1F-826189A7A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CEDDDFD9-6B71-04FB-1E7F-D6EF553C7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214B14A5-D02B-4E80-DCB6-CD5C4D6CEF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四角形: 角を丸くする 143">
              <a:extLst>
                <a:ext uri="{FF2B5EF4-FFF2-40B4-BE49-F238E27FC236}">
                  <a16:creationId xmlns:a16="http://schemas.microsoft.com/office/drawing/2014/main" id="{3C0D1700-9359-87AD-64C3-F73504CC4701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04C9E9A6-EF2D-0268-076A-B30720E1EEFF}"/>
              </a:ext>
            </a:extLst>
          </p:cNvPr>
          <p:cNvGrpSpPr/>
          <p:nvPr/>
        </p:nvGrpSpPr>
        <p:grpSpPr>
          <a:xfrm>
            <a:off x="8718266" y="4918483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46" name="直線コネクタ 145">
              <a:extLst>
                <a:ext uri="{FF2B5EF4-FFF2-40B4-BE49-F238E27FC236}">
                  <a16:creationId xmlns:a16="http://schemas.microsoft.com/office/drawing/2014/main" id="{21B37AB6-5743-2EC4-C029-2697F87F12D4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コネクタ 146">
              <a:extLst>
                <a:ext uri="{FF2B5EF4-FFF2-40B4-BE49-F238E27FC236}">
                  <a16:creationId xmlns:a16="http://schemas.microsoft.com/office/drawing/2014/main" id="{EECF0332-2A0D-97EA-1F32-AEEC81D07A4A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C50953EC-3864-5085-3FBC-D47254A369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54B319B3-4C4C-730B-C044-D6A126D59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B3B23539-97DA-0385-14BF-501CB54DAD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3A6F3634-1AE4-C245-7D28-BE582B79D2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四角形: 角を丸くする 151">
              <a:extLst>
                <a:ext uri="{FF2B5EF4-FFF2-40B4-BE49-F238E27FC236}">
                  <a16:creationId xmlns:a16="http://schemas.microsoft.com/office/drawing/2014/main" id="{34897FB5-B669-B319-8387-97828009BFBE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53" name="グループ化 152">
            <a:extLst>
              <a:ext uri="{FF2B5EF4-FFF2-40B4-BE49-F238E27FC236}">
                <a16:creationId xmlns:a16="http://schemas.microsoft.com/office/drawing/2014/main" id="{6CF444F0-3917-3DFB-1D63-7A6D47CED748}"/>
              </a:ext>
            </a:extLst>
          </p:cNvPr>
          <p:cNvGrpSpPr/>
          <p:nvPr/>
        </p:nvGrpSpPr>
        <p:grpSpPr>
          <a:xfrm>
            <a:off x="9495203" y="4919840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54" name="直線コネクタ 153">
              <a:extLst>
                <a:ext uri="{FF2B5EF4-FFF2-40B4-BE49-F238E27FC236}">
                  <a16:creationId xmlns:a16="http://schemas.microsoft.com/office/drawing/2014/main" id="{10B4FEBD-068A-AE77-ABBD-3832C3E367B6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コネクタ 154">
              <a:extLst>
                <a:ext uri="{FF2B5EF4-FFF2-40B4-BE49-F238E27FC236}">
                  <a16:creationId xmlns:a16="http://schemas.microsoft.com/office/drawing/2014/main" id="{E2D7F27A-D291-2D03-AC2D-FBD046DB7272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55B9E491-BE6F-12EF-0329-CA29E3ECB43E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コネクタ 156">
              <a:extLst>
                <a:ext uri="{FF2B5EF4-FFF2-40B4-BE49-F238E27FC236}">
                  <a16:creationId xmlns:a16="http://schemas.microsoft.com/office/drawing/2014/main" id="{1734DF22-47BB-BDE7-56F6-63EAEF7A15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D71E3E08-AE54-85BB-75F5-AB0E0F4C8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28D56B9F-6BEA-45DD-7E7D-F6E527DCCE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四角形: 角を丸くする 159">
              <a:extLst>
                <a:ext uri="{FF2B5EF4-FFF2-40B4-BE49-F238E27FC236}">
                  <a16:creationId xmlns:a16="http://schemas.microsoft.com/office/drawing/2014/main" id="{57D3DAD5-DB14-5FE3-8106-0EB59715030A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61" name="グループ化 160">
            <a:extLst>
              <a:ext uri="{FF2B5EF4-FFF2-40B4-BE49-F238E27FC236}">
                <a16:creationId xmlns:a16="http://schemas.microsoft.com/office/drawing/2014/main" id="{7D781BB8-3E32-EB35-2798-013765455F5F}"/>
              </a:ext>
            </a:extLst>
          </p:cNvPr>
          <p:cNvGrpSpPr/>
          <p:nvPr/>
        </p:nvGrpSpPr>
        <p:grpSpPr>
          <a:xfrm>
            <a:off x="10228028" y="4808801"/>
            <a:ext cx="415315" cy="313037"/>
            <a:chOff x="4649389" y="2612399"/>
            <a:chExt cx="150019" cy="1347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62" name="直線コネクタ 161">
              <a:extLst>
                <a:ext uri="{FF2B5EF4-FFF2-40B4-BE49-F238E27FC236}">
                  <a16:creationId xmlns:a16="http://schemas.microsoft.com/office/drawing/2014/main" id="{A6259F75-365A-682A-0D27-31E1A76ECE60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873007E0-3D10-5073-AD4C-10E07CFFD407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6868A8FD-D45F-9DC5-C579-19E7562B2EAB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27ACB3AD-3EB0-8A18-611A-F6FF3F685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コネクタ 165">
              <a:extLst>
                <a:ext uri="{FF2B5EF4-FFF2-40B4-BE49-F238E27FC236}">
                  <a16:creationId xmlns:a16="http://schemas.microsoft.com/office/drawing/2014/main" id="{7A9E6165-C9FF-E18F-7600-468AE4C99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コネクタ 166">
              <a:extLst>
                <a:ext uri="{FF2B5EF4-FFF2-40B4-BE49-F238E27FC236}">
                  <a16:creationId xmlns:a16="http://schemas.microsoft.com/office/drawing/2014/main" id="{E86661D4-F161-903F-C5A7-39FE09D3F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四角形: 角を丸くする 167">
              <a:extLst>
                <a:ext uri="{FF2B5EF4-FFF2-40B4-BE49-F238E27FC236}">
                  <a16:creationId xmlns:a16="http://schemas.microsoft.com/office/drawing/2014/main" id="{F7A4D60D-7F41-BA6D-108A-0FE89C0BC5F3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1862ADB5-78A9-FF6E-E64F-E04E799618D0}"/>
              </a:ext>
            </a:extLst>
          </p:cNvPr>
          <p:cNvSpPr txBox="1"/>
          <p:nvPr/>
        </p:nvSpPr>
        <p:spPr>
          <a:xfrm>
            <a:off x="7891138" y="4923353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C16BAEF8-DB4C-3D07-8FC3-9C8C8BDBDD99}"/>
              </a:ext>
            </a:extLst>
          </p:cNvPr>
          <p:cNvSpPr txBox="1"/>
          <p:nvPr/>
        </p:nvSpPr>
        <p:spPr>
          <a:xfrm>
            <a:off x="8653828" y="494199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7BB326F4-F9A1-7B52-49BD-E7A3BBF0EB5C}"/>
              </a:ext>
            </a:extLst>
          </p:cNvPr>
          <p:cNvSpPr txBox="1"/>
          <p:nvPr/>
        </p:nvSpPr>
        <p:spPr>
          <a:xfrm>
            <a:off x="9440368" y="494199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01C953BB-E29E-CD6F-ED46-47A1C0B0934A}"/>
              </a:ext>
            </a:extLst>
          </p:cNvPr>
          <p:cNvSpPr txBox="1"/>
          <p:nvPr/>
        </p:nvSpPr>
        <p:spPr>
          <a:xfrm>
            <a:off x="10213559" y="4868554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GPU</a:t>
            </a:r>
            <a:r xmlns:a="http://schemas.openxmlformats.org/drawingml/2006/main">
              <a:rPr kumimoji="1"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​</a:t>
            </a:r>
            <a:endParaRPr xmlns:a="http://schemas.openxmlformats.org/drawingml/2006/main" kumimoji="1" lang="ja-JP" altLang="en-US" sz="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C34DED16-459D-5DE5-B459-A273AC2321E6}"/>
              </a:ext>
            </a:extLst>
          </p:cNvPr>
          <p:cNvSpPr/>
          <p:nvPr/>
        </p:nvSpPr>
        <p:spPr>
          <a:xfrm>
            <a:off x="10476134" y="3862537"/>
            <a:ext cx="788664" cy="44527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b="1" u="sng" dirty="0">
                <a:solidFill>
                  <a:schemeClr val="tx1"/>
                </a:solidFill>
              </a:rPr>
              <a:t>TEE </a:t>
            </a:r>
            <a:r xmlns:a="http://schemas.openxmlformats.org/drawingml/2006/main">
              <a:rPr kumimoji="1" lang="en" altLang="en-US" sz="1050" b="1" u="sng" dirty="0">
                <a:solidFill>
                  <a:schemeClr val="tx1"/>
                </a:solidFill>
              </a:rPr>
              <a:t>-compatible </a:t>
            </a:r>
            <a:r xmlns:a="http://schemas.openxmlformats.org/drawingml/2006/main">
              <a:rPr kumimoji="1" lang="en" altLang="ja-JP" sz="1050" b="1" u="sng" dirty="0">
                <a:solidFill>
                  <a:schemeClr val="tx1"/>
                </a:solidFill>
              </a:rPr>
              <a:t>GPU</a:t>
            </a:r>
            <a:endParaRPr xmlns:a="http://schemas.openxmlformats.org/drawingml/2006/main" kumimoji="1" lang="ja-JP" altLang="en-US" sz="1050" b="1" u="sng" dirty="0">
              <a:solidFill>
                <a:schemeClr val="tx1"/>
              </a:solidFill>
            </a:endParaRPr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AC4BB584-B4AC-DAD8-4254-5C658BA6FF97}"/>
              </a:ext>
            </a:extLst>
          </p:cNvPr>
          <p:cNvSpPr txBox="1"/>
          <p:nvPr/>
        </p:nvSpPr>
        <p:spPr>
          <a:xfrm>
            <a:off x="10317024" y="5180466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00" dirty="0"/>
              <a:t>NVIDIA H100 </a:t>
            </a:r>
            <a:r xmlns:a="http://schemas.openxmlformats.org/drawingml/2006/main">
              <a:rPr kumimoji="1" lang="en" altLang="en-US" sz="1000" dirty="0"/>
              <a:t>, etc.</a:t>
            </a:r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F7AD5B35-B7DC-7EA2-A25F-DEC2603367F1}"/>
              </a:ext>
            </a:extLst>
          </p:cNvPr>
          <p:cNvSpPr txBox="1"/>
          <p:nvPr/>
        </p:nvSpPr>
        <p:spPr>
          <a:xfrm>
            <a:off x="8443455" y="5198660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00" dirty="0"/>
              <a:t>AMD EPYC </a:t>
            </a:r>
            <a:r xmlns:a="http://schemas.openxmlformats.org/drawingml/2006/main">
              <a:rPr kumimoji="1" lang="en" altLang="en-US" sz="1000" dirty="0"/>
              <a:t>, etc.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A0292F90-E22B-0FA6-FDC8-D35E215CC88D}"/>
              </a:ext>
            </a:extLst>
          </p:cNvPr>
          <p:cNvSpPr/>
          <p:nvPr/>
        </p:nvSpPr>
        <p:spPr>
          <a:xfrm>
            <a:off x="7193940" y="4197921"/>
            <a:ext cx="1147998" cy="33397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EB5817-0CBB-9117-A6D3-22C58946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380" y="4238020"/>
            <a:ext cx="977117" cy="2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" name="楕円 178">
            <a:extLst>
              <a:ext uri="{FF2B5EF4-FFF2-40B4-BE49-F238E27FC236}">
                <a16:creationId xmlns:a16="http://schemas.microsoft.com/office/drawing/2014/main" id="{8D7783B3-AB29-320E-4659-7260B7EBA5BC}"/>
              </a:ext>
            </a:extLst>
          </p:cNvPr>
          <p:cNvSpPr/>
          <p:nvPr/>
        </p:nvSpPr>
        <p:spPr>
          <a:xfrm>
            <a:off x="8894756" y="2085152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二等辺三角形 179">
            <a:extLst>
              <a:ext uri="{FF2B5EF4-FFF2-40B4-BE49-F238E27FC236}">
                <a16:creationId xmlns:a16="http://schemas.microsoft.com/office/drawing/2014/main" id="{B28524E2-98D6-E14E-E119-65224E16141B}"/>
              </a:ext>
            </a:extLst>
          </p:cNvPr>
          <p:cNvSpPr/>
          <p:nvPr/>
        </p:nvSpPr>
        <p:spPr>
          <a:xfrm>
            <a:off x="8877822" y="2233569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6D559740-C58E-C5E1-3981-D1A11E49BDA3}"/>
              </a:ext>
            </a:extLst>
          </p:cNvPr>
          <p:cNvCxnSpPr>
            <a:cxnSpLocks/>
          </p:cNvCxnSpPr>
          <p:nvPr/>
        </p:nvCxnSpPr>
        <p:spPr>
          <a:xfrm>
            <a:off x="9028830" y="2595702"/>
            <a:ext cx="0" cy="4784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D6777AF8-CACB-D31D-FC59-BCD1739D225B}"/>
              </a:ext>
            </a:extLst>
          </p:cNvPr>
          <p:cNvSpPr txBox="1"/>
          <p:nvPr/>
        </p:nvSpPr>
        <p:spPr>
          <a:xfrm>
            <a:off x="9041533" y="2709505"/>
            <a:ext cx="2575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100" b="1" dirty="0"/>
              <a:t>Using </a:t>
            </a:r>
            <a:endParaRPr xmlns:a="http://schemas.openxmlformats.org/drawingml/2006/main" lang="en-US" altLang="ja-JP" sz="1100" b="1" dirty="0"/>
            <a:r xmlns:a="http://schemas.openxmlformats.org/drawingml/2006/main">
              <a:rPr lang="en" altLang="en-US" sz="1100" b="1" dirty="0"/>
              <a:t>confidential </a:t>
            </a:r>
            <a:r xmlns:a="http://schemas.openxmlformats.org/drawingml/2006/main">
              <a:rPr lang="en" altLang="ja-JP" sz="1100" b="1" dirty="0"/>
              <a:t>containers </a:t>
            </a:r>
            <a:r xmlns:a="http://schemas.openxmlformats.org/drawingml/2006/main">
              <a:rPr lang="en" altLang="en-US" sz="1100" b="1" dirty="0"/>
              <a:t>and confidential </a:t>
            </a:r>
            <a:r xmlns:a="http://schemas.openxmlformats.org/drawingml/2006/main">
              <a:rPr lang="en" altLang="ja-JP" sz="1100" b="1" dirty="0"/>
              <a:t>VMs</a:t>
            </a:r>
          </a:p>
        </p:txBody>
      </p:sp>
      <p:sp>
        <p:nvSpPr>
          <p:cNvPr id="184" name="テキスト ボックス 183">
            <a:extLst>
              <a:ext uri="{FF2B5EF4-FFF2-40B4-BE49-F238E27FC236}">
                <a16:creationId xmlns:a16="http://schemas.microsoft.com/office/drawing/2014/main" id="{0F9DB139-63D0-CC30-1ADB-21E902877C91}"/>
              </a:ext>
            </a:extLst>
          </p:cNvPr>
          <p:cNvSpPr txBox="1"/>
          <p:nvPr/>
        </p:nvSpPr>
        <p:spPr>
          <a:xfrm>
            <a:off x="9225052" y="202361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185" name="楕円 184">
            <a:extLst>
              <a:ext uri="{FF2B5EF4-FFF2-40B4-BE49-F238E27FC236}">
                <a16:creationId xmlns:a16="http://schemas.microsoft.com/office/drawing/2014/main" id="{839CF0A2-DD69-3DA7-1C9F-90B8FFB7EFD7}"/>
              </a:ext>
            </a:extLst>
          </p:cNvPr>
          <p:cNvSpPr/>
          <p:nvPr/>
        </p:nvSpPr>
        <p:spPr>
          <a:xfrm>
            <a:off x="8878660" y="6133950"/>
            <a:ext cx="279400" cy="23689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二等辺三角形 185">
            <a:extLst>
              <a:ext uri="{FF2B5EF4-FFF2-40B4-BE49-F238E27FC236}">
                <a16:creationId xmlns:a16="http://schemas.microsoft.com/office/drawing/2014/main" id="{E89CD8E2-57CD-70B1-1907-C6ECBA76E6A3}"/>
              </a:ext>
            </a:extLst>
          </p:cNvPr>
          <p:cNvSpPr/>
          <p:nvPr/>
        </p:nvSpPr>
        <p:spPr>
          <a:xfrm>
            <a:off x="8861726" y="6282367"/>
            <a:ext cx="313262" cy="2506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AB7ABC3F-9B80-6A65-4CAD-6A951ACBB01F}"/>
              </a:ext>
            </a:extLst>
          </p:cNvPr>
          <p:cNvCxnSpPr>
            <a:cxnSpLocks/>
          </p:cNvCxnSpPr>
          <p:nvPr/>
        </p:nvCxnSpPr>
        <p:spPr>
          <a:xfrm flipV="1">
            <a:off x="9018357" y="5524188"/>
            <a:ext cx="0" cy="5304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テキスト ボックス 189">
            <a:extLst>
              <a:ext uri="{FF2B5EF4-FFF2-40B4-BE49-F238E27FC236}">
                <a16:creationId xmlns:a16="http://schemas.microsoft.com/office/drawing/2014/main" id="{68B26FC0-A764-D46A-7A25-0DF18C9EE86C}"/>
              </a:ext>
            </a:extLst>
          </p:cNvPr>
          <p:cNvSpPr txBox="1"/>
          <p:nvPr/>
        </p:nvSpPr>
        <p:spPr>
          <a:xfrm>
            <a:off x="9272006" y="6312722"/>
            <a:ext cx="1862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Cloud service providers</a:t>
            </a:r>
          </a:p>
        </p:txBody>
      </p: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754C2886-2F40-3DBF-A85F-8EC0542106B6}"/>
              </a:ext>
            </a:extLst>
          </p:cNvPr>
          <p:cNvSpPr txBox="1"/>
          <p:nvPr/>
        </p:nvSpPr>
        <p:spPr>
          <a:xfrm>
            <a:off x="9093353" y="5633003"/>
            <a:ext cx="2575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100" b="1" dirty="0"/>
              <a:t>Along with management functions and peripheral functions,</a:t>
            </a:r>
            <a:endParaRPr xmlns:a="http://schemas.openxmlformats.org/drawingml/2006/main" lang="en-US" altLang="ja-JP" sz="1100" b="1" dirty="0"/>
          </a:p>
          <a:p>
            <a:r xmlns:a="http://schemas.openxmlformats.org/drawingml/2006/main">
              <a:rPr lang="en" altLang="en-US" sz="1100" b="1" dirty="0"/>
              <a:t>Provides </a:t>
            </a:r>
            <a:endParaRPr xmlns:a="http://schemas.openxmlformats.org/drawingml/2006/main" lang="en-US" altLang="ja-JP" sz="1100" b="1" dirty="0"/>
            <a:r xmlns:a="http://schemas.openxmlformats.org/drawingml/2006/main">
              <a:rPr lang="en" altLang="en-US" sz="1100" b="1" dirty="0"/>
              <a:t>confidential </a:t>
            </a:r>
            <a:r xmlns:a="http://schemas.openxmlformats.org/drawingml/2006/main">
              <a:rPr lang="en" altLang="ja-JP" sz="1100" b="1" dirty="0"/>
              <a:t>containers </a:t>
            </a:r>
            <a:r xmlns:a="http://schemas.openxmlformats.org/drawingml/2006/main">
              <a:rPr lang="en" altLang="en-US" sz="1100" b="1" dirty="0"/>
              <a:t>and confidential </a:t>
            </a:r>
            <a:r xmlns:a="http://schemas.openxmlformats.org/drawingml/2006/main">
              <a:rPr lang="en" altLang="ja-JP" sz="1100" b="1" dirty="0"/>
              <a:t>VMs .</a:t>
            </a:r>
          </a:p>
        </p:txBody>
      </p:sp>
      <p:cxnSp>
        <p:nvCxnSpPr>
          <p:cNvPr id="1032" name="直線矢印コネクタ 1031">
            <a:extLst>
              <a:ext uri="{FF2B5EF4-FFF2-40B4-BE49-F238E27FC236}">
                <a16:creationId xmlns:a16="http://schemas.microsoft.com/office/drawing/2014/main" id="{5BB7FB2F-3AE0-0094-AF50-7F02E6C35DFE}"/>
              </a:ext>
            </a:extLst>
          </p:cNvPr>
          <p:cNvCxnSpPr>
            <a:cxnSpLocks/>
          </p:cNvCxnSpPr>
          <p:nvPr/>
        </p:nvCxnSpPr>
        <p:spPr>
          <a:xfrm>
            <a:off x="7334933" y="2846868"/>
            <a:ext cx="286048" cy="2024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十字形 63">
            <a:extLst>
              <a:ext uri="{FF2B5EF4-FFF2-40B4-BE49-F238E27FC236}">
                <a16:creationId xmlns:a16="http://schemas.microsoft.com/office/drawing/2014/main" id="{1F3C8778-E884-3A7B-51D0-2AAF4CCC3373}"/>
              </a:ext>
            </a:extLst>
          </p:cNvPr>
          <p:cNvSpPr/>
          <p:nvPr/>
        </p:nvSpPr>
        <p:spPr>
          <a:xfrm rot="2725944">
            <a:off x="7660409" y="2980838"/>
            <a:ext cx="335114" cy="341641"/>
          </a:xfrm>
          <a:prstGeom prst="plus">
            <a:avLst>
              <a:gd name="adj" fmla="val 4072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楕円 1038">
            <a:extLst>
              <a:ext uri="{FF2B5EF4-FFF2-40B4-BE49-F238E27FC236}">
                <a16:creationId xmlns:a16="http://schemas.microsoft.com/office/drawing/2014/main" id="{25F630FB-4C79-36B9-B9C1-F38A1CF36F58}"/>
              </a:ext>
            </a:extLst>
          </p:cNvPr>
          <p:cNvSpPr/>
          <p:nvPr/>
        </p:nvSpPr>
        <p:spPr>
          <a:xfrm>
            <a:off x="7090817" y="2373249"/>
            <a:ext cx="279400" cy="23689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二等辺三角形 1039">
            <a:extLst>
              <a:ext uri="{FF2B5EF4-FFF2-40B4-BE49-F238E27FC236}">
                <a16:creationId xmlns:a16="http://schemas.microsoft.com/office/drawing/2014/main" id="{887CB736-2102-AA57-B093-346E136E19A9}"/>
              </a:ext>
            </a:extLst>
          </p:cNvPr>
          <p:cNvSpPr/>
          <p:nvPr/>
        </p:nvSpPr>
        <p:spPr>
          <a:xfrm>
            <a:off x="7073883" y="2521666"/>
            <a:ext cx="313262" cy="25060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二等辺三角形 1040">
            <a:extLst>
              <a:ext uri="{FF2B5EF4-FFF2-40B4-BE49-F238E27FC236}">
                <a16:creationId xmlns:a16="http://schemas.microsoft.com/office/drawing/2014/main" id="{264918BF-533F-9C93-36CF-E157B8295B29}"/>
              </a:ext>
            </a:extLst>
          </p:cNvPr>
          <p:cNvSpPr/>
          <p:nvPr/>
        </p:nvSpPr>
        <p:spPr>
          <a:xfrm rot="1371790" flipV="1">
            <a:off x="7028330" y="2421446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042" name="二等辺三角形 1041">
            <a:extLst>
              <a:ext uri="{FF2B5EF4-FFF2-40B4-BE49-F238E27FC236}">
                <a16:creationId xmlns:a16="http://schemas.microsoft.com/office/drawing/2014/main" id="{5371437C-AF72-CA8D-88A0-D1EBD662FD54}"/>
              </a:ext>
            </a:extLst>
          </p:cNvPr>
          <p:cNvSpPr/>
          <p:nvPr/>
        </p:nvSpPr>
        <p:spPr>
          <a:xfrm rot="20130143" flipV="1">
            <a:off x="7238276" y="2421446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043" name="テキスト ボックス 1042">
            <a:extLst>
              <a:ext uri="{FF2B5EF4-FFF2-40B4-BE49-F238E27FC236}">
                <a16:creationId xmlns:a16="http://schemas.microsoft.com/office/drawing/2014/main" id="{BBD567F6-4D70-A233-E8B0-FF8D1F5DDF15}"/>
              </a:ext>
            </a:extLst>
          </p:cNvPr>
          <p:cNvSpPr txBox="1"/>
          <p:nvPr/>
        </p:nvSpPr>
        <p:spPr>
          <a:xfrm>
            <a:off x="7400433" y="2461008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Attacker</a:t>
            </a:r>
          </a:p>
        </p:txBody>
      </p:sp>
      <p:sp>
        <p:nvSpPr>
          <p:cNvPr id="1044" name="思考の吹き出し: 雲形 1043">
            <a:extLst>
              <a:ext uri="{FF2B5EF4-FFF2-40B4-BE49-F238E27FC236}">
                <a16:creationId xmlns:a16="http://schemas.microsoft.com/office/drawing/2014/main" id="{2E40A374-6F3D-B500-06A0-368DB840D2E2}"/>
              </a:ext>
            </a:extLst>
          </p:cNvPr>
          <p:cNvSpPr/>
          <p:nvPr/>
        </p:nvSpPr>
        <p:spPr>
          <a:xfrm>
            <a:off x="10146676" y="1884341"/>
            <a:ext cx="1640492" cy="653712"/>
          </a:xfrm>
          <a:prstGeom prst="cloudCallout">
            <a:avLst>
              <a:gd name="adj1" fmla="val -64022"/>
              <a:gd name="adj2" fmla="val 1036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45" name="テキスト ボックス 1044">
            <a:extLst>
              <a:ext uri="{FF2B5EF4-FFF2-40B4-BE49-F238E27FC236}">
                <a16:creationId xmlns:a16="http://schemas.microsoft.com/office/drawing/2014/main" id="{90277E43-A5DB-406A-2D7B-F59F3EBBDBD6}"/>
              </a:ext>
            </a:extLst>
          </p:cNvPr>
          <p:cNvSpPr txBox="1"/>
          <p:nvPr/>
        </p:nvSpPr>
        <p:spPr>
          <a:xfrm>
            <a:off x="10380996" y="1967668"/>
            <a:ext cx="14764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Service providers and </a:t>
            </a:r>
            <a:br xmlns:a="http://schemas.openxmlformats.org/drawingml/2006/main">
              <a:rPr kumimoji="1" lang="en-US" altLang="ja-JP" sz="1000" dirty="0">
                <a:solidFill>
                  <a:schemeClr val="bg1"/>
                </a:solidFill>
              </a:rPr>
            </a:br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data providers, etc.</a:t>
            </a:r>
            <a:endParaRPr xmlns:a="http://schemas.openxmlformats.org/drawingml/2006/main" kumimoji="1" lang="en-US" altLang="ja-JP" sz="1000" dirty="0">
              <a:solidFill>
                <a:schemeClr val="bg1"/>
              </a:solidFill>
            </a:endParaRPr>
          </a:p>
          <a:p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Diverse</a:t>
            </a:r>
          </a:p>
        </p:txBody>
      </p:sp>
      <p:sp>
        <p:nvSpPr>
          <p:cNvPr id="1046" name="矢印: 五方向 1045">
            <a:extLst>
              <a:ext uri="{FF2B5EF4-FFF2-40B4-BE49-F238E27FC236}">
                <a16:creationId xmlns:a16="http://schemas.microsoft.com/office/drawing/2014/main" id="{60785A3B-F756-6291-550E-398184BFA76C}"/>
              </a:ext>
            </a:extLst>
          </p:cNvPr>
          <p:cNvSpPr/>
          <p:nvPr/>
        </p:nvSpPr>
        <p:spPr>
          <a:xfrm>
            <a:off x="5791584" y="2523362"/>
            <a:ext cx="575268" cy="3380506"/>
          </a:xfrm>
          <a:prstGeom prst="homePlate">
            <a:avLst>
              <a:gd name="adj" fmla="val 36532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dirty="0">
                <a:solidFill>
                  <a:schemeClr val="tx1"/>
                </a:solidFill>
              </a:rPr>
              <a:t>Applications to server systems are developing.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9D6AFD-F1CD-3A3E-A85B-261E6CE3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69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思考の吹き出し: 雲形 222">
            <a:extLst>
              <a:ext uri="{FF2B5EF4-FFF2-40B4-BE49-F238E27FC236}">
                <a16:creationId xmlns:a16="http://schemas.microsoft.com/office/drawing/2014/main" id="{5E580795-5D6D-FEE4-E29C-7CB88B5BC8CF}"/>
              </a:ext>
            </a:extLst>
          </p:cNvPr>
          <p:cNvSpPr/>
          <p:nvPr/>
        </p:nvSpPr>
        <p:spPr>
          <a:xfrm>
            <a:off x="8110699" y="3116149"/>
            <a:ext cx="3999251" cy="1645598"/>
          </a:xfrm>
          <a:prstGeom prst="cloudCallout">
            <a:avLst>
              <a:gd name="adj1" fmla="val -7483"/>
              <a:gd name="adj2" fmla="val -76043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84B41A-48F3-56F6-B005-05235BC3C530}"/>
              </a:ext>
            </a:extLst>
          </p:cNvPr>
          <p:cNvSpPr/>
          <p:nvPr/>
        </p:nvSpPr>
        <p:spPr>
          <a:xfrm>
            <a:off x="5815108" y="5289935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7663355-1A8A-BFF6-94D4-DDA398931438}"/>
              </a:ext>
            </a:extLst>
          </p:cNvPr>
          <p:cNvSpPr/>
          <p:nvPr/>
        </p:nvSpPr>
        <p:spPr>
          <a:xfrm>
            <a:off x="2821097" y="5466232"/>
            <a:ext cx="946531" cy="3360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0728AD24-C14F-D4E7-304D-9902BC7C980D}"/>
              </a:ext>
            </a:extLst>
          </p:cNvPr>
          <p:cNvGrpSpPr/>
          <p:nvPr/>
        </p:nvGrpSpPr>
        <p:grpSpPr>
          <a:xfrm>
            <a:off x="2853986" y="5530125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83E41698-5904-57CE-EC44-0246E55DD195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CD51F443-9143-7C93-4B5D-4B0B116D7E06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FA20F0B5-006B-BE17-30DC-1BA231A99007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A33A83CF-CC7E-DA51-B527-E102ADB259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17D25625-292A-E21A-820F-7B5C86826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D48F4205-983E-1E64-6362-C7E64F145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81968DD2-7954-787A-9D37-4474B0B29041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F71F6B5C-88CA-3265-45F3-BA189AD5F923}"/>
              </a:ext>
            </a:extLst>
          </p:cNvPr>
          <p:cNvGrpSpPr/>
          <p:nvPr/>
        </p:nvGrpSpPr>
        <p:grpSpPr>
          <a:xfrm>
            <a:off x="5827489" y="5371455"/>
            <a:ext cx="415315" cy="313037"/>
            <a:chOff x="4649389" y="2612399"/>
            <a:chExt cx="150019" cy="1347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0AF0A46-CEA8-A061-B9B7-1491FE779167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8F683C3C-8BBE-229A-2E8D-620A9BFDF332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CB176443-F9EE-CF02-5769-A550D7BC85A8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65B8D8-58E0-22B1-11C8-1A66B4EEF3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10BE521E-4AD8-61EF-0527-8ED3BECC69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F4D3A2FE-1E9D-35A9-1EF9-E922B0995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四角形: 角を丸くする 70">
              <a:extLst>
                <a:ext uri="{FF2B5EF4-FFF2-40B4-BE49-F238E27FC236}">
                  <a16:creationId xmlns:a16="http://schemas.microsoft.com/office/drawing/2014/main" id="{B32C6632-82C8-A887-231D-0DB8A28C8D4A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0CF78FA-26F6-681A-0CFA-A17975E66527}"/>
              </a:ext>
            </a:extLst>
          </p:cNvPr>
          <p:cNvSpPr txBox="1"/>
          <p:nvPr/>
        </p:nvSpPr>
        <p:spPr>
          <a:xfrm>
            <a:off x="2799839" y="554068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1D08EA8-E175-CFEF-42A1-C5123BA788E1}"/>
              </a:ext>
            </a:extLst>
          </p:cNvPr>
          <p:cNvSpPr txBox="1"/>
          <p:nvPr/>
        </p:nvSpPr>
        <p:spPr>
          <a:xfrm>
            <a:off x="5813020" y="5431208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GPU</a:t>
            </a:r>
            <a:r xmlns:a="http://schemas.openxmlformats.org/drawingml/2006/main">
              <a:rPr kumimoji="1"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​</a:t>
            </a:r>
            <a:endParaRPr xmlns:a="http://schemas.openxmlformats.org/drawingml/2006/main" kumimoji="1" lang="ja-JP" altLang="en-US" sz="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3DA7419-DEB3-91CC-2C1C-DEBAE3E45102}"/>
              </a:ext>
            </a:extLst>
          </p:cNvPr>
          <p:cNvSpPr txBox="1"/>
          <p:nvPr/>
        </p:nvSpPr>
        <p:spPr>
          <a:xfrm>
            <a:off x="5916485" y="5743120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00" dirty="0"/>
              <a:t>NVIDIA H100 </a:t>
            </a:r>
            <a:r xmlns:a="http://schemas.openxmlformats.org/drawingml/2006/main">
              <a:rPr kumimoji="1" lang="en" altLang="en-US" sz="1000" dirty="0"/>
              <a:t>, etc.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A4F1AA5-1751-148A-A60A-645FCEBDE6EC}"/>
              </a:ext>
            </a:extLst>
          </p:cNvPr>
          <p:cNvSpPr txBox="1"/>
          <p:nvPr/>
        </p:nvSpPr>
        <p:spPr>
          <a:xfrm>
            <a:off x="3407879" y="5941265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00" dirty="0"/>
              <a:t>AMD EPYC </a:t>
            </a:r>
            <a:r xmlns:a="http://schemas.openxmlformats.org/drawingml/2006/main">
              <a:rPr kumimoji="1" lang="en" altLang="en-US" sz="1000" dirty="0"/>
              <a:t>, etc.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C52E394-BC0E-7D83-0044-EA7FA9DF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objectives and challenges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678FF9-2703-F8B3-2162-14A78A3A6EB5}"/>
              </a:ext>
            </a:extLst>
          </p:cNvPr>
          <p:cNvSpPr txBox="1"/>
          <p:nvPr/>
        </p:nvSpPr>
        <p:spPr>
          <a:xfrm>
            <a:off x="961462" y="1217496"/>
            <a:ext cx="1060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2400" b="1" dirty="0"/>
              <a:t>To enhance </a:t>
            </a:r>
            <a:r xmlns:a="http://schemas.openxmlformats.org/drawingml/2006/main">
              <a:rPr kumimoji="1" lang="en" altLang="ja-JP" sz="2400" b="1" dirty="0"/>
              <a:t>CC (Chain of Trust), </a:t>
            </a:r>
            <a:r xmlns:a="http://schemas.openxmlformats.org/drawingml/2006/main">
              <a:rPr kumimoji="1" lang="en" altLang="en-US" sz="2400" b="1" dirty="0"/>
              <a:t>we will extend </a:t>
            </a:r>
            <a:r xmlns:a="http://schemas.openxmlformats.org/drawingml/2006/main">
              <a:rPr kumimoji="1" lang="en" altLang="ja-JP" sz="2400" b="1" dirty="0"/>
              <a:t>Chain of Trust </a:t>
            </a:r>
            <a:r xmlns:a="http://schemas.openxmlformats.org/drawingml/2006/main">
              <a:rPr kumimoji="1" lang="en" altLang="en-US" sz="2400" b="1" dirty="0"/>
              <a:t>and </a:t>
            </a:r>
            <a:r xmlns:a="http://schemas.openxmlformats.org/drawingml/2006/main">
              <a:rPr kumimoji="1" lang="en" altLang="ja-JP" sz="2400" b="1" dirty="0"/>
              <a:t>Remote Attestation .</a:t>
            </a:r>
          </a:p>
        </p:txBody>
      </p:sp>
      <p:sp>
        <p:nvSpPr>
          <p:cNvPr id="7" name="雲 6">
            <a:extLst>
              <a:ext uri="{FF2B5EF4-FFF2-40B4-BE49-F238E27FC236}">
                <a16:creationId xmlns:a16="http://schemas.microsoft.com/office/drawing/2014/main" id="{1492BF89-8D88-5F4F-123E-6CB1547FD328}"/>
              </a:ext>
            </a:extLst>
          </p:cNvPr>
          <p:cNvSpPr/>
          <p:nvPr/>
        </p:nvSpPr>
        <p:spPr>
          <a:xfrm>
            <a:off x="1963759" y="2170368"/>
            <a:ext cx="5864616" cy="187302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B12144-0B68-4003-619C-1C8796A15FDA}"/>
              </a:ext>
            </a:extLst>
          </p:cNvPr>
          <p:cNvSpPr/>
          <p:nvPr/>
        </p:nvSpPr>
        <p:spPr>
          <a:xfrm>
            <a:off x="4303930" y="3187092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C2C730-A102-4B8D-FA69-3DB8FAAACEF6}"/>
              </a:ext>
            </a:extLst>
          </p:cNvPr>
          <p:cNvSpPr/>
          <p:nvPr/>
        </p:nvSpPr>
        <p:spPr>
          <a:xfrm>
            <a:off x="4166459" y="3060433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ED34CB-EDCB-CE16-1004-CF4B3424FCEF}"/>
              </a:ext>
            </a:extLst>
          </p:cNvPr>
          <p:cNvSpPr/>
          <p:nvPr/>
        </p:nvSpPr>
        <p:spPr>
          <a:xfrm>
            <a:off x="2880971" y="2546315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30C408-5215-04B4-5876-99FBD45C8E2C}"/>
              </a:ext>
            </a:extLst>
          </p:cNvPr>
          <p:cNvSpPr/>
          <p:nvPr/>
        </p:nvSpPr>
        <p:spPr>
          <a:xfrm>
            <a:off x="2749392" y="2420562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BF64A65-BD3A-AB54-8C4F-40BB2080BD0A}"/>
              </a:ext>
            </a:extLst>
          </p:cNvPr>
          <p:cNvSpPr/>
          <p:nvPr/>
        </p:nvSpPr>
        <p:spPr>
          <a:xfrm>
            <a:off x="2617482" y="2294809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A16143-F1E6-F4A2-6A83-2CDDBFF0D712}"/>
              </a:ext>
            </a:extLst>
          </p:cNvPr>
          <p:cNvSpPr/>
          <p:nvPr/>
        </p:nvSpPr>
        <p:spPr>
          <a:xfrm>
            <a:off x="2568020" y="2357807"/>
            <a:ext cx="980074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en-US" sz="1100" b="1" u="sng" dirty="0">
                <a:solidFill>
                  <a:schemeClr val="tx1"/>
                </a:solidFill>
              </a:rPr>
              <a:t>confidential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  <a:p>
            <a:r xmlns:a="http://schemas.openxmlformats.org/drawingml/2006/main">
              <a:rPr kumimoji="1" lang="en" altLang="ja-JP" sz="1100" b="1" u="sng" dirty="0">
                <a:solidFill>
                  <a:schemeClr val="tx1"/>
                </a:solidFill>
              </a:rPr>
              <a:t>Container</a:t>
            </a:r>
            <a:endParaRPr xmlns:a="http://schemas.openxmlformats.org/drawingml/2006/main" kumimoji="1" lang="ja-JP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481CD01-29EC-3448-AEB9-BFB1DE496F0D}"/>
              </a:ext>
            </a:extLst>
          </p:cNvPr>
          <p:cNvSpPr/>
          <p:nvPr/>
        </p:nvSpPr>
        <p:spPr>
          <a:xfrm>
            <a:off x="4028988" y="2946315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4A2464-6217-6897-B0D2-3F5E9BE69CF3}"/>
              </a:ext>
            </a:extLst>
          </p:cNvPr>
          <p:cNvSpPr/>
          <p:nvPr/>
        </p:nvSpPr>
        <p:spPr>
          <a:xfrm>
            <a:off x="4015529" y="3018221"/>
            <a:ext cx="532157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en-US" sz="1100" b="1" u="sng" dirty="0">
                <a:solidFill>
                  <a:schemeClr val="tx1"/>
                </a:solidFill>
              </a:rPr>
              <a:t>confidential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  <a:p>
            <a:r xmlns:a="http://schemas.openxmlformats.org/drawingml/2006/main">
              <a:rPr lang="en" altLang="ja-JP" sz="1100" b="1" u="sng" dirty="0">
                <a:solidFill>
                  <a:schemeClr val="tx1"/>
                </a:solidFill>
              </a:rPr>
              <a:t>VM</a:t>
            </a:r>
            <a:endParaRPr xmlns:a="http://schemas.openxmlformats.org/drawingml/2006/main" kumimoji="1" lang="ja-JP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1B2B8781-1C80-19C9-445B-4720628A71C2}"/>
              </a:ext>
            </a:extLst>
          </p:cNvPr>
          <p:cNvSpPr/>
          <p:nvPr/>
        </p:nvSpPr>
        <p:spPr>
          <a:xfrm>
            <a:off x="9698840" y="2096254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EAFE89AE-D5B6-DCD0-8FB0-BB626C14315D}"/>
              </a:ext>
            </a:extLst>
          </p:cNvPr>
          <p:cNvSpPr/>
          <p:nvPr/>
        </p:nvSpPr>
        <p:spPr>
          <a:xfrm>
            <a:off x="9681906" y="2244671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5026BEF-6F59-85B6-3F64-F99AADEF289C}"/>
              </a:ext>
            </a:extLst>
          </p:cNvPr>
          <p:cNvCxnSpPr>
            <a:cxnSpLocks/>
          </p:cNvCxnSpPr>
          <p:nvPr/>
        </p:nvCxnSpPr>
        <p:spPr>
          <a:xfrm>
            <a:off x="8018198" y="2397968"/>
            <a:ext cx="125733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CA39135-E58E-E65C-FD92-0E9F5D719E88}"/>
              </a:ext>
            </a:extLst>
          </p:cNvPr>
          <p:cNvSpPr txBox="1"/>
          <p:nvPr/>
        </p:nvSpPr>
        <p:spPr>
          <a:xfrm>
            <a:off x="8466966" y="3417150"/>
            <a:ext cx="283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2000" b="1" u="sng" dirty="0">
                <a:solidFill>
                  <a:srgbClr val="0070C0"/>
                </a:solidFill>
              </a:rPr>
              <a:t>the purpose</a:t>
            </a:r>
            <a:endParaRPr xmlns:a="http://schemas.openxmlformats.org/drawingml/2006/main" lang="en-US" altLang="ja-JP" sz="2000" b="1" u="sng" dirty="0">
              <a:solidFill>
                <a:srgbClr val="0070C0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DB32397-5364-4118-80E0-BC5D539BFF9A}"/>
              </a:ext>
            </a:extLst>
          </p:cNvPr>
          <p:cNvSpPr/>
          <p:nvPr/>
        </p:nvSpPr>
        <p:spPr>
          <a:xfrm>
            <a:off x="6575589" y="2691291"/>
            <a:ext cx="1147998" cy="33397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B2CA1D45-656C-5BB8-96C9-6646D84D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144" y="2739828"/>
            <a:ext cx="977117" cy="2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04EC41DC-FECF-595D-F02C-4D2134A0297B}"/>
              </a:ext>
            </a:extLst>
          </p:cNvPr>
          <p:cNvSpPr/>
          <p:nvPr/>
        </p:nvSpPr>
        <p:spPr>
          <a:xfrm>
            <a:off x="2789553" y="4994747"/>
            <a:ext cx="978076" cy="1692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1AFE670-E112-4D29-27D6-FC7B11C48AFE}"/>
              </a:ext>
            </a:extLst>
          </p:cNvPr>
          <p:cNvSpPr/>
          <p:nvPr/>
        </p:nvSpPr>
        <p:spPr>
          <a:xfrm>
            <a:off x="2789553" y="4750580"/>
            <a:ext cx="978076" cy="185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Hypervisor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86409BC9-0686-CDE2-8176-D7EED2E6C91D}"/>
              </a:ext>
            </a:extLst>
          </p:cNvPr>
          <p:cNvSpPr/>
          <p:nvPr/>
        </p:nvSpPr>
        <p:spPr>
          <a:xfrm>
            <a:off x="2789553" y="5222425"/>
            <a:ext cx="978076" cy="17575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Firmware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473A80A-47AE-A54F-2D01-53FCA6B9EC6B}"/>
              </a:ext>
            </a:extLst>
          </p:cNvPr>
          <p:cNvSpPr/>
          <p:nvPr/>
        </p:nvSpPr>
        <p:spPr>
          <a:xfrm>
            <a:off x="2789553" y="4479638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Move 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1CB92D2-54B6-4A37-DCD6-10E074D154E2}"/>
              </a:ext>
            </a:extLst>
          </p:cNvPr>
          <p:cNvSpPr/>
          <p:nvPr/>
        </p:nvSpPr>
        <p:spPr>
          <a:xfrm>
            <a:off x="2789553" y="4243134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Nurse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293A2830-BC57-94A8-B5FA-D8545D616B25}"/>
              </a:ext>
            </a:extLst>
          </p:cNvPr>
          <p:cNvSpPr/>
          <p:nvPr/>
        </p:nvSpPr>
        <p:spPr>
          <a:xfrm>
            <a:off x="4146478" y="5462686"/>
            <a:ext cx="946531" cy="3360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5C3EAB2F-E0AD-7441-69AE-082EADA696C0}"/>
              </a:ext>
            </a:extLst>
          </p:cNvPr>
          <p:cNvGrpSpPr/>
          <p:nvPr/>
        </p:nvGrpSpPr>
        <p:grpSpPr>
          <a:xfrm>
            <a:off x="4179367" y="5526579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CCD1DA35-AF18-89FC-1261-0EE30A8DA36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35482E98-56AA-4D26-AFAC-DB706DB96589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18F000BE-21A4-568F-0B85-6E8F4C742461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2B6FF717-9816-630C-5CF5-EDD77E4B8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EADEFB6B-4B3E-0197-E2E8-8FC430DCE3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62166713-2ACC-CC12-C559-630CF6B26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四角形: 角を丸くする 95">
              <a:extLst>
                <a:ext uri="{FF2B5EF4-FFF2-40B4-BE49-F238E27FC236}">
                  <a16:creationId xmlns:a16="http://schemas.microsoft.com/office/drawing/2014/main" id="{F0F6DFB8-BCBF-5CF1-445A-6DD7D69F7497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05B91E1D-ECF0-BD4B-E840-3D3D12A4440D}"/>
              </a:ext>
            </a:extLst>
          </p:cNvPr>
          <p:cNvSpPr txBox="1"/>
          <p:nvPr/>
        </p:nvSpPr>
        <p:spPr>
          <a:xfrm>
            <a:off x="4125220" y="5537142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3E918A73-5C5A-9DE5-B178-531F88336CA4}"/>
              </a:ext>
            </a:extLst>
          </p:cNvPr>
          <p:cNvSpPr/>
          <p:nvPr/>
        </p:nvSpPr>
        <p:spPr>
          <a:xfrm>
            <a:off x="4114934" y="4991201"/>
            <a:ext cx="978076" cy="1692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BE6B57F-5E41-7BA7-FE43-5BA10FAEF1AC}"/>
              </a:ext>
            </a:extLst>
          </p:cNvPr>
          <p:cNvSpPr/>
          <p:nvPr/>
        </p:nvSpPr>
        <p:spPr>
          <a:xfrm>
            <a:off x="4114934" y="4747034"/>
            <a:ext cx="978076" cy="185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Hypervisor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19EC217-62B2-3B6F-EF1B-08F1423568C3}"/>
              </a:ext>
            </a:extLst>
          </p:cNvPr>
          <p:cNvSpPr/>
          <p:nvPr/>
        </p:nvSpPr>
        <p:spPr>
          <a:xfrm>
            <a:off x="4114934" y="5218879"/>
            <a:ext cx="978076" cy="17575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Firmware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18995055-54BC-A5D8-74C0-74CD0028E972}"/>
              </a:ext>
            </a:extLst>
          </p:cNvPr>
          <p:cNvSpPr/>
          <p:nvPr/>
        </p:nvSpPr>
        <p:spPr>
          <a:xfrm>
            <a:off x="4114934" y="4476092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Move 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6F5FF9E-24BE-4C7D-E44B-36B41EE6DD65}"/>
              </a:ext>
            </a:extLst>
          </p:cNvPr>
          <p:cNvSpPr/>
          <p:nvPr/>
        </p:nvSpPr>
        <p:spPr>
          <a:xfrm>
            <a:off x="4114934" y="4239588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Nurse</a:t>
            </a:r>
            <a:endParaRPr xmlns:a="http://schemas.openxmlformats.org/drawingml/2006/main" kumimoji="1" lang="ja-JP" altLang="en-US" sz="1100" dirty="0"/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2C06BFD2-48BF-DB01-AA7C-E1C31F71C48F}"/>
              </a:ext>
            </a:extLst>
          </p:cNvPr>
          <p:cNvCxnSpPr>
            <a:cxnSpLocks/>
          </p:cNvCxnSpPr>
          <p:nvPr/>
        </p:nvCxnSpPr>
        <p:spPr>
          <a:xfrm flipV="1">
            <a:off x="3534467" y="3196389"/>
            <a:ext cx="0" cy="2400000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3005B74C-A497-B94B-CDE7-9D5B4E64DDF8}"/>
              </a:ext>
            </a:extLst>
          </p:cNvPr>
          <p:cNvCxnSpPr>
            <a:cxnSpLocks/>
          </p:cNvCxnSpPr>
          <p:nvPr/>
        </p:nvCxnSpPr>
        <p:spPr>
          <a:xfrm flipV="1">
            <a:off x="4797526" y="3829387"/>
            <a:ext cx="0" cy="1743414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52BD2CE2-5B0F-C1E6-C30B-859DEDAAFDC5}"/>
              </a:ext>
            </a:extLst>
          </p:cNvPr>
          <p:cNvCxnSpPr>
            <a:cxnSpLocks/>
          </p:cNvCxnSpPr>
          <p:nvPr/>
        </p:nvCxnSpPr>
        <p:spPr>
          <a:xfrm flipV="1">
            <a:off x="6178704" y="3439700"/>
            <a:ext cx="3128" cy="1874064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823811BC-818B-D96B-1A18-93BA4806E65A}"/>
              </a:ext>
            </a:extLst>
          </p:cNvPr>
          <p:cNvCxnSpPr>
            <a:cxnSpLocks/>
          </p:cNvCxnSpPr>
          <p:nvPr/>
        </p:nvCxnSpPr>
        <p:spPr>
          <a:xfrm flipV="1">
            <a:off x="6955448" y="3044536"/>
            <a:ext cx="0" cy="1511158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41FE1DCF-4122-5364-92FC-787D8206E2D3}"/>
              </a:ext>
            </a:extLst>
          </p:cNvPr>
          <p:cNvCxnSpPr>
            <a:cxnSpLocks/>
          </p:cNvCxnSpPr>
          <p:nvPr/>
        </p:nvCxnSpPr>
        <p:spPr>
          <a:xfrm flipH="1" flipV="1">
            <a:off x="6959218" y="4568975"/>
            <a:ext cx="2393" cy="327938"/>
          </a:xfrm>
          <a:prstGeom prst="line">
            <a:avLst/>
          </a:prstGeom>
          <a:ln w="5715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9A53C553-5BB1-5FC6-E24A-EB777272417A}"/>
              </a:ext>
            </a:extLst>
          </p:cNvPr>
          <p:cNvSpPr/>
          <p:nvPr/>
        </p:nvSpPr>
        <p:spPr>
          <a:xfrm>
            <a:off x="5667704" y="2990261"/>
            <a:ext cx="788664" cy="44527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b="1" u="sng" dirty="0">
                <a:solidFill>
                  <a:schemeClr val="tx1"/>
                </a:solidFill>
              </a:rPr>
              <a:t>TEE </a:t>
            </a:r>
            <a:r xmlns:a="http://schemas.openxmlformats.org/drawingml/2006/main">
              <a:rPr kumimoji="1" lang="en" altLang="en-US" sz="1050" b="1" u="sng" dirty="0">
                <a:solidFill>
                  <a:schemeClr val="tx1"/>
                </a:solidFill>
              </a:rPr>
              <a:t>-compatible </a:t>
            </a:r>
            <a:r xmlns:a="http://schemas.openxmlformats.org/drawingml/2006/main">
              <a:rPr kumimoji="1" lang="en" altLang="ja-JP" sz="1050" b="1" u="sng" dirty="0">
                <a:solidFill>
                  <a:schemeClr val="tx1"/>
                </a:solidFill>
              </a:rPr>
              <a:t>GPU</a:t>
            </a:r>
            <a:endParaRPr xmlns:a="http://schemas.openxmlformats.org/drawingml/2006/main" kumimoji="1" lang="ja-JP" altLang="en-US" sz="1050" b="1" u="sng" dirty="0">
              <a:solidFill>
                <a:schemeClr val="tx1"/>
              </a:solidFill>
            </a:endParaRPr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8957BD1F-784D-37C6-13FA-9C212A9923A7}"/>
              </a:ext>
            </a:extLst>
          </p:cNvPr>
          <p:cNvCxnSpPr>
            <a:cxnSpLocks/>
            <a:stCxn id="121" idx="1"/>
          </p:cNvCxnSpPr>
          <p:nvPr/>
        </p:nvCxnSpPr>
        <p:spPr>
          <a:xfrm flipH="1">
            <a:off x="5036845" y="3212901"/>
            <a:ext cx="630859" cy="167208"/>
          </a:xfrm>
          <a:prstGeom prst="line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吹き出し: 線 130">
            <a:extLst>
              <a:ext uri="{FF2B5EF4-FFF2-40B4-BE49-F238E27FC236}">
                <a16:creationId xmlns:a16="http://schemas.microsoft.com/office/drawing/2014/main" id="{F55A3128-8891-E583-2AFB-5D5119E2EC65}"/>
              </a:ext>
            </a:extLst>
          </p:cNvPr>
          <p:cNvSpPr/>
          <p:nvPr/>
        </p:nvSpPr>
        <p:spPr>
          <a:xfrm>
            <a:off x="167035" y="4237186"/>
            <a:ext cx="2321142" cy="1621727"/>
          </a:xfrm>
          <a:prstGeom prst="borderCallout1">
            <a:avLst>
              <a:gd name="adj1" fmla="val 50058"/>
              <a:gd name="adj2" fmla="val 100540"/>
              <a:gd name="adj3" fmla="val -6914"/>
              <a:gd name="adj4" fmla="val 144545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ja-JP" sz="1600" b="1" u="sng" dirty="0">
                <a:solidFill>
                  <a:schemeClr val="tx1"/>
                </a:solidFill>
              </a:rPr>
              <a:t>the TEE </a:t>
            </a:r>
            <a:r xmlns:a="http://schemas.openxmlformats.org/drawingml/2006/main">
              <a:rPr lang="en" altLang="en-US" sz="1600" b="1" u="sng" dirty="0">
                <a:solidFill>
                  <a:schemeClr val="tx1"/>
                </a:solidFill>
              </a:rPr>
              <a:t>usage environment.</a:t>
            </a:r>
            <a:endParaRPr xmlns:a="http://schemas.openxmlformats.org/drawingml/2006/main" lang="en-US" altLang="ja-JP" sz="1600" b="1" u="sng" dirty="0">
              <a:solidFill>
                <a:schemeClr val="tx1"/>
              </a:solidFill>
            </a:endParaRPr>
          </a:p>
          <a:p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There are many different methods for each </a:t>
            </a: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CC , but </a:t>
            </a: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Chain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 </a:t>
            </a: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of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If there are deficiencies in </a:t>
            </a: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Trust , </a:t>
            </a:r>
            <a:r xmlns:a="http://schemas.openxmlformats.org/drawingml/2006/main">
              <a:rPr kumimoji="1" lang="en" altLang="ja-JP" sz="1600" dirty="0">
                <a:solidFill>
                  <a:schemeClr val="tx1"/>
                </a:solidFill>
              </a:rPr>
              <a:t>CC </a:t>
            </a:r>
            <a:r xmlns:a="http://schemas.openxmlformats.org/drawingml/2006/main">
              <a:rPr kumimoji="1" lang="en" altLang="en-US" sz="1600" dirty="0">
                <a:solidFill>
                  <a:schemeClr val="tx1"/>
                </a:solidFill>
              </a:rPr>
              <a:t>'s security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cannot be ensured.</a:t>
            </a:r>
            <a:endParaRPr xmlns:a="http://schemas.openxmlformats.org/drawingml/2006/main"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32" name="吹き出し: 線 131">
            <a:extLst>
              <a:ext uri="{FF2B5EF4-FFF2-40B4-BE49-F238E27FC236}">
                <a16:creationId xmlns:a16="http://schemas.microsoft.com/office/drawing/2014/main" id="{6D9D1DC4-3021-5203-6254-61930D6F8EB9}"/>
              </a:ext>
            </a:extLst>
          </p:cNvPr>
          <p:cNvSpPr/>
          <p:nvPr/>
        </p:nvSpPr>
        <p:spPr>
          <a:xfrm>
            <a:off x="7582886" y="5007450"/>
            <a:ext cx="4181208" cy="1348106"/>
          </a:xfrm>
          <a:prstGeom prst="borderCallout1">
            <a:avLst>
              <a:gd name="adj1" fmla="val 9515"/>
              <a:gd name="adj2" fmla="val -649"/>
              <a:gd name="adj3" fmla="val -55583"/>
              <a:gd name="adj4" fmla="val -15759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 xmlns:a="http://schemas.openxmlformats.org/drawingml/2006/main">
              <a:rPr kumimoji="1" lang="en" altLang="en-US" b="1" u="sng" dirty="0">
                <a:solidFill>
                  <a:schemeClr val="tx1"/>
                </a:solidFill>
              </a:rPr>
              <a:t>Advanced </a:t>
            </a:r>
            <a:endParaRPr xmlns:a="http://schemas.openxmlformats.org/drawingml/2006/main" kumimoji="1" lang="en-US" altLang="ja-JP" b="1" u="sng" dirty="0">
              <a:solidFill>
                <a:schemeClr val="tx1"/>
              </a:solidFill>
            </a:endParaRPr>
            <a:r xmlns:a="http://schemas.openxmlformats.org/drawingml/2006/main">
              <a:rPr kumimoji="1" lang="en" altLang="ja-JP" b="1" u="sng" dirty="0">
                <a:solidFill>
                  <a:schemeClr val="tx1"/>
                </a:solidFill>
              </a:rPr>
              <a:t>CC</a:t>
            </a:r>
          </a:p>
          <a:p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CC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becomes more sophisticated, enabling features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such as orchestrator integration and service development ,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it becomes necessary to expand </a:t>
            </a:r>
            <a:endParaRPr xmlns:a="http://schemas.openxmlformats.org/drawingml/2006/main" kumimoji="1" lang="ja-JP" altLang="en-US" sz="1600" dirty="0">
              <a:solidFill>
                <a:schemeClr val="tx1"/>
              </a:solidFill>
            </a:endParaRP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the Chain of Trust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and implement corresponding </a:t>
            </a:r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Remote Attestation.</a:t>
            </a:r>
          </a:p>
        </p:txBody>
      </p: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910FC74F-1724-37C5-3C27-04600EE9847C}"/>
              </a:ext>
            </a:extLst>
          </p:cNvPr>
          <p:cNvCxnSpPr>
            <a:cxnSpLocks/>
            <a:stCxn id="131" idx="0"/>
          </p:cNvCxnSpPr>
          <p:nvPr/>
        </p:nvCxnSpPr>
        <p:spPr>
          <a:xfrm flipV="1">
            <a:off x="2488177" y="4131781"/>
            <a:ext cx="2309349" cy="916269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169">
            <a:extLst>
              <a:ext uri="{FF2B5EF4-FFF2-40B4-BE49-F238E27FC236}">
                <a16:creationId xmlns:a16="http://schemas.microsoft.com/office/drawing/2014/main" id="{9643F7F9-19E4-1FDB-37C8-2B6C1918EAD6}"/>
              </a:ext>
            </a:extLst>
          </p:cNvPr>
          <p:cNvCxnSpPr>
            <a:cxnSpLocks/>
          </p:cNvCxnSpPr>
          <p:nvPr/>
        </p:nvCxnSpPr>
        <p:spPr>
          <a:xfrm flipH="1" flipV="1">
            <a:off x="6178703" y="4227677"/>
            <a:ext cx="1394420" cy="941236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5DF68E46-FE2A-297D-B071-DA11B9490DA4}"/>
              </a:ext>
            </a:extLst>
          </p:cNvPr>
          <p:cNvCxnSpPr>
            <a:cxnSpLocks/>
          </p:cNvCxnSpPr>
          <p:nvPr/>
        </p:nvCxnSpPr>
        <p:spPr>
          <a:xfrm flipH="1" flipV="1">
            <a:off x="5317528" y="3337257"/>
            <a:ext cx="2243637" cy="1816655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2D9D07AC-E822-841F-1E34-16880A7711F2}"/>
              </a:ext>
            </a:extLst>
          </p:cNvPr>
          <p:cNvCxnSpPr>
            <a:cxnSpLocks/>
          </p:cNvCxnSpPr>
          <p:nvPr/>
        </p:nvCxnSpPr>
        <p:spPr>
          <a:xfrm flipH="1" flipV="1">
            <a:off x="3741298" y="2501563"/>
            <a:ext cx="2787561" cy="309778"/>
          </a:xfrm>
          <a:prstGeom prst="line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D85ED2B3-20B9-8F5D-3F55-D345B509CDF1}"/>
              </a:ext>
            </a:extLst>
          </p:cNvPr>
          <p:cNvCxnSpPr>
            <a:cxnSpLocks/>
          </p:cNvCxnSpPr>
          <p:nvPr/>
        </p:nvCxnSpPr>
        <p:spPr>
          <a:xfrm flipH="1" flipV="1">
            <a:off x="6283109" y="2766537"/>
            <a:ext cx="1271236" cy="2342623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2B7A3DF0-1CBB-C84F-7C37-3B830A52E45B}"/>
              </a:ext>
            </a:extLst>
          </p:cNvPr>
          <p:cNvSpPr txBox="1"/>
          <p:nvPr/>
        </p:nvSpPr>
        <p:spPr>
          <a:xfrm>
            <a:off x="9505636" y="178847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191" name="スクロール: 縦 190">
            <a:extLst>
              <a:ext uri="{FF2B5EF4-FFF2-40B4-BE49-F238E27FC236}">
                <a16:creationId xmlns:a16="http://schemas.microsoft.com/office/drawing/2014/main" id="{35600295-6713-C0BE-F80C-0D19572DF1D3}"/>
              </a:ext>
            </a:extLst>
          </p:cNvPr>
          <p:cNvSpPr/>
          <p:nvPr/>
        </p:nvSpPr>
        <p:spPr>
          <a:xfrm>
            <a:off x="8366889" y="2551094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3EB0FF8E-75C1-94B8-9924-468C9A2916E6}"/>
              </a:ext>
            </a:extLst>
          </p:cNvPr>
          <p:cNvSpPr txBox="1"/>
          <p:nvPr/>
        </p:nvSpPr>
        <p:spPr>
          <a:xfrm>
            <a:off x="8382080" y="2656010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193" name="スクロール: 縦 192">
            <a:extLst>
              <a:ext uri="{FF2B5EF4-FFF2-40B4-BE49-F238E27FC236}">
                <a16:creationId xmlns:a16="http://schemas.microsoft.com/office/drawing/2014/main" id="{997E8AF9-50AB-84D6-4FEF-EF4F6CBE5B58}"/>
              </a:ext>
            </a:extLst>
          </p:cNvPr>
          <p:cNvSpPr/>
          <p:nvPr/>
        </p:nvSpPr>
        <p:spPr>
          <a:xfrm>
            <a:off x="10766644" y="3440850"/>
            <a:ext cx="525743" cy="430887"/>
          </a:xfrm>
          <a:prstGeom prst="vertic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テキスト ボックス 193">
            <a:extLst>
              <a:ext uri="{FF2B5EF4-FFF2-40B4-BE49-F238E27FC236}">
                <a16:creationId xmlns:a16="http://schemas.microsoft.com/office/drawing/2014/main" id="{87934B47-F6FA-8F72-9F90-FF8E8CD83DD5}"/>
              </a:ext>
            </a:extLst>
          </p:cNvPr>
          <p:cNvSpPr txBox="1"/>
          <p:nvPr/>
        </p:nvSpPr>
        <p:spPr>
          <a:xfrm>
            <a:off x="10807919" y="3544816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200" b="1" dirty="0">
                <a:solidFill>
                  <a:srgbClr val="7030A0"/>
                </a:solidFill>
              </a:rPr>
              <a:t>correct answer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412E7AB5-149B-719A-A4AE-598E703E7F74}"/>
              </a:ext>
            </a:extLst>
          </p:cNvPr>
          <p:cNvSpPr txBox="1"/>
          <p:nvPr/>
        </p:nvSpPr>
        <p:spPr>
          <a:xfrm>
            <a:off x="101923" y="3886303"/>
            <a:ext cx="1320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2000" b="1" dirty="0">
                <a:solidFill>
                  <a:srgbClr val="FF0000"/>
                </a:solidFill>
              </a:rPr>
              <a:t>Task 1</a:t>
            </a:r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5B41C9F4-9364-E073-BCC5-9C050363BEE3}"/>
              </a:ext>
            </a:extLst>
          </p:cNvPr>
          <p:cNvSpPr txBox="1"/>
          <p:nvPr/>
        </p:nvSpPr>
        <p:spPr>
          <a:xfrm>
            <a:off x="7516341" y="4647940"/>
            <a:ext cx="1320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2000" b="1" dirty="0">
                <a:solidFill>
                  <a:srgbClr val="FF0000"/>
                </a:solidFill>
              </a:rPr>
              <a:t>Task 2</a:t>
            </a:r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07AE042F-44A0-EEEE-F6F9-4FF8670D2B20}"/>
              </a:ext>
            </a:extLst>
          </p:cNvPr>
          <p:cNvSpPr txBox="1"/>
          <p:nvPr/>
        </p:nvSpPr>
        <p:spPr>
          <a:xfrm>
            <a:off x="10175192" y="3328466"/>
            <a:ext cx="73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verification</a:t>
            </a:r>
          </a:p>
        </p:txBody>
      </p:sp>
      <p:sp>
        <p:nvSpPr>
          <p:cNvPr id="219" name="スクロール: 縦 218">
            <a:extLst>
              <a:ext uri="{FF2B5EF4-FFF2-40B4-BE49-F238E27FC236}">
                <a16:creationId xmlns:a16="http://schemas.microsoft.com/office/drawing/2014/main" id="{D4A00910-FF67-F0CA-F2D7-E40306A610C7}"/>
              </a:ext>
            </a:extLst>
          </p:cNvPr>
          <p:cNvSpPr/>
          <p:nvPr/>
        </p:nvSpPr>
        <p:spPr>
          <a:xfrm>
            <a:off x="9553485" y="3406164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4022CF1-2E4F-F519-62F6-07052B3E8098}"/>
              </a:ext>
            </a:extLst>
          </p:cNvPr>
          <p:cNvSpPr txBox="1"/>
          <p:nvPr/>
        </p:nvSpPr>
        <p:spPr>
          <a:xfrm>
            <a:off x="9563929" y="3467847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53E00B25-50A9-BBEE-F889-AC65FDA17507}"/>
              </a:ext>
            </a:extLst>
          </p:cNvPr>
          <p:cNvCxnSpPr/>
          <p:nvPr/>
        </p:nvCxnSpPr>
        <p:spPr>
          <a:xfrm>
            <a:off x="10143897" y="3628482"/>
            <a:ext cx="55832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F4B3D9D0-0A65-5C8F-21E5-2A509C840F1E}"/>
              </a:ext>
            </a:extLst>
          </p:cNvPr>
          <p:cNvSpPr txBox="1"/>
          <p:nvPr/>
        </p:nvSpPr>
        <p:spPr>
          <a:xfrm>
            <a:off x="8577193" y="3905481"/>
            <a:ext cx="3519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400" b="1" dirty="0"/>
              <a:t>of </a:t>
            </a:r>
            <a:br xmlns:a="http://schemas.openxmlformats.org/drawingml/2006/main">
              <a:rPr lang="en-US" altLang="ja-JP" sz="1400" b="1" dirty="0"/>
            </a:br>
            <a:r xmlns:a="http://schemas.openxmlformats.org/drawingml/2006/main">
              <a:rPr lang="en" altLang="en-US" sz="1400" b="1" dirty="0"/>
              <a:t>the complex </a:t>
            </a:r>
            <a:r xmlns:a="http://schemas.openxmlformats.org/drawingml/2006/main">
              <a:rPr lang="en" altLang="ja-JP" sz="1400" b="1" dirty="0" err="1"/>
              <a:t>CoT of </a:t>
            </a:r>
            <a:r xmlns:a="http://schemas.openxmlformats.org/drawingml/2006/main">
              <a:rPr lang="en" altLang="en-US" sz="1400" b="1" dirty="0"/>
              <a:t>advanced </a:t>
            </a:r>
            <a:r xmlns:a="http://schemas.openxmlformats.org/drawingml/2006/main">
              <a:rPr lang="en" altLang="ja-JP" sz="1400" b="1" dirty="0"/>
              <a:t>CC </a:t>
            </a:r>
            <a:r xmlns:a="http://schemas.openxmlformats.org/drawingml/2006/main">
              <a:rPr lang="en" altLang="en-US" sz="1400" b="1" dirty="0"/>
              <a:t>by extending </a:t>
            </a:r>
            <a:endParaRPr xmlns:a="http://schemas.openxmlformats.org/drawingml/2006/main" lang="en-US" altLang="ja-JP" sz="1400" b="1" dirty="0"/>
            <a:r xmlns:a="http://schemas.openxmlformats.org/drawingml/2006/main">
              <a:rPr lang="en" altLang="ja-JP" sz="1400" b="1" dirty="0"/>
              <a:t>RA .</a:t>
            </a:r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ED294E0F-6CA4-9B44-9096-4970E5A41EAB}"/>
              </a:ext>
            </a:extLst>
          </p:cNvPr>
          <p:cNvSpPr txBox="1"/>
          <p:nvPr/>
        </p:nvSpPr>
        <p:spPr>
          <a:xfrm>
            <a:off x="1247575" y="3105804"/>
            <a:ext cx="2630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Cloud</a:t>
            </a:r>
          </a:p>
          <a:p>
            <a:r xmlns:a="http://schemas.openxmlformats.org/drawingml/2006/main">
              <a:rPr kumimoji="1" lang="en" altLang="ja-JP" sz="1600" dirty="0"/>
              <a:t>Service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C538BB-1CDE-C2EB-EDD7-684E1516DCBE}"/>
              </a:ext>
            </a:extLst>
          </p:cNvPr>
          <p:cNvSpPr txBox="1"/>
          <p:nvPr/>
        </p:nvSpPr>
        <p:spPr>
          <a:xfrm>
            <a:off x="3100545" y="5528807"/>
            <a:ext cx="811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100" b="1" dirty="0" err="1">
                <a:solidFill>
                  <a:srgbClr val="0070C0"/>
                </a:solidFill>
              </a:rPr>
              <a:t>RoT</a:t>
            </a:r>
            <a:endParaRPr xmlns:a="http://schemas.openxmlformats.org/drawingml/2006/main" kumimoji="1" lang="ja-JP" altLang="en-US" sz="1100" b="1" dirty="0">
              <a:solidFill>
                <a:srgbClr val="0070C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AB122E-5ECF-3AAA-BEDD-ACC606D84154}"/>
              </a:ext>
            </a:extLst>
          </p:cNvPr>
          <p:cNvSpPr txBox="1"/>
          <p:nvPr/>
        </p:nvSpPr>
        <p:spPr>
          <a:xfrm>
            <a:off x="4378231" y="5537148"/>
            <a:ext cx="811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100" b="1" dirty="0" err="1">
                <a:solidFill>
                  <a:srgbClr val="0070C0"/>
                </a:solidFill>
              </a:rPr>
              <a:t>RoT</a:t>
            </a:r>
            <a:endParaRPr xmlns:a="http://schemas.openxmlformats.org/drawingml/2006/main" kumimoji="1" lang="ja-JP" altLang="en-US" sz="1100" b="1" dirty="0">
              <a:solidFill>
                <a:srgbClr val="0070C0"/>
              </a:solidFill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32AC08-D7A8-1985-29F6-8299C3D4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10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3BBA4-23EE-E8F0-B3A1-CDAC2FE7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Related research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600EB-13CA-A75C-4238-2DE68241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27" y="1462088"/>
            <a:ext cx="10515600" cy="4999839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ja-JP" sz="2200" dirty="0"/>
              <a:t>Swarm Attestation / Collective Attestation</a:t>
            </a:r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An approach to perform </a:t>
            </a:r>
            <a:endParaRPr xmlns:a="http://schemas.openxmlformats.org/drawingml/2006/main" lang="en-US" altLang="ja-JP" sz="1600" dirty="0"/>
            <a:r xmlns:a="http://schemas.openxmlformats.org/drawingml/2006/main">
              <a:rPr lang="en" altLang="ja-JP" sz="1600" dirty="0"/>
              <a:t>attestation on </a:t>
            </a:r>
            <a:r xmlns:a="http://schemas.openxmlformats.org/drawingml/2006/main">
              <a:rPr lang="en" altLang="en-US" sz="1600" dirty="0"/>
              <a:t>a </a:t>
            </a:r>
            <a:r xmlns:a="http://schemas.openxmlformats.org/drawingml/2006/main">
              <a:rPr lang="en" altLang="ja-JP" sz="1600" dirty="0"/>
              <a:t>group </a:t>
            </a:r>
            <a:r xmlns:a="http://schemas.openxmlformats.org/drawingml/2006/main">
              <a:rPr lang="en" altLang="en-US" sz="1600" dirty="0"/>
              <a:t>collectively </a:t>
            </a:r>
            <a:r xmlns:a="http://schemas.openxmlformats.org/drawingml/2006/main">
              <a:rPr lang="en" altLang="ja-JP" sz="1600" dirty="0"/>
              <a:t>.</a:t>
            </a:r>
          </a:p>
          <a:p>
            <a:pPr xmlns:a="http://schemas.openxmlformats.org/drawingml/2006/main" lvl="1"/>
            <a:r xmlns:a="http://schemas.openxmlformats.org/drawingml/2006/main">
              <a:rPr lang="en" altLang="ja-JP" sz="1600" dirty="0" err="1"/>
              <a:t>N. Asokan </a:t>
            </a:r>
            <a:r xmlns:a="http://schemas.openxmlformats.org/drawingml/2006/main">
              <a:rPr lang="en" altLang="en-US" sz="1600" dirty="0"/>
              <a:t>et al. </a:t>
            </a:r>
            <a:r xmlns:a="http://schemas.openxmlformats.org/drawingml/2006/main">
              <a:rPr lang="en" altLang="en-US" sz="1600" dirty="0"/>
              <a:t>proposed </a:t>
            </a:r>
            <a:r xmlns:a="http://schemas.openxmlformats.org/drawingml/2006/main">
              <a:rPr lang="en" altLang="ja-JP" sz="1600" dirty="0"/>
              <a:t>SEDA </a:t>
            </a:r>
            <a:r xmlns:a="http://schemas.openxmlformats.org/drawingml/2006/main">
              <a:rPr lang="en" altLang="ja-JP" sz="1400" dirty="0"/>
              <a:t>(Scalable Embedded Device Attestation) ( </a:t>
            </a:r>
            <a:r xmlns:a="http://schemas.openxmlformats.org/drawingml/2006/main">
              <a:rPr lang="en" altLang="ja-JP" sz="1600" dirty="0"/>
              <a:t>2015 </a:t>
            </a:r>
            <a:r xmlns:a="http://schemas.openxmlformats.org/drawingml/2006/main">
              <a:rPr lang="en" altLang="en-US" sz="1600" dirty="0"/>
              <a:t>).</a:t>
            </a:r>
            <a:endParaRPr xmlns:a="http://schemas.openxmlformats.org/drawingml/2006/main" lang="en-US" altLang="ja-JP" sz="1600" dirty="0"/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Research on systems with numerous devices, such as </a:t>
            </a:r>
            <a:endParaRPr xmlns:a="http://schemas.openxmlformats.org/drawingml/2006/main" lang="en-US" altLang="ja-JP" sz="1600" dirty="0"/>
            <a:r xmlns:a="http://schemas.openxmlformats.org/drawingml/2006/main">
              <a:rPr lang="en" altLang="ja-JP" sz="1600" dirty="0"/>
              <a:t>IoT </a:t>
            </a:r>
            <a:r xmlns:a="http://schemas.openxmlformats.org/drawingml/2006/main">
              <a:rPr lang="en" altLang="en-US" sz="1600" dirty="0"/>
              <a:t>devices and </a:t>
            </a:r>
            <a:r xmlns:a="http://schemas.openxmlformats.org/drawingml/2006/main">
              <a:rPr lang="en" altLang="ja-JP" sz="1600" dirty="0"/>
              <a:t>network devices.</a:t>
            </a:r>
          </a:p>
          <a:p>
            <a:pPr lvl="1"/>
            <a:endParaRPr lang="en-US" altLang="ja-JP" sz="1800" dirty="0"/>
          </a:p>
          <a:p>
            <a:r xmlns:a="http://schemas.openxmlformats.org/drawingml/2006/main">
              <a:rPr lang="en" altLang="ja-JP" sz="2200" dirty="0"/>
              <a:t>Attested TLS</a:t>
            </a:r>
            <a:r xmlns:a="http://schemas.openxmlformats.org/drawingml/2006/main">
              <a:rPr lang="en" altLang="en-US" sz="2200" dirty="0"/>
              <a:t> </a:t>
            </a:r>
            <a:r xmlns:a="http://schemas.openxmlformats.org/drawingml/2006/main">
              <a:rPr lang="en" altLang="ja-JP" sz="2200" dirty="0"/>
              <a:t>/</a:t>
            </a:r>
            <a:r xmlns:a="http://schemas.openxmlformats.org/drawingml/2006/main">
              <a:rPr lang="en" altLang="en-US" sz="2200" dirty="0"/>
              <a:t> </a:t>
            </a:r>
            <a:r xmlns:a="http://schemas.openxmlformats.org/drawingml/2006/main">
              <a:rPr lang="en" altLang="ja-JP" sz="2200" dirty="0"/>
              <a:t>RA-TLS</a:t>
            </a:r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A method of applying </a:t>
            </a:r>
            <a:endParaRPr xmlns:a="http://schemas.openxmlformats.org/drawingml/2006/main" lang="en-US" altLang="ja-JP" sz="1600" dirty="0"/>
            <a:r xmlns:a="http://schemas.openxmlformats.org/drawingml/2006/main">
              <a:rPr lang="en" altLang="ja-JP" sz="1600" dirty="0"/>
              <a:t>Attestation </a:t>
            </a:r>
            <a:r xmlns:a="http://schemas.openxmlformats.org/drawingml/2006/main">
              <a:rPr lang="en" altLang="en-US" sz="1600" dirty="0"/>
              <a:t>to </a:t>
            </a:r>
            <a:r xmlns:a="http://schemas.openxmlformats.org/drawingml/2006/main">
              <a:rPr lang="en" altLang="en-US" sz="1600" dirty="0"/>
              <a:t>the </a:t>
            </a:r>
            <a:r xmlns:a="http://schemas.openxmlformats.org/drawingml/2006/main">
              <a:rPr lang="en" altLang="ja-JP" sz="1600" dirty="0"/>
              <a:t>TLS </a:t>
            </a:r>
            <a:r xmlns:a="http://schemas.openxmlformats.org/drawingml/2006/main">
              <a:rPr lang="en" altLang="ja-JP" sz="1600" dirty="0"/>
              <a:t>Secure Channel .</a:t>
            </a:r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An </a:t>
            </a:r>
            <a:r xmlns:a="http://schemas.openxmlformats.org/drawingml/2006/main">
              <a:rPr lang="en" altLang="ja-JP" sz="1600" dirty="0"/>
              <a:t>Intel Labs </a:t>
            </a:r>
            <a:r xmlns:a="http://schemas.openxmlformats.org/drawingml/2006/main">
              <a:rPr lang="en" altLang="en-US" sz="1600" dirty="0"/>
              <a:t>White </a:t>
            </a:r>
            <a:r xmlns:a="http://schemas.openxmlformats.org/drawingml/2006/main">
              <a:rPr lang="en" altLang="ja-JP" sz="1600" dirty="0"/>
              <a:t>Paper </a:t>
            </a:r>
            <a:r xmlns:a="http://schemas.openxmlformats.org/drawingml/2006/main">
              <a:rPr lang="en" altLang="en-US" sz="1600" dirty="0"/>
              <a:t>mentions connectivity between </a:t>
            </a:r>
            <a:r xmlns:a="http://schemas.openxmlformats.org/drawingml/2006/main">
              <a:rPr lang="en" altLang="ja-JP" sz="1600" dirty="0"/>
              <a:t>SGX Enclaves ( </a:t>
            </a:r>
            <a:r xmlns:a="http://schemas.openxmlformats.org/drawingml/2006/main">
              <a:rPr lang="en" altLang="ja-JP" sz="1600" dirty="0"/>
              <a:t>2018 </a:t>
            </a:r>
            <a:r xmlns:a="http://schemas.openxmlformats.org/drawingml/2006/main">
              <a:rPr lang="en" altLang="en-US" sz="1600" dirty="0"/>
              <a:t>).</a:t>
            </a:r>
            <a:endParaRPr xmlns:a="http://schemas.openxmlformats.org/drawingml/2006/main" lang="en-US" altLang="ja-JP" sz="1600" dirty="0"/>
          </a:p>
          <a:p>
            <a:pPr xmlns:a="http://schemas.openxmlformats.org/drawingml/2006/main" lvl="1"/>
            <a:r xmlns:a="http://schemas.openxmlformats.org/drawingml/2006/main">
              <a:rPr lang="en" altLang="ja-JP" sz="1600" dirty="0"/>
              <a:t>IETF </a:t>
            </a:r>
            <a:r xmlns:a="http://schemas.openxmlformats.org/drawingml/2006/main">
              <a:rPr lang="en" altLang="ja-JP" sz="1600" dirty="0"/>
              <a:t>Internet Drafts </a:t>
            </a:r>
            <a:r xmlns:a="http://schemas.openxmlformats.org/drawingml/2006/main">
              <a:rPr lang="en" altLang="en-US" sz="1600" dirty="0"/>
              <a:t>also exist ( </a:t>
            </a:r>
            <a:r xmlns:a="http://schemas.openxmlformats.org/drawingml/2006/main">
              <a:rPr lang="en" altLang="ja-JP" sz="1600" dirty="0"/>
              <a:t>2022- </a:t>
            </a:r>
            <a:r xmlns:a="http://schemas.openxmlformats.org/drawingml/2006/main">
              <a:rPr lang="en" altLang="en-US" sz="1600" dirty="0"/>
              <a:t>) </a:t>
            </a:r>
            <a:br xmlns:a="http://schemas.openxmlformats.org/drawingml/2006/main">
              <a:rPr lang="en-US" altLang="ja-JP" sz="1600" dirty="0"/>
            </a:br>
            <a:br xmlns:a="http://schemas.openxmlformats.org/drawingml/2006/main">
              <a:rPr lang="en-US" altLang="ja-JP" sz="1600" dirty="0"/>
            </a:br>
            <a:endParaRPr xmlns:a="http://schemas.openxmlformats.org/drawingml/2006/main" lang="en-US" altLang="ja-JP" sz="2400" dirty="0"/>
            <a:r xmlns:a="http://schemas.openxmlformats.org/drawingml/2006/main">
              <a:rPr lang="en" altLang="en-US" sz="1600" dirty="0"/>
              <a:t>.</a:t>
            </a:r>
          </a:p>
          <a:p>
            <a:r xmlns:a="http://schemas.openxmlformats.org/drawingml/2006/main">
              <a:rPr lang="en" altLang="ja-JP" sz="2200" dirty="0"/>
              <a:t>Direct Anonymous Attestation / Enhanced Privacy ID</a:t>
            </a:r>
          </a:p>
          <a:p>
            <a:pPr xmlns:a="http://schemas.openxmlformats.org/drawingml/2006/main" lvl="1"/>
            <a:r xmlns:a="http://schemas.openxmlformats.org/drawingml/2006/main">
              <a:rPr lang="en" altLang="ja-JP" sz="1600" dirty="0"/>
              <a:t>DAA </a:t>
            </a:r>
            <a:r xmlns:a="http://schemas.openxmlformats.org/drawingml/2006/main">
              <a:rPr lang="en" altLang="en-US" sz="1600" dirty="0"/>
              <a:t>: </a:t>
            </a:r>
            <a:r xmlns:a="http://schemas.openxmlformats.org/drawingml/2006/main">
              <a:rPr lang="en" altLang="en-US" sz="1600" dirty="0"/>
              <a:t>Proposed by </a:t>
            </a:r>
            <a:r xmlns:a="http://schemas.openxmlformats.org/drawingml/2006/main">
              <a:rPr lang="en" altLang="ja-JP" sz="1600" dirty="0"/>
              <a:t>Ernie Brickell et al. ( </a:t>
            </a:r>
            <a:r xmlns:a="http://schemas.openxmlformats.org/drawingml/2006/main">
              <a:rPr lang="en" altLang="ja-JP" sz="1600" dirty="0"/>
              <a:t>2004 </a:t>
            </a:r>
            <a:r xmlns:a="http://schemas.openxmlformats.org/drawingml/2006/main">
              <a:rPr lang="en" altLang="en-US" sz="1600" dirty="0"/>
              <a:t>)</a:t>
            </a:r>
            <a:endParaRPr xmlns:a="http://schemas.openxmlformats.org/drawingml/2006/main" lang="en-US" altLang="ja-JP" sz="1600" dirty="0"/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The relationship between verification keys and signing keys is extended from 1:1 to 1:many.</a:t>
            </a:r>
            <a:endParaRPr xmlns:a="http://schemas.openxmlformats.org/drawingml/2006/main" lang="en-US" altLang="ja-JP" sz="1600" dirty="0"/>
          </a:p>
          <a:p>
            <a:pPr xmlns:a="http://schemas.openxmlformats.org/drawingml/2006/main" lvl="1"/>
            <a:r xmlns:a="http://schemas.openxmlformats.org/drawingml/2006/main">
              <a:rPr lang="en" altLang="en-US" sz="1600" dirty="0"/>
              <a:t>Signature verification without identifying the members belonging to the group.</a:t>
            </a:r>
            <a:endParaRPr xmlns:a="http://schemas.openxmlformats.org/drawingml/2006/main" lang="en-US" altLang="ja-JP" sz="1600" dirty="0"/>
          </a:p>
          <a:p>
            <a:pPr xmlns:a="http://schemas.openxmlformats.org/drawingml/2006/main" lvl="1"/>
            <a:r xmlns:a="http://schemas.openxmlformats.org/drawingml/2006/main">
              <a:rPr lang="en" altLang="ja-JP" sz="1600" dirty="0"/>
              <a:t>Intel SGX </a:t>
            </a:r>
            <a:r xmlns:a="http://schemas.openxmlformats.org/drawingml/2006/main">
              <a:rPr lang="en" altLang="en-US" sz="1600" dirty="0"/>
              <a:t>implements a mechanism called </a:t>
            </a:r>
            <a:endParaRPr xmlns:a="http://schemas.openxmlformats.org/drawingml/2006/main" lang="en-US" altLang="ja-JP" sz="1600" dirty="0"/>
            <a:r xmlns:a="http://schemas.openxmlformats.org/drawingml/2006/main">
              <a:rPr lang="en" altLang="ja-JP" sz="1600" dirty="0"/>
              <a:t>EPID </a:t>
            </a:r>
            <a:r xmlns:a="http://schemas.openxmlformats.org/drawingml/2006/main">
              <a:rPr lang="en" altLang="en-US" sz="1600" dirty="0"/>
              <a:t>that takes into account the revocation of signing keys.</a:t>
            </a:r>
          </a:p>
        </p:txBody>
      </p:sp>
      <p:sp>
        <p:nvSpPr>
          <p:cNvPr id="4" name="吹き出し: 線 3">
            <a:extLst>
              <a:ext uri="{FF2B5EF4-FFF2-40B4-BE49-F238E27FC236}">
                <a16:creationId xmlns:a16="http://schemas.microsoft.com/office/drawing/2014/main" id="{C58F3BC2-EF76-DCDB-9122-60516CED68F5}"/>
              </a:ext>
            </a:extLst>
          </p:cNvPr>
          <p:cNvSpPr/>
          <p:nvPr/>
        </p:nvSpPr>
        <p:spPr>
          <a:xfrm>
            <a:off x="9432490" y="1488646"/>
            <a:ext cx="2321142" cy="731342"/>
          </a:xfrm>
          <a:prstGeom prst="borderCallout1">
            <a:avLst>
              <a:gd name="adj1" fmla="val 51610"/>
              <a:gd name="adj2" fmla="val 66"/>
              <a:gd name="adj3" fmla="val 7138"/>
              <a:gd name="adj4" fmla="val -72383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Task 1:</a:t>
            </a:r>
            <a:endParaRPr xmlns:a="http://schemas.openxmlformats.org/drawingml/2006/main" lang="en-US" altLang="ja-JP" sz="1600" dirty="0">
              <a:solidFill>
                <a:schemeClr val="tx1"/>
              </a:solidFill>
            </a:endParaRPr>
          </a:p>
          <a:p>
            <a:r xmlns:a="http://schemas.openxmlformats.org/drawingml/2006/main">
              <a:rPr lang="en" altLang="ja-JP" sz="1600" dirty="0">
                <a:solidFill>
                  <a:schemeClr val="tx1"/>
                </a:solidFill>
              </a:rPr>
              <a:t>the TEE </a:t>
            </a:r>
            <a:r xmlns:a="http://schemas.openxmlformats.org/drawingml/2006/main">
              <a:rPr lang="en" altLang="en-US" sz="1600" dirty="0">
                <a:solidFill>
                  <a:schemeClr val="tx1"/>
                </a:solidFill>
              </a:rPr>
              <a:t>usage environment.</a:t>
            </a:r>
            <a:endParaRPr xmlns:a="http://schemas.openxmlformats.org/drawingml/2006/main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0B2FB9BE-3448-F02D-42A0-C24A950CD7F2}"/>
              </a:ext>
            </a:extLst>
          </p:cNvPr>
          <p:cNvSpPr/>
          <p:nvPr/>
        </p:nvSpPr>
        <p:spPr>
          <a:xfrm>
            <a:off x="9163135" y="4549411"/>
            <a:ext cx="2393276" cy="581405"/>
          </a:xfrm>
          <a:prstGeom prst="borderCallout1">
            <a:avLst>
              <a:gd name="adj1" fmla="val 18517"/>
              <a:gd name="adj2" fmla="val -1188"/>
              <a:gd name="adj3" fmla="val 82331"/>
              <a:gd name="adj4" fmla="val -57360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 xmlns:a="http://schemas.openxmlformats.org/drawingml/2006/main">
              <a:rPr kumimoji="1" lang="en" altLang="en-US" dirty="0">
                <a:solidFill>
                  <a:schemeClr val="tx1"/>
                </a:solidFill>
              </a:rPr>
              <a:t>Task 2:</a:t>
            </a:r>
            <a:endParaRPr xmlns:a="http://schemas.openxmlformats.org/drawingml/2006/main" kumimoji="1" lang="en-US" altLang="ja-JP" dirty="0">
              <a:solidFill>
                <a:schemeClr val="tx1"/>
              </a:solidFill>
            </a:endParaRPr>
          </a:p>
          <a:p>
            <a:r xmlns:a="http://schemas.openxmlformats.org/drawingml/2006/main">
              <a:rPr kumimoji="1" lang="en" altLang="en-US" dirty="0">
                <a:solidFill>
                  <a:schemeClr val="tx1"/>
                </a:solidFill>
              </a:rPr>
              <a:t>Advanced </a:t>
            </a:r>
            <a:endParaRPr xmlns:a="http://schemas.openxmlformats.org/drawingml/2006/main" kumimoji="1" lang="en-US" altLang="ja-JP" dirty="0">
              <a:solidFill>
                <a:schemeClr val="tx1"/>
              </a:solidFill>
            </a:endParaRPr>
            <a:r xmlns:a="http://schemas.openxmlformats.org/drawingml/2006/main">
              <a:rPr kumimoji="1" lang="en" altLang="ja-JP" dirty="0">
                <a:solidFill>
                  <a:schemeClr val="tx1"/>
                </a:solidFill>
              </a:rPr>
              <a:t>CC</a:t>
            </a:r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CE41891D-F44C-C87C-E801-EDDED71E6824}"/>
              </a:ext>
            </a:extLst>
          </p:cNvPr>
          <p:cNvSpPr/>
          <p:nvPr/>
        </p:nvSpPr>
        <p:spPr>
          <a:xfrm>
            <a:off x="10323706" y="5202298"/>
            <a:ext cx="409303" cy="33963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03CAD5-7DDC-95A7-7770-A8BE1C0AB7A0}"/>
              </a:ext>
            </a:extLst>
          </p:cNvPr>
          <p:cNvSpPr txBox="1"/>
          <p:nvPr/>
        </p:nvSpPr>
        <p:spPr>
          <a:xfrm>
            <a:off x="8680586" y="5626711"/>
            <a:ext cx="33583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b="1" u="sng" dirty="0">
                <a:solidFill>
                  <a:srgbClr val="FF0000"/>
                </a:solidFill>
              </a:rPr>
              <a:t>Question </a:t>
            </a:r>
            <a:r xmlns:a="http://schemas.openxmlformats.org/drawingml/2006/main">
              <a:rPr kumimoji="1" lang="en" altLang="en-US" sz="1400" b="1" dirty="0">
                <a:solidFill>
                  <a:srgbClr val="FF0000"/>
                </a:solidFill>
              </a:rPr>
              <a:t>: </a:t>
            </a:r>
            <a:r xmlns:a="http://schemas.openxmlformats.org/drawingml/2006/main">
              <a:rPr kumimoji="1" lang="en" altLang="en-US" sz="1400" b="1" dirty="0">
                <a:solidFill>
                  <a:srgbClr val="FF0000"/>
                </a:solidFill>
              </a:rPr>
              <a:t>Can </a:t>
            </a:r>
            <a:endParaRPr xmlns:a="http://schemas.openxmlformats.org/drawingml/2006/main" kumimoji="1" lang="en-US" altLang="ja-JP" sz="1400" b="1" dirty="0">
              <a:solidFill>
                <a:srgbClr val="FF0000"/>
              </a:solidFill>
            </a:endParaRPr>
            <a:r xmlns:a="http://schemas.openxmlformats.org/drawingml/2006/main">
              <a:rPr kumimoji="1" lang="en" altLang="ja-JP" sz="1400" b="1" dirty="0">
                <a:solidFill>
                  <a:srgbClr val="FF0000"/>
                </a:solidFill>
              </a:rPr>
              <a:t>attestation be extended?</a:t>
            </a:r>
          </a:p>
          <a:p>
            <a:r xmlns:a="http://schemas.openxmlformats.org/drawingml/2006/main">
              <a:rPr kumimoji="1" lang="en" altLang="ja-JP" sz="12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of </a:t>
            </a:r>
            <a:r xmlns:a="http://schemas.openxmlformats.org/drawingml/2006/main">
              <a:rPr kumimoji="1" lang="en" altLang="en-US" sz="1200" dirty="0">
                <a:solidFill>
                  <a:srgbClr val="FF0000"/>
                </a:solidFill>
              </a:rPr>
              <a:t>confidential information </a:t>
            </a:r>
            <a:r xmlns:a="http://schemas.openxmlformats.org/drawingml/2006/main">
              <a:rPr kumimoji="1" lang="en" altLang="en-US" sz="1200" dirty="0">
                <a:solidFill>
                  <a:srgbClr val="FF0000"/>
                </a:solidFill>
              </a:rPr>
              <a:t>,</a:t>
            </a:r>
            <a:endParaRPr xmlns:a="http://schemas.openxmlformats.org/drawingml/2006/main" lang="en-US" altLang="ja-JP" sz="1200" dirty="0">
              <a:solidFill>
                <a:srgbClr val="FF0000"/>
              </a:solidFill>
            </a:endParaRPr>
          </a:p>
          <a:p>
            <a:r xmlns:a="http://schemas.openxmlformats.org/drawingml/2006/main">
              <a:rPr lang="en" altLang="ja-JP" sz="1200" dirty="0">
                <a:solidFill>
                  <a:srgbClr val="FF0000"/>
                </a:solidFill>
              </a:rPr>
              <a:t>Attestation systems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requiring anonymity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are still immature. </a:t>
            </a:r>
            <a:br xmlns:a="http://schemas.openxmlformats.org/drawingml/2006/main">
              <a:rPr lang="en-US" altLang="ja-JP" sz="1200" dirty="0">
                <a:solidFill>
                  <a:srgbClr val="FF0000"/>
                </a:solidFill>
              </a:rPr>
            </a:b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(e.g., private keys and confidential </a:t>
            </a:r>
            <a:r xmlns:a="http://schemas.openxmlformats.org/drawingml/2006/main">
              <a:rPr kumimoji="1" lang="en" altLang="en-US" sz="1200" dirty="0">
                <a:solidFill>
                  <a:srgbClr val="FF0000"/>
                </a:solidFill>
              </a:rPr>
              <a:t>software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)</a:t>
            </a:r>
            <a:endParaRPr xmlns:a="http://schemas.openxmlformats.org/drawingml/2006/main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2B56F34C-647E-EFD4-70EA-201FD0AEB78C}"/>
              </a:ext>
            </a:extLst>
          </p:cNvPr>
          <p:cNvSpPr/>
          <p:nvPr/>
        </p:nvSpPr>
        <p:spPr>
          <a:xfrm>
            <a:off x="10323706" y="2365493"/>
            <a:ext cx="409303" cy="33963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9763168-C966-9E53-8884-C91DA0BAF40D}"/>
              </a:ext>
            </a:extLst>
          </p:cNvPr>
          <p:cNvSpPr txBox="1"/>
          <p:nvPr/>
        </p:nvSpPr>
        <p:spPr>
          <a:xfrm>
            <a:off x="8692201" y="2776609"/>
            <a:ext cx="31305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400" b="1" u="sng" dirty="0">
                <a:solidFill>
                  <a:srgbClr val="FF0000"/>
                </a:solidFill>
              </a:rPr>
              <a:t>Question </a:t>
            </a:r>
            <a:r xmlns:a="http://schemas.openxmlformats.org/drawingml/2006/main">
              <a:rPr lang="en" altLang="en-US" sz="1400" b="1" dirty="0">
                <a:solidFill>
                  <a:srgbClr val="FF0000"/>
                </a:solidFill>
              </a:rPr>
              <a:t>: </a:t>
            </a:r>
            <a:r xmlns:a="http://schemas.openxmlformats.org/drawingml/2006/main">
              <a:rPr lang="en" altLang="en-US" sz="1400" b="1" dirty="0">
                <a:solidFill>
                  <a:srgbClr val="FF0000"/>
                </a:solidFill>
              </a:rPr>
              <a:t>Is improvement to </a:t>
            </a:r>
            <a:r xmlns:a="http://schemas.openxmlformats.org/drawingml/2006/main">
              <a:rPr lang="en" altLang="ja-JP" sz="1400" b="1" dirty="0">
                <a:solidFill>
                  <a:srgbClr val="FF0000"/>
                </a:solidFill>
              </a:rPr>
              <a:t>attestation necessary? If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there are shortcomings in </a:t>
            </a:r>
            <a:r xmlns:a="http://schemas.openxmlformats.org/drawingml/2006/main">
              <a:rPr lang="en" altLang="ja-JP" sz="1200" dirty="0">
                <a:solidFill>
                  <a:srgbClr val="FF0000"/>
                </a:solidFill>
              </a:rPr>
              <a:t>CC , or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if </a:t>
            </a:r>
            <a:r xmlns:a="http://schemas.openxmlformats.org/drawingml/2006/main">
              <a:rPr lang="en" altLang="ja-JP" sz="1200" dirty="0">
                <a:solidFill>
                  <a:srgbClr val="FF0000"/>
                </a:solidFill>
              </a:rPr>
              <a:t>CC alone is insufficient, then improvement to </a:t>
            </a:r>
            <a:r xmlns:a="http://schemas.openxmlformats.org/drawingml/2006/main">
              <a:rPr lang="en" altLang="ja-JP" sz="12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is necessary.</a:t>
            </a:r>
            <a:endParaRPr xmlns:a="http://schemas.openxmlformats.org/drawingml/2006/main" lang="en-US" altLang="ja-JP" sz="1200" dirty="0">
              <a:solidFill>
                <a:srgbClr val="FF0000"/>
              </a:solidFill>
            </a:endParaRPr>
          </a:p>
          <a:p>
            <a:r xmlns:a="http://schemas.openxmlformats.org/drawingml/2006/main">
              <a:rPr lang="en" altLang="en-US" sz="1200" dirty="0">
                <a:solidFill>
                  <a:srgbClr val="FF0000"/>
                </a:solidFill>
              </a:rPr>
              <a:t>(Example: cluster configuration, etc.)</a:t>
            </a:r>
            <a:endParaRPr xmlns:a="http://schemas.openxmlformats.org/drawingml/2006/main" lang="en-US" altLang="ja-JP" sz="1200" dirty="0">
              <a:solidFill>
                <a:srgbClr val="FF0000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D37229E-CFA6-D621-CD9B-59B160DF5658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722704" y="1854317"/>
            <a:ext cx="1709786" cy="1315135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DD12D7-983F-59DA-27C3-45CD282D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82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B5F2EB-B699-1EFB-8C55-84CF0531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approach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DDD880-D304-2388-0AA5-E2EA1C93B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318"/>
            <a:ext cx="11133844" cy="686389"/>
          </a:xfrm>
        </p:spPr>
        <p:txBody>
          <a:bodyPr>
            <a:normAutofit fontScale="92500"/>
          </a:bodyPr>
          <a:lstStyle/>
          <a:p>
            <a:pPr xmlns:a="http://schemas.openxmlformats.org/drawingml/2006/main" marL="0" indent="0">
              <a:buNone/>
            </a:pPr>
            <a:r xmlns:a="http://schemas.openxmlformats.org/drawingml/2006/main">
              <a:rPr kumimoji="1" lang="en" altLang="en-US" sz="2400" b="1" dirty="0"/>
              <a:t>Design and implement </a:t>
            </a:r>
            <a:r xmlns:a="http://schemas.openxmlformats.org/drawingml/2006/main">
              <a:rPr lang="en" altLang="en-US" sz="2400" b="1" dirty="0"/>
              <a:t>the necessary cryptographic technologies and key management systems for </a:t>
            </a:r>
            <a:r xmlns:a="http://schemas.openxmlformats.org/drawingml/2006/main">
              <a:rPr lang="en" altLang="ja-JP" sz="2400" b="1" dirty="0"/>
              <a:t>CC </a:t>
            </a:r>
            <a:r xmlns:a="http://schemas.openxmlformats.org/drawingml/2006/main">
              <a:rPr lang="en" altLang="en-US" sz="2400" b="1" dirty="0"/>
              <a:t>'s </a:t>
            </a:r>
            <a:r xmlns:a="http://schemas.openxmlformats.org/drawingml/2006/main">
              <a:rPr lang="en" altLang="ja-JP" sz="2400" b="1" dirty="0"/>
              <a:t>Remote Attestation appropriately.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DB296A-72D1-4176-6C0D-A06EF12CF0CE}"/>
              </a:ext>
            </a:extLst>
          </p:cNvPr>
          <p:cNvSpPr/>
          <p:nvPr/>
        </p:nvSpPr>
        <p:spPr>
          <a:xfrm>
            <a:off x="1481441" y="5328957"/>
            <a:ext cx="1280640" cy="4088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C6936C-1CDE-BD1F-642F-15A94F7C0EAE}"/>
              </a:ext>
            </a:extLst>
          </p:cNvPr>
          <p:cNvSpPr txBox="1"/>
          <p:nvPr/>
        </p:nvSpPr>
        <p:spPr>
          <a:xfrm>
            <a:off x="1549170" y="5412982"/>
            <a:ext cx="1142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dirty="0"/>
              <a:t>Root of Trust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41F435-1117-FC2E-2BE1-B2F2AB094421}"/>
              </a:ext>
            </a:extLst>
          </p:cNvPr>
          <p:cNvSpPr/>
          <p:nvPr/>
        </p:nvSpPr>
        <p:spPr>
          <a:xfrm>
            <a:off x="1481441" y="3781690"/>
            <a:ext cx="1280640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6EBEFC9-4382-C220-35B9-BB314959FDED}"/>
              </a:ext>
            </a:extLst>
          </p:cNvPr>
          <p:cNvCxnSpPr>
            <a:cxnSpLocks/>
          </p:cNvCxnSpPr>
          <p:nvPr/>
        </p:nvCxnSpPr>
        <p:spPr>
          <a:xfrm flipV="1">
            <a:off x="2447362" y="4423985"/>
            <a:ext cx="0" cy="94738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EBB0D1-3A4C-0382-6D5A-E019FA50BE30}"/>
              </a:ext>
            </a:extLst>
          </p:cNvPr>
          <p:cNvSpPr txBox="1"/>
          <p:nvPr/>
        </p:nvSpPr>
        <p:spPr>
          <a:xfrm>
            <a:off x="1481441" y="3782096"/>
            <a:ext cx="1142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200" dirty="0"/>
              <a:t>Isolation execution environment</a:t>
            </a:r>
            <a:endParaRPr xmlns:a="http://schemas.openxmlformats.org/drawingml/2006/main" lang="en-US" altLang="ja-JP" sz="1200" dirty="0"/>
          </a:p>
          <a:p>
            <a:r xmlns:a="http://schemas.openxmlformats.org/drawingml/2006/main">
              <a:rPr kumimoji="1" lang="en" altLang="ja-JP" sz="1200" dirty="0"/>
              <a:t>(TEE)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1CD62BB-6406-7CCC-DBC5-D99CF978E451}"/>
              </a:ext>
            </a:extLst>
          </p:cNvPr>
          <p:cNvSpPr txBox="1"/>
          <p:nvPr/>
        </p:nvSpPr>
        <p:spPr>
          <a:xfrm>
            <a:off x="1213803" y="4850027"/>
            <a:ext cx="1342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Chain</a:t>
            </a:r>
            <a:r xmlns:a="http://schemas.openxmlformats.org/drawingml/2006/main">
              <a:rPr lang="en" altLang="en-US" sz="1200" dirty="0"/>
              <a:t> </a:t>
            </a:r>
            <a:r xmlns:a="http://schemas.openxmlformats.org/drawingml/2006/main">
              <a:rPr lang="en" altLang="ja-JP" sz="1200" dirty="0"/>
              <a:t>of Trust</a:t>
            </a:r>
            <a:endParaRPr xmlns:a="http://schemas.openxmlformats.org/drawingml/2006/main" kumimoji="1" lang="ja-JP" altLang="en-US" sz="12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C4C9BFE-0BED-5FE0-B751-B5ADBDB18580}"/>
              </a:ext>
            </a:extLst>
          </p:cNvPr>
          <p:cNvCxnSpPr>
            <a:cxnSpLocks/>
          </p:cNvCxnSpPr>
          <p:nvPr/>
        </p:nvCxnSpPr>
        <p:spPr>
          <a:xfrm>
            <a:off x="3231654" y="5090204"/>
            <a:ext cx="92550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6E0477C-F4F4-009A-DD76-D3360FD9BFEA}"/>
              </a:ext>
            </a:extLst>
          </p:cNvPr>
          <p:cNvSpPr txBox="1"/>
          <p:nvPr/>
        </p:nvSpPr>
        <p:spPr>
          <a:xfrm>
            <a:off x="3187986" y="5229401"/>
            <a:ext cx="1012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Remote </a:t>
            </a:r>
            <a:br xmlns:a="http://schemas.openxmlformats.org/drawingml/2006/main">
              <a:rPr lang="en-US" altLang="ja-JP" sz="1200" dirty="0"/>
            </a:br>
            <a:r xmlns:a="http://schemas.openxmlformats.org/drawingml/2006/main">
              <a:rPr lang="en" altLang="ja-JP" sz="1200" dirty="0"/>
              <a:t>Attestation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79CBCB45-19C0-8391-38DD-0D87DB5FB222}"/>
              </a:ext>
            </a:extLst>
          </p:cNvPr>
          <p:cNvSpPr/>
          <p:nvPr/>
        </p:nvSpPr>
        <p:spPr>
          <a:xfrm>
            <a:off x="4432201" y="4853307"/>
            <a:ext cx="279400" cy="2368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43DF33E4-71E1-DA23-7D9E-751AECF5F29A}"/>
              </a:ext>
            </a:extLst>
          </p:cNvPr>
          <p:cNvSpPr/>
          <p:nvPr/>
        </p:nvSpPr>
        <p:spPr>
          <a:xfrm>
            <a:off x="4415267" y="5001724"/>
            <a:ext cx="313262" cy="25060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EBB0C66B-15F3-6DE7-FF64-E43E37F3A7CF}"/>
              </a:ext>
            </a:extLst>
          </p:cNvPr>
          <p:cNvSpPr/>
          <p:nvPr/>
        </p:nvSpPr>
        <p:spPr>
          <a:xfrm>
            <a:off x="3107600" y="3564997"/>
            <a:ext cx="1079863" cy="305708"/>
          </a:xfrm>
          <a:prstGeom prst="wedgeRectCallout">
            <a:avLst>
              <a:gd name="adj1" fmla="val -84407"/>
              <a:gd name="adj2" fmla="val 55828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100" dirty="0">
                <a:solidFill>
                  <a:schemeClr val="tx1"/>
                </a:solidFill>
              </a:rPr>
              <a:t>Memory encryption</a:t>
            </a:r>
            <a:endParaRPr xmlns:a="http://schemas.openxmlformats.org/drawingml/2006/main"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6028F66D-1BD6-894F-1211-59C2192E0ADB}"/>
              </a:ext>
            </a:extLst>
          </p:cNvPr>
          <p:cNvSpPr/>
          <p:nvPr/>
        </p:nvSpPr>
        <p:spPr>
          <a:xfrm>
            <a:off x="2524430" y="5927543"/>
            <a:ext cx="1079863" cy="408847"/>
          </a:xfrm>
          <a:prstGeom prst="wedgeRectCallout">
            <a:avLst>
              <a:gd name="adj1" fmla="val -40052"/>
              <a:gd name="adj2" fmla="val -123689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en-US" sz="1100" dirty="0">
                <a:solidFill>
                  <a:schemeClr val="tx1"/>
                </a:solidFill>
              </a:rPr>
              <a:t>・Tamper-resistant</a:t>
            </a:r>
            <a:endParaRPr xmlns:a="http://schemas.openxmlformats.org/drawingml/2006/main" lang="en-US" altLang="ja-JP" sz="1100" dirty="0">
              <a:solidFill>
                <a:schemeClr val="tx1"/>
              </a:solidFill>
            </a:endParaRPr>
          </a:p>
          <a:p>
            <a:r xmlns:a="http://schemas.openxmlformats.org/drawingml/2006/main">
              <a:rPr kumimoji="1" lang="en" altLang="en-US" sz="1100" dirty="0">
                <a:solidFill>
                  <a:schemeClr val="tx1"/>
                </a:solidFill>
              </a:rPr>
              <a:t>・Key management</a:t>
            </a:r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ADC47D29-F20E-A91C-80FB-EEA47FA5A99F}"/>
              </a:ext>
            </a:extLst>
          </p:cNvPr>
          <p:cNvSpPr/>
          <p:nvPr/>
        </p:nvSpPr>
        <p:spPr>
          <a:xfrm>
            <a:off x="2564868" y="4201550"/>
            <a:ext cx="2032066" cy="791374"/>
          </a:xfrm>
          <a:custGeom>
            <a:avLst/>
            <a:gdLst>
              <a:gd name="connsiteX0" fmla="*/ 595818 w 2280823"/>
              <a:gd name="connsiteY0" fmla="*/ 0 h 791374"/>
              <a:gd name="connsiteX1" fmla="*/ 809258 w 2280823"/>
              <a:gd name="connsiteY1" fmla="*/ 0 h 791374"/>
              <a:gd name="connsiteX2" fmla="*/ 1000183 w 2280823"/>
              <a:gd name="connsiteY2" fmla="*/ 0 h 791374"/>
              <a:gd name="connsiteX3" fmla="*/ 1129418 w 2280823"/>
              <a:gd name="connsiteY3" fmla="*/ 0 h 791374"/>
              <a:gd name="connsiteX4" fmla="*/ 1213623 w 2280823"/>
              <a:gd name="connsiteY4" fmla="*/ 0 h 791374"/>
              <a:gd name="connsiteX5" fmla="*/ 1533783 w 2280823"/>
              <a:gd name="connsiteY5" fmla="*/ 0 h 791374"/>
              <a:gd name="connsiteX6" fmla="*/ 1876458 w 2280823"/>
              <a:gd name="connsiteY6" fmla="*/ 0 h 791374"/>
              <a:gd name="connsiteX7" fmla="*/ 2280823 w 2280823"/>
              <a:gd name="connsiteY7" fmla="*/ 0 h 791374"/>
              <a:gd name="connsiteX8" fmla="*/ 2280823 w 2280823"/>
              <a:gd name="connsiteY8" fmla="*/ 226529 h 791374"/>
              <a:gd name="connsiteX9" fmla="*/ 2280823 w 2280823"/>
              <a:gd name="connsiteY9" fmla="*/ 323613 h 791374"/>
              <a:gd name="connsiteX10" fmla="*/ 2280823 w 2280823"/>
              <a:gd name="connsiteY10" fmla="*/ 388336 h 791374"/>
              <a:gd name="connsiteX11" fmla="*/ 1876458 w 2280823"/>
              <a:gd name="connsiteY11" fmla="*/ 388336 h 791374"/>
              <a:gd name="connsiteX12" fmla="*/ 1533783 w 2280823"/>
              <a:gd name="connsiteY12" fmla="*/ 388336 h 791374"/>
              <a:gd name="connsiteX13" fmla="*/ 1188143 w 2280823"/>
              <a:gd name="connsiteY13" fmla="*/ 791374 h 791374"/>
              <a:gd name="connsiteX14" fmla="*/ 1213623 w 2280823"/>
              <a:gd name="connsiteY14" fmla="*/ 388336 h 791374"/>
              <a:gd name="connsiteX15" fmla="*/ 1129418 w 2280823"/>
              <a:gd name="connsiteY15" fmla="*/ 388336 h 791374"/>
              <a:gd name="connsiteX16" fmla="*/ 1000183 w 2280823"/>
              <a:gd name="connsiteY16" fmla="*/ 388336 h 791374"/>
              <a:gd name="connsiteX17" fmla="*/ 809258 w 2280823"/>
              <a:gd name="connsiteY17" fmla="*/ 388336 h 791374"/>
              <a:gd name="connsiteX18" fmla="*/ 595818 w 2280823"/>
              <a:gd name="connsiteY18" fmla="*/ 388336 h 791374"/>
              <a:gd name="connsiteX19" fmla="*/ 595818 w 2280823"/>
              <a:gd name="connsiteY19" fmla="*/ 323613 h 791374"/>
              <a:gd name="connsiteX20" fmla="*/ 0 w 2280823"/>
              <a:gd name="connsiteY20" fmla="*/ 434323 h 791374"/>
              <a:gd name="connsiteX21" fmla="*/ 595818 w 2280823"/>
              <a:gd name="connsiteY21" fmla="*/ 226529 h 791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80823" h="791374">
                <a:moveTo>
                  <a:pt x="595818" y="0"/>
                </a:moveTo>
                <a:lnTo>
                  <a:pt x="809258" y="0"/>
                </a:lnTo>
                <a:lnTo>
                  <a:pt x="1000183" y="0"/>
                </a:lnTo>
                <a:lnTo>
                  <a:pt x="1129418" y="0"/>
                </a:lnTo>
                <a:lnTo>
                  <a:pt x="1213623" y="0"/>
                </a:lnTo>
                <a:lnTo>
                  <a:pt x="1533783" y="0"/>
                </a:lnTo>
                <a:lnTo>
                  <a:pt x="1876458" y="0"/>
                </a:lnTo>
                <a:lnTo>
                  <a:pt x="2280823" y="0"/>
                </a:lnTo>
                <a:lnTo>
                  <a:pt x="2280823" y="226529"/>
                </a:lnTo>
                <a:lnTo>
                  <a:pt x="2280823" y="323613"/>
                </a:lnTo>
                <a:lnTo>
                  <a:pt x="2280823" y="388336"/>
                </a:lnTo>
                <a:lnTo>
                  <a:pt x="1876458" y="388336"/>
                </a:lnTo>
                <a:lnTo>
                  <a:pt x="1533783" y="388336"/>
                </a:lnTo>
                <a:lnTo>
                  <a:pt x="1188143" y="791374"/>
                </a:lnTo>
                <a:lnTo>
                  <a:pt x="1213623" y="388336"/>
                </a:lnTo>
                <a:lnTo>
                  <a:pt x="1129418" y="388336"/>
                </a:lnTo>
                <a:lnTo>
                  <a:pt x="1000183" y="388336"/>
                </a:lnTo>
                <a:lnTo>
                  <a:pt x="809258" y="388336"/>
                </a:lnTo>
                <a:lnTo>
                  <a:pt x="595818" y="388336"/>
                </a:lnTo>
                <a:lnTo>
                  <a:pt x="595818" y="323613"/>
                </a:lnTo>
                <a:lnTo>
                  <a:pt x="0" y="434323"/>
                </a:lnTo>
                <a:lnTo>
                  <a:pt x="595818" y="22652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D62F42B-0943-E21C-3E0F-CECDBA4C1B83}"/>
              </a:ext>
            </a:extLst>
          </p:cNvPr>
          <p:cNvSpPr txBox="1"/>
          <p:nvPr/>
        </p:nvSpPr>
        <p:spPr>
          <a:xfrm>
            <a:off x="3098560" y="4185160"/>
            <a:ext cx="14168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100" dirty="0">
                <a:solidFill>
                  <a:schemeClr val="tx1"/>
                </a:solidFill>
              </a:rPr>
              <a:t>Signature/Certificate</a:t>
            </a:r>
            <a:endParaRPr xmlns:a="http://schemas.openxmlformats.org/drawingml/2006/main" lang="en-US" altLang="ja-JP" sz="1100" dirty="0">
              <a:solidFill>
                <a:schemeClr val="tx1"/>
              </a:solidFill>
            </a:endParaRPr>
          </a:p>
          <a:p>
            <a:r xmlns:a="http://schemas.openxmlformats.org/drawingml/2006/main">
              <a:rPr kumimoji="1" lang="en" altLang="en-US" sz="1100" dirty="0">
                <a:solidFill>
                  <a:schemeClr val="tx1"/>
                </a:solidFill>
              </a:rPr>
              <a:t>·hash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F8B2FB-37A4-6416-FCBE-6ADF431D9898}"/>
              </a:ext>
            </a:extLst>
          </p:cNvPr>
          <p:cNvSpPr txBox="1"/>
          <p:nvPr/>
        </p:nvSpPr>
        <p:spPr>
          <a:xfrm>
            <a:off x="703777" y="2340854"/>
            <a:ext cx="5055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ja-JP" sz="1600" dirty="0"/>
              <a:t>TEE </a:t>
            </a:r>
            <a:r xmlns:a="http://schemas.openxmlformats.org/drawingml/2006/main">
              <a:rPr lang="en" altLang="en-US" sz="1600" dirty="0"/>
              <a:t>, hardware and software utilize advanced cryptographic technology.</a:t>
            </a:r>
            <a:endParaRPr xmlns:a="http://schemas.openxmlformats.org/drawingml/2006/main" lang="en-US" altLang="ja-JP" sz="1600" dirty="0"/>
          </a:p>
          <a:p>
            <a:r xmlns:a="http://schemas.openxmlformats.org/drawingml/2006/main">
              <a:rPr lang="en" altLang="en-US" sz="1600" dirty="0"/>
              <a:t>Provides basic (important) security features.</a:t>
            </a:r>
            <a:endParaRPr xmlns:a="http://schemas.openxmlformats.org/drawingml/2006/main" lang="en-US" altLang="ja-JP" sz="16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57DFE80-E6F3-4DAF-12A8-35391C83409E}"/>
              </a:ext>
            </a:extLst>
          </p:cNvPr>
          <p:cNvSpPr/>
          <p:nvPr/>
        </p:nvSpPr>
        <p:spPr>
          <a:xfrm>
            <a:off x="7518753" y="5861125"/>
            <a:ext cx="1079863" cy="3248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C491DB1-06D0-7C33-A6F4-EC2327B6B66A}"/>
              </a:ext>
            </a:extLst>
          </p:cNvPr>
          <p:cNvSpPr txBox="1"/>
          <p:nvPr/>
        </p:nvSpPr>
        <p:spPr>
          <a:xfrm>
            <a:off x="7555264" y="5906884"/>
            <a:ext cx="11423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Root of Trust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4B892D9C-5E3D-47A5-32AE-80C88987B9A1}"/>
              </a:ext>
            </a:extLst>
          </p:cNvPr>
          <p:cNvCxnSpPr>
            <a:cxnSpLocks/>
          </p:cNvCxnSpPr>
          <p:nvPr/>
        </p:nvCxnSpPr>
        <p:spPr>
          <a:xfrm flipV="1">
            <a:off x="8439736" y="5248933"/>
            <a:ext cx="0" cy="61219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BF6F4B9-88D6-45FD-51C1-94D6AF1F8A67}"/>
              </a:ext>
            </a:extLst>
          </p:cNvPr>
          <p:cNvSpPr txBox="1"/>
          <p:nvPr/>
        </p:nvSpPr>
        <p:spPr>
          <a:xfrm>
            <a:off x="8439736" y="5632171"/>
            <a:ext cx="1342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Chain</a:t>
            </a:r>
            <a:r xmlns:a="http://schemas.openxmlformats.org/drawingml/2006/main">
              <a:rPr lang="en" altLang="en-US" sz="1050" dirty="0"/>
              <a:t> </a:t>
            </a:r>
            <a:r xmlns:a="http://schemas.openxmlformats.org/drawingml/2006/main">
              <a:rPr lang="en" altLang="ja-JP" sz="1050" dirty="0"/>
              <a:t>of Trust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EB29324-B60E-8ADA-3A32-30DADF4150D6}"/>
              </a:ext>
            </a:extLst>
          </p:cNvPr>
          <p:cNvCxnSpPr>
            <a:cxnSpLocks/>
          </p:cNvCxnSpPr>
          <p:nvPr/>
        </p:nvCxnSpPr>
        <p:spPr>
          <a:xfrm>
            <a:off x="9863582" y="4791987"/>
            <a:ext cx="92633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E034AA7-436B-58D2-C804-17B713FE40FB}"/>
              </a:ext>
            </a:extLst>
          </p:cNvPr>
          <p:cNvSpPr txBox="1"/>
          <p:nvPr/>
        </p:nvSpPr>
        <p:spPr>
          <a:xfrm>
            <a:off x="9908120" y="4874778"/>
            <a:ext cx="10128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Remote </a:t>
            </a:r>
            <a:br xmlns:a="http://schemas.openxmlformats.org/drawingml/2006/main">
              <a:rPr lang="en-US" altLang="ja-JP" sz="1050" dirty="0"/>
            </a:br>
            <a:r xmlns:a="http://schemas.openxmlformats.org/drawingml/2006/main">
              <a:rPr lang="en" altLang="ja-JP" sz="1050" dirty="0"/>
              <a:t>Attestation</a:t>
            </a:r>
            <a:endParaRPr xmlns:a="http://schemas.openxmlformats.org/drawingml/2006/main" kumimoji="1" lang="ja-JP" altLang="en-US" sz="105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3D3A564-4774-30DD-80EF-0EC2B5D9D4E6}"/>
              </a:ext>
            </a:extLst>
          </p:cNvPr>
          <p:cNvSpPr txBox="1"/>
          <p:nvPr/>
        </p:nvSpPr>
        <p:spPr>
          <a:xfrm>
            <a:off x="6932182" y="2239329"/>
            <a:ext cx="4937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ja-JP" sz="1600" dirty="0"/>
              <a:t>CC </a:t>
            </a:r>
            <a:r xmlns:a="http://schemas.openxmlformats.org/drawingml/2006/main">
              <a:rPr lang="en" altLang="en-US" sz="1600" dirty="0"/>
              <a:t>complexly integrated with cloud technologies </a:t>
            </a:r>
            <a:r xmlns:a="http://schemas.openxmlformats.org/drawingml/2006/main">
              <a:rPr lang="en" altLang="en-US" sz="1600" dirty="0"/>
              <a:t>, </a:t>
            </a:r>
            <a:br xmlns:a="http://schemas.openxmlformats.org/drawingml/2006/main">
              <a:rPr lang="en-US" altLang="ja-JP" sz="1600" dirty="0"/>
            </a:br>
            <a:r xmlns:a="http://schemas.openxmlformats.org/drawingml/2006/main">
              <a:rPr lang="en" altLang="en-US" sz="1600" dirty="0"/>
              <a:t>we can improve and extend </a:t>
            </a:r>
            <a:br xmlns:a="http://schemas.openxmlformats.org/drawingml/2006/main">
              <a:rPr lang="en-US" altLang="ja-JP" sz="1600" dirty="0"/>
            </a:br>
            <a:r xmlns:a="http://schemas.openxmlformats.org/drawingml/2006/main">
              <a:rPr lang="en" altLang="ja-JP" sz="1600" dirty="0"/>
              <a:t>the Chain of Trust and </a:t>
            </a:r>
            <a:r xmlns:a="http://schemas.openxmlformats.org/drawingml/2006/main">
              <a:rPr lang="en" altLang="en-US" sz="1600" dirty="0"/>
              <a:t>enable verification with </a:t>
            </a:r>
            <a:r xmlns:a="http://schemas.openxmlformats.org/drawingml/2006/main">
              <a:rPr lang="en" altLang="ja-JP" sz="1600" dirty="0"/>
              <a:t>Remote Attestation.</a:t>
            </a: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C81C2385-A982-D2D0-998C-493510A15D12}"/>
              </a:ext>
            </a:extLst>
          </p:cNvPr>
          <p:cNvSpPr/>
          <p:nvPr/>
        </p:nvSpPr>
        <p:spPr>
          <a:xfrm>
            <a:off x="10974418" y="4573877"/>
            <a:ext cx="279400" cy="2368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二等辺三角形 63">
            <a:extLst>
              <a:ext uri="{FF2B5EF4-FFF2-40B4-BE49-F238E27FC236}">
                <a16:creationId xmlns:a16="http://schemas.microsoft.com/office/drawing/2014/main" id="{4A096995-8DC6-578F-C277-820AF8CB0403}"/>
              </a:ext>
            </a:extLst>
          </p:cNvPr>
          <p:cNvSpPr/>
          <p:nvPr/>
        </p:nvSpPr>
        <p:spPr>
          <a:xfrm>
            <a:off x="10957484" y="4722294"/>
            <a:ext cx="313262" cy="25060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雲 56">
            <a:extLst>
              <a:ext uri="{FF2B5EF4-FFF2-40B4-BE49-F238E27FC236}">
                <a16:creationId xmlns:a16="http://schemas.microsoft.com/office/drawing/2014/main" id="{1AF7213B-100A-9BB6-B470-EA4EB35131AF}"/>
              </a:ext>
            </a:extLst>
          </p:cNvPr>
          <p:cNvSpPr/>
          <p:nvPr/>
        </p:nvSpPr>
        <p:spPr>
          <a:xfrm>
            <a:off x="5736005" y="3781689"/>
            <a:ext cx="3891127" cy="1861865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D476C940-FFC6-E8A2-F41B-DBF392CB36A8}"/>
              </a:ext>
            </a:extLst>
          </p:cNvPr>
          <p:cNvCxnSpPr>
            <a:cxnSpLocks/>
          </p:cNvCxnSpPr>
          <p:nvPr/>
        </p:nvCxnSpPr>
        <p:spPr>
          <a:xfrm flipV="1">
            <a:off x="8432158" y="4771533"/>
            <a:ext cx="0" cy="599839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2ADAAAC-E5D8-9EA4-DE6A-2CEBF266E394}"/>
              </a:ext>
            </a:extLst>
          </p:cNvPr>
          <p:cNvSpPr/>
          <p:nvPr/>
        </p:nvSpPr>
        <p:spPr>
          <a:xfrm>
            <a:off x="7395893" y="3594251"/>
            <a:ext cx="1185474" cy="8657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DD09BC2-AD52-4B4B-8C16-1AF4EA15DE84}"/>
              </a:ext>
            </a:extLst>
          </p:cNvPr>
          <p:cNvSpPr txBox="1"/>
          <p:nvPr/>
        </p:nvSpPr>
        <p:spPr>
          <a:xfrm>
            <a:off x="7381200" y="3597634"/>
            <a:ext cx="1142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200" dirty="0"/>
              <a:t>Isolation Execution Environment </a:t>
            </a:r>
            <a:br xmlns:a="http://schemas.openxmlformats.org/drawingml/2006/main">
              <a:rPr lang="en-US" altLang="ja-JP" sz="1200" dirty="0"/>
            </a:br>
            <a:r xmlns:a="http://schemas.openxmlformats.org/drawingml/2006/main">
              <a:rPr lang="en" altLang="ja-JP" sz="1200" dirty="0"/>
              <a:t>(CC)</a:t>
            </a:r>
            <a:endParaRPr xmlns:a="http://schemas.openxmlformats.org/drawingml/2006/main" kumimoji="1" lang="ja-JP" altLang="en-US" sz="1200" dirty="0"/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07AF159-86BF-0EB0-7E45-C8FDF1659732}"/>
              </a:ext>
            </a:extLst>
          </p:cNvPr>
          <p:cNvCxnSpPr>
            <a:cxnSpLocks/>
          </p:cNvCxnSpPr>
          <p:nvPr/>
        </p:nvCxnSpPr>
        <p:spPr>
          <a:xfrm flipV="1">
            <a:off x="8439736" y="4477306"/>
            <a:ext cx="0" cy="2774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50C808C-21BE-4AC4-3300-7A4D670E95A7}"/>
              </a:ext>
            </a:extLst>
          </p:cNvPr>
          <p:cNvSpPr txBox="1"/>
          <p:nvPr/>
        </p:nvSpPr>
        <p:spPr>
          <a:xfrm>
            <a:off x="6208246" y="4059299"/>
            <a:ext cx="1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400" dirty="0"/>
              <a:t>Confidential Computing</a:t>
            </a: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76CF5B88-1CEC-38EE-1E96-A730EE87F34D}"/>
              </a:ext>
            </a:extLst>
          </p:cNvPr>
          <p:cNvSpPr/>
          <p:nvPr/>
        </p:nvSpPr>
        <p:spPr>
          <a:xfrm>
            <a:off x="8490275" y="3681691"/>
            <a:ext cx="2467209" cy="1350498"/>
          </a:xfrm>
          <a:custGeom>
            <a:avLst/>
            <a:gdLst>
              <a:gd name="connsiteX0" fmla="*/ 409351 w 2170909"/>
              <a:gd name="connsiteY0" fmla="*/ 0 h 1027985"/>
              <a:gd name="connsiteX1" fmla="*/ 533031 w 2170909"/>
              <a:gd name="connsiteY1" fmla="*/ 0 h 1027985"/>
              <a:gd name="connsiteX2" fmla="*/ 702944 w 2170909"/>
              <a:gd name="connsiteY2" fmla="*/ 0 h 1027985"/>
              <a:gd name="connsiteX3" fmla="*/ 1143334 w 2170909"/>
              <a:gd name="connsiteY3" fmla="*/ 0 h 1027985"/>
              <a:gd name="connsiteX4" fmla="*/ 1416313 w 2170909"/>
              <a:gd name="connsiteY4" fmla="*/ 0 h 1027985"/>
              <a:gd name="connsiteX5" fmla="*/ 1794862 w 2170909"/>
              <a:gd name="connsiteY5" fmla="*/ 0 h 1027985"/>
              <a:gd name="connsiteX6" fmla="*/ 2047228 w 2170909"/>
              <a:gd name="connsiteY6" fmla="*/ 0 h 1027985"/>
              <a:gd name="connsiteX7" fmla="*/ 2170909 w 2170909"/>
              <a:gd name="connsiteY7" fmla="*/ 0 h 1027985"/>
              <a:gd name="connsiteX8" fmla="*/ 2170909 w 2170909"/>
              <a:gd name="connsiteY8" fmla="*/ 242373 h 1027985"/>
              <a:gd name="connsiteX9" fmla="*/ 2170909 w 2170909"/>
              <a:gd name="connsiteY9" fmla="*/ 346248 h 1027985"/>
              <a:gd name="connsiteX10" fmla="*/ 2170909 w 2170909"/>
              <a:gd name="connsiteY10" fmla="*/ 415497 h 1027985"/>
              <a:gd name="connsiteX11" fmla="*/ 2047228 w 2170909"/>
              <a:gd name="connsiteY11" fmla="*/ 415497 h 1027985"/>
              <a:gd name="connsiteX12" fmla="*/ 1794862 w 2170909"/>
              <a:gd name="connsiteY12" fmla="*/ 415497 h 1027985"/>
              <a:gd name="connsiteX13" fmla="*/ 1627826 w 2170909"/>
              <a:gd name="connsiteY13" fmla="*/ 758020 h 1027985"/>
              <a:gd name="connsiteX14" fmla="*/ 1416313 w 2170909"/>
              <a:gd name="connsiteY14" fmla="*/ 415497 h 1027985"/>
              <a:gd name="connsiteX15" fmla="*/ 1143334 w 2170909"/>
              <a:gd name="connsiteY15" fmla="*/ 415497 h 1027985"/>
              <a:gd name="connsiteX16" fmla="*/ 0 w 2170909"/>
              <a:gd name="connsiteY16" fmla="*/ 1027985 h 1027985"/>
              <a:gd name="connsiteX17" fmla="*/ 702944 w 2170909"/>
              <a:gd name="connsiteY17" fmla="*/ 415497 h 1027985"/>
              <a:gd name="connsiteX18" fmla="*/ 533031 w 2170909"/>
              <a:gd name="connsiteY18" fmla="*/ 415497 h 1027985"/>
              <a:gd name="connsiteX19" fmla="*/ 409351 w 2170909"/>
              <a:gd name="connsiteY19" fmla="*/ 415497 h 1027985"/>
              <a:gd name="connsiteX20" fmla="*/ 409351 w 2170909"/>
              <a:gd name="connsiteY20" fmla="*/ 346248 h 1027985"/>
              <a:gd name="connsiteX21" fmla="*/ 409351 w 2170909"/>
              <a:gd name="connsiteY21" fmla="*/ 242373 h 102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170909" h="1027985">
                <a:moveTo>
                  <a:pt x="409351" y="0"/>
                </a:moveTo>
                <a:lnTo>
                  <a:pt x="533031" y="0"/>
                </a:lnTo>
                <a:lnTo>
                  <a:pt x="702944" y="0"/>
                </a:lnTo>
                <a:lnTo>
                  <a:pt x="1143334" y="0"/>
                </a:lnTo>
                <a:lnTo>
                  <a:pt x="1416313" y="0"/>
                </a:lnTo>
                <a:lnTo>
                  <a:pt x="1794862" y="0"/>
                </a:lnTo>
                <a:lnTo>
                  <a:pt x="2047228" y="0"/>
                </a:lnTo>
                <a:lnTo>
                  <a:pt x="2170909" y="0"/>
                </a:lnTo>
                <a:lnTo>
                  <a:pt x="2170909" y="242373"/>
                </a:lnTo>
                <a:lnTo>
                  <a:pt x="2170909" y="346248"/>
                </a:lnTo>
                <a:lnTo>
                  <a:pt x="2170909" y="415497"/>
                </a:lnTo>
                <a:lnTo>
                  <a:pt x="2047228" y="415497"/>
                </a:lnTo>
                <a:lnTo>
                  <a:pt x="1794862" y="415497"/>
                </a:lnTo>
                <a:lnTo>
                  <a:pt x="1627826" y="758020"/>
                </a:lnTo>
                <a:lnTo>
                  <a:pt x="1416313" y="415497"/>
                </a:lnTo>
                <a:lnTo>
                  <a:pt x="1143334" y="415497"/>
                </a:lnTo>
                <a:lnTo>
                  <a:pt x="0" y="1027985"/>
                </a:lnTo>
                <a:lnTo>
                  <a:pt x="702944" y="415497"/>
                </a:lnTo>
                <a:lnTo>
                  <a:pt x="533031" y="415497"/>
                </a:lnTo>
                <a:lnTo>
                  <a:pt x="409351" y="415497"/>
                </a:lnTo>
                <a:lnTo>
                  <a:pt x="409351" y="346248"/>
                </a:lnTo>
                <a:lnTo>
                  <a:pt x="409351" y="242373"/>
                </a:lnTo>
                <a:close/>
              </a:path>
            </a:pathLst>
          </a:custGeom>
          <a:solidFill>
            <a:srgbClr val="FFFF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A0100DF-3569-FD2F-5374-42967D07F598}"/>
              </a:ext>
            </a:extLst>
          </p:cNvPr>
          <p:cNvSpPr txBox="1"/>
          <p:nvPr/>
        </p:nvSpPr>
        <p:spPr>
          <a:xfrm>
            <a:off x="8983238" y="3682900"/>
            <a:ext cx="2270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kumimoji="1" lang="en" altLang="en-US" sz="1400" dirty="0"/>
              <a:t>By improving and expanding it </a:t>
            </a:r>
            <a:r xmlns:a="http://schemas.openxmlformats.org/drawingml/2006/main">
              <a:rPr lang="en" altLang="en-US" sz="1400" dirty="0"/>
              <a:t>, </a:t>
            </a:r>
            <a:br xmlns:a="http://schemas.openxmlformats.org/drawingml/2006/main">
              <a:rPr lang="en-US" altLang="ja-JP" sz="1400" dirty="0"/>
            </a:br>
            <a:r xmlns:a="http://schemas.openxmlformats.org/drawingml/2006/main">
              <a:rPr lang="en" altLang="en-US" sz="1400" dirty="0"/>
              <a:t>we contribute to the advancement of </a:t>
            </a:r>
            <a:endParaRPr xmlns:a="http://schemas.openxmlformats.org/drawingml/2006/main" kumimoji="1" lang="ja-JP" altLang="en-US" sz="1400" dirty="0"/>
            <a:r xmlns:a="http://schemas.openxmlformats.org/drawingml/2006/main">
              <a:rPr lang="en" altLang="ja-JP" sz="1400" dirty="0"/>
              <a:t>CC.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A39C061-D65E-F89E-D56C-65A32B8B76B4}"/>
              </a:ext>
            </a:extLst>
          </p:cNvPr>
          <p:cNvSpPr/>
          <p:nvPr/>
        </p:nvSpPr>
        <p:spPr>
          <a:xfrm>
            <a:off x="6300396" y="4740476"/>
            <a:ext cx="826504" cy="264968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058E619-4E8E-161B-C218-C083AC854F74}"/>
              </a:ext>
            </a:extLst>
          </p:cNvPr>
          <p:cNvSpPr/>
          <p:nvPr/>
        </p:nvSpPr>
        <p:spPr>
          <a:xfrm>
            <a:off x="6657213" y="5090204"/>
            <a:ext cx="1028312" cy="22211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>
                <a:solidFill>
                  <a:schemeClr val="tx1"/>
                </a:solidFill>
              </a:rPr>
              <a:t>TEE </a:t>
            </a:r>
            <a:r xmlns:a="http://schemas.openxmlformats.org/drawingml/2006/main">
              <a:rPr kumimoji="1" lang="en" altLang="en-US" sz="1000" dirty="0">
                <a:solidFill>
                  <a:schemeClr val="tx1"/>
                </a:solidFill>
              </a:rPr>
              <a:t>-compatible </a:t>
            </a:r>
            <a:r xmlns:a="http://schemas.openxmlformats.org/drawingml/2006/main">
              <a:rPr kumimoji="1" lang="en" altLang="ja-JP" sz="1000" dirty="0">
                <a:solidFill>
                  <a:schemeClr val="tx1"/>
                </a:solidFill>
              </a:rPr>
              <a:t>GPU</a:t>
            </a:r>
            <a:endParaRPr xmlns:a="http://schemas.openxmlformats.org/drawingml/2006/main" kumimoji="1" lang="ja-JP" altLang="en-US" sz="1000" dirty="0">
              <a:solidFill>
                <a:schemeClr val="tx1"/>
              </a:solidFill>
            </a:endParaRP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9A17BCE9-030B-D0DB-FAE3-E46738152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35" y="4777675"/>
            <a:ext cx="727950" cy="17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図 94">
            <a:extLst>
              <a:ext uri="{FF2B5EF4-FFF2-40B4-BE49-F238E27FC236}">
                <a16:creationId xmlns:a16="http://schemas.microsoft.com/office/drawing/2014/main" id="{482D44B7-7430-66CC-95E4-04E4BDB54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15" y="4756495"/>
            <a:ext cx="609814" cy="22211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C9A0C3-D614-DCE1-C5BD-E198D652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35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3C6DF-AEA1-A804-14C3-3A18B348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600" dirty="0"/>
              <a:t>[ </a:t>
            </a:r>
            <a:r xmlns:a="http://schemas.openxmlformats.org/drawingml/2006/main">
              <a:rPr kumimoji="1" lang="en" altLang="en-US" sz="3600" dirty="0"/>
              <a:t>Reference </a:t>
            </a:r>
            <a:r xmlns:a="http://schemas.openxmlformats.org/drawingml/2006/main">
              <a:rPr kumimoji="1" lang="en" altLang="ja-JP" sz="3600" dirty="0"/>
              <a:t>] </a:t>
            </a:r>
            <a:r xmlns:a="http://schemas.openxmlformats.org/drawingml/2006/main">
              <a:rPr lang="en" altLang="en-US" sz="3600" dirty="0"/>
              <a:t>Keys and certificates in </a:t>
            </a:r>
            <a:endParaRPr xmlns:a="http://schemas.openxmlformats.org/drawingml/2006/main" kumimoji="1" lang="ja-JP" altLang="en-US" sz="3600" dirty="0"/>
            <a:r xmlns:a="http://schemas.openxmlformats.org/drawingml/2006/main">
              <a:rPr lang="en" altLang="ja-JP" sz="3600" dirty="0"/>
              <a:t>Attestation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2F6CB1-B376-DB69-151B-CFC71723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98" y="2255483"/>
            <a:ext cx="2791543" cy="269246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5C00A5D-9AAB-BAB9-112E-1E7D90D98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041" y="2199510"/>
            <a:ext cx="3202392" cy="245897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8D5F824-D46B-C9EB-37D7-0EA2467A0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01" y="2087653"/>
            <a:ext cx="5462409" cy="308069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3490C6-0ACE-A67A-4D0B-37B99BD3484A}"/>
              </a:ext>
            </a:extLst>
          </p:cNvPr>
          <p:cNvSpPr txBox="1"/>
          <p:nvPr/>
        </p:nvSpPr>
        <p:spPr>
          <a:xfrm>
            <a:off x="654858" y="1367565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AMD SEV-SNP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460D31-5AE5-9DB3-C6A0-20E369EF7645}"/>
              </a:ext>
            </a:extLst>
          </p:cNvPr>
          <p:cNvSpPr txBox="1"/>
          <p:nvPr/>
        </p:nvSpPr>
        <p:spPr>
          <a:xfrm>
            <a:off x="6002768" y="6220135"/>
            <a:ext cx="5947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000" dirty="0"/>
              <a:t>Reference: </a:t>
            </a:r>
            <a:r xmlns:a="http://schemas.openxmlformats.org/drawingml/2006/main">
              <a:rPr lang="en" altLang="ja-JP" sz="1000" dirty="0"/>
              <a:t>AMD SEV-SNP Attestation: Establishing Trust in Guests</a:t>
            </a:r>
          </a:p>
          <a:p>
            <a:r xmlns:a="http://schemas.openxmlformats.org/drawingml/2006/main" xmlns:r="http://schemas.openxmlformats.org/officeDocument/2006/relationships">
              <a:rPr lang="en" altLang="ja-JP" sz="1000" dirty="0">
                <a:hlinkClick r:id="rId5"/>
              </a:rPr>
              <a:t>https://www.amd.com/content/dam/amd/en/documents/developer/lss-snp-attestation.pdf</a:t>
            </a:r>
            <a:endParaRPr xmlns:a="http://schemas.openxmlformats.org/drawingml/2006/main" lang="en-US" altLang="ja-JP" sz="1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71FA05-0731-0B01-A887-8BC64E46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8549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33F9DE-37C0-40A5-C0BB-4CF4E1D2F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462088"/>
            <a:ext cx="11052314" cy="4938712"/>
          </a:xfrm>
        </p:spPr>
        <p:txBody>
          <a:bodyPr>
            <a:normAutofit/>
          </a:bodyPr>
          <a:lstStyle/>
          <a:p>
            <a:pPr xmlns:a="http://schemas.openxmlformats.org/drawingml/2006/main" marL="0" indent="0">
              <a:spcAft>
                <a:spcPts val="600"/>
              </a:spcAft>
              <a:buNone/>
            </a:pPr>
            <a:r xmlns:a="http://schemas.openxmlformats.org/drawingml/2006/main">
              <a:rPr lang="en" altLang="ja-JP" sz="2400" b="1" dirty="0"/>
              <a:t>A. </a:t>
            </a:r>
            <a:r xmlns:a="http://schemas.openxmlformats.org/drawingml/2006/main">
              <a:rPr lang="en" altLang="en-US" sz="2400" b="1" dirty="0"/>
              <a:t>Examination of technical requirements</a:t>
            </a:r>
            <a:endParaRPr xmlns:a="http://schemas.openxmlformats.org/drawingml/2006/main" lang="en-US" altLang="ja-JP" sz="2400" b="1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000" dirty="0"/>
              <a:t>Define a system model for an advanced </a:t>
            </a:r>
            <a:br xmlns:a="http://schemas.openxmlformats.org/drawingml/2006/main">
              <a:rPr lang="en-US" altLang="ja-JP" sz="2000" dirty="0"/>
            </a:br>
            <a:r xmlns:a="http://schemas.openxmlformats.org/drawingml/2006/main">
              <a:rPr lang="en" altLang="ja-JP" sz="2000" dirty="0"/>
              <a:t>CC </a:t>
            </a:r>
            <a:r xmlns:a="http://schemas.openxmlformats.org/drawingml/2006/main">
              <a:rPr lang="en" altLang="en-US" sz="2000" dirty="0"/>
              <a:t>(specifying use cases, stakeholders, prerequisites, and relationships between actors).</a:t>
            </a:r>
            <a:endParaRPr xmlns:a="http://schemas.openxmlformats.org/drawingml/2006/main" lang="en-US" altLang="ja-JP" sz="2000" dirty="0"/>
          </a:p>
          <a:p>
            <a:pPr lvl="1">
              <a:spcAft>
                <a:spcPts val="600"/>
              </a:spcAft>
            </a:pPr>
            <a:endParaRPr lang="en-US" altLang="ja-JP" sz="2000" dirty="0"/>
          </a:p>
          <a:p>
            <a:pPr lvl="1">
              <a:spcAft>
                <a:spcPts val="600"/>
              </a:spcAft>
            </a:pPr>
            <a:endParaRPr lang="en-US" altLang="ja-JP" sz="2000" dirty="0"/>
          </a:p>
          <a:p>
            <a:pPr lvl="1">
              <a:spcAft>
                <a:spcPts val="600"/>
              </a:spcAft>
            </a:pPr>
            <a:endParaRPr lang="en-US" altLang="ja-JP" sz="2000" dirty="0"/>
          </a:p>
          <a:p>
            <a:pPr lvl="1">
              <a:spcAft>
                <a:spcPts val="600"/>
              </a:spcAft>
            </a:pPr>
            <a:endParaRPr lang="en-US" altLang="ja-JP" sz="20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000" dirty="0"/>
              <a:t>We formulated hypotheses for the "trust model" and "security model" required for the system model, and </a:t>
            </a:r>
            <a:r xmlns:a="http://schemas.openxmlformats.org/drawingml/2006/main">
              <a:rPr lang="en" altLang="en-US" sz="2000" dirty="0"/>
              <a:t>analyzed the technical requirements that necessitate improvements/extensions to </a:t>
            </a:r>
            <a:endParaRPr xmlns:a="http://schemas.openxmlformats.org/drawingml/2006/main" lang="en-US" altLang="ja-JP" sz="2000" dirty="0"/>
            <a:r xmlns:a="http://schemas.openxmlformats.org/drawingml/2006/main">
              <a:rPr lang="en" altLang="ja-JP" sz="2000" dirty="0" err="1"/>
              <a:t>CoT </a:t>
            </a:r>
            <a:r xmlns:a="http://schemas.openxmlformats.org/drawingml/2006/main">
              <a:rPr lang="en" altLang="en-US" sz="2000" dirty="0"/>
              <a:t>and </a:t>
            </a:r>
            <a:r xmlns:a="http://schemas.openxmlformats.org/drawingml/2006/main">
              <a:rPr lang="en" altLang="ja-JP" sz="2000" dirty="0"/>
              <a:t>RA.</a:t>
            </a:r>
          </a:p>
          <a:p>
            <a:pPr xmlns:a="http://schemas.openxmlformats.org/drawingml/2006/main" lvl="2">
              <a:spcAft>
                <a:spcPts val="12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study investigates the design and implementation of </a:t>
            </a:r>
            <a:br xmlns:a="http://schemas.openxmlformats.org/drawingml/2006/main">
              <a:rPr lang="en-US" altLang="ja-JP" sz="1800" dirty="0"/>
            </a:br>
            <a:r xmlns:a="http://schemas.openxmlformats.org/drawingml/2006/main">
              <a:rPr lang="en" altLang="en-US" sz="1800" dirty="0"/>
              <a:t>conventional </a:t>
            </a:r>
            <a:r xmlns:a="http://schemas.openxmlformats.org/drawingml/2006/main">
              <a:rPr lang="en" altLang="ja-JP" sz="1800" dirty="0"/>
              <a:t>TEEs </a:t>
            </a:r>
            <a:r xmlns:a="http://schemas.openxmlformats.org/drawingml/2006/main">
              <a:rPr lang="en" altLang="en-US" sz="1800" dirty="0"/>
              <a:t>and </a:t>
            </a:r>
            <a:r xmlns:a="http://schemas.openxmlformats.org/drawingml/2006/main">
              <a:rPr lang="en" altLang="ja-JP" sz="1800" dirty="0"/>
              <a:t>CCs to clarify the mechanisms of cryptography, signing, and key management.</a:t>
            </a:r>
            <a:r xmlns:a="http://schemas.openxmlformats.org/drawingml/2006/main">
              <a:rPr lang="en" altLang="ja-JP" sz="1800" dirty="0"/>
              <a:t> </a:t>
            </a:r>
            <a:r xmlns:a="http://schemas.openxmlformats.org/drawingml/2006/main">
              <a:rPr lang="en" altLang="en-US" sz="1400" dirty="0"/>
              <a:t>(e.g., </a:t>
            </a:r>
            <a:r xmlns:a="http://schemas.openxmlformats.org/drawingml/2006/main">
              <a:rPr lang="en" altLang="ja-JP" sz="1400" dirty="0"/>
              <a:t>AMD SEV-SNP, Azure Confidential Computing </a:t>
            </a:r>
            <a:r xmlns:a="http://schemas.openxmlformats.org/drawingml/2006/main">
              <a:rPr lang="en" altLang="en-US" sz="1400" dirty="0"/>
              <a:t>)</a:t>
            </a:r>
            <a:endParaRPr xmlns:a="http://schemas.openxmlformats.org/drawingml/2006/main" lang="en-US" altLang="ja-JP" sz="1400" dirty="0"/>
          </a:p>
          <a:p>
            <a:pPr xmlns:a="http://schemas.openxmlformats.org/drawingml/2006/main" lvl="2">
              <a:spcAft>
                <a:spcPts val="12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Based on related research, </a:t>
            </a:r>
            <a:r xmlns:a="http://schemas.openxmlformats.org/drawingml/2006/main">
              <a:rPr lang="en" altLang="en-US" sz="1800" dirty="0"/>
              <a:t>we propose ideas for supplementing and improving upon the shortcomings of conventional </a:t>
            </a:r>
            <a:br xmlns:a="http://schemas.openxmlformats.org/drawingml/2006/main">
              <a:rPr lang="en-US" altLang="ja-JP" sz="1800" dirty="0"/>
            </a:br>
            <a:r xmlns:a="http://schemas.openxmlformats.org/drawingml/2006/main">
              <a:rPr lang="en" altLang="ja-JP" sz="1800" dirty="0"/>
              <a:t>TEE and CC .</a:t>
            </a:r>
            <a:r xmlns:a="http://schemas.openxmlformats.org/drawingml/2006/main">
              <a:rPr lang="en" altLang="ja-JP" sz="1800" dirty="0"/>
              <a:t> </a:t>
            </a:r>
            <a:r xmlns:a="http://schemas.openxmlformats.org/drawingml/2006/main">
              <a:rPr lang="en" altLang="en-US" sz="1400" dirty="0"/>
              <a:t>（ </a:t>
            </a:r>
            <a:r xmlns:a="http://schemas.openxmlformats.org/drawingml/2006/main">
              <a:rPr lang="en" altLang="ja-JP" sz="1400" dirty="0"/>
              <a:t>Swarm Attestation /Collective Attestation,</a:t>
            </a:r>
            <a:r xmlns:a="http://schemas.openxmlformats.org/drawingml/2006/main">
              <a:rPr lang="en" altLang="en-US" sz="1400" dirty="0"/>
              <a:t>  </a:t>
            </a:r>
            <a:r xmlns:a="http://schemas.openxmlformats.org/drawingml/2006/main">
              <a:rPr lang="en" altLang="ja-JP" sz="1400" dirty="0"/>
              <a:t>Attested</a:t>
            </a:r>
            <a:r xmlns:a="http://schemas.openxmlformats.org/drawingml/2006/main">
              <a:rPr lang="en" altLang="en-US" sz="1400" dirty="0"/>
              <a:t> </a:t>
            </a:r>
            <a:r xmlns:a="http://schemas.openxmlformats.org/drawingml/2006/main">
              <a:rPr lang="en" altLang="ja-JP" sz="1400" dirty="0"/>
              <a:t>(TLS </a:t>
            </a:r>
            <a:r xmlns:a="http://schemas.openxmlformats.org/drawingml/2006/main">
              <a:rPr lang="en" altLang="en-US" sz="1400" dirty="0"/>
              <a:t>, etc.)</a:t>
            </a:r>
            <a:endParaRPr xmlns:a="http://schemas.openxmlformats.org/drawingml/2006/main" lang="en-US" altLang="ja-JP" sz="16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F6A101-3B91-5111-29FF-AEA283A7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steps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890A4E9-2967-D67A-6969-DBDFA1F41B1B}"/>
              </a:ext>
            </a:extLst>
          </p:cNvPr>
          <p:cNvCxnSpPr>
            <a:cxnSpLocks/>
          </p:cNvCxnSpPr>
          <p:nvPr/>
        </p:nvCxnSpPr>
        <p:spPr>
          <a:xfrm>
            <a:off x="3579508" y="2561871"/>
            <a:ext cx="16863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69C588-80C7-2605-1128-F660091A3E3B}"/>
              </a:ext>
            </a:extLst>
          </p:cNvPr>
          <p:cNvSpPr txBox="1"/>
          <p:nvPr/>
        </p:nvSpPr>
        <p:spPr>
          <a:xfrm>
            <a:off x="4422677" y="2731010"/>
            <a:ext cx="8312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400" dirty="0"/>
              <a:t>TEE </a:t>
            </a:r>
            <a:r xmlns:a="http://schemas.openxmlformats.org/drawingml/2006/main">
              <a:rPr kumimoji="1" lang="en" altLang="en-US" sz="1400" dirty="0"/>
              <a:t>hardware vendors, </a:t>
            </a:r>
            <a:r xmlns:a="http://schemas.openxmlformats.org/drawingml/2006/main">
              <a:rPr kumimoji="1" lang="en" altLang="ja-JP" sz="1400" dirty="0"/>
              <a:t>CC </a:t>
            </a:r>
            <a:r xmlns:a="http://schemas.openxmlformats.org/drawingml/2006/main">
              <a:rPr kumimoji="1" lang="en" altLang="en-US" sz="1400" dirty="0"/>
              <a:t>cloud providers, and </a:t>
            </a:r>
            <a:r xmlns:a="http://schemas.openxmlformats.org/drawingml/2006/main">
              <a:rPr kumimoji="1" lang="en" altLang="en-US" sz="1400" dirty="0"/>
              <a:t>service providers utilizing </a:t>
            </a:r>
            <a:endParaRPr xmlns:a="http://schemas.openxmlformats.org/drawingml/2006/main" kumimoji="1" lang="en-US" altLang="ja-JP" sz="1400" dirty="0"/>
            <a:r xmlns:a="http://schemas.openxmlformats.org/drawingml/2006/main">
              <a:rPr kumimoji="1" lang="en" altLang="ja-JP" sz="1400" dirty="0"/>
              <a:t>CC</a:t>
            </a:r>
          </a:p>
          <a:p>
            <a:r xmlns:a="http://schemas.openxmlformats.org/drawingml/2006/main">
              <a:rPr kumimoji="1" lang="en" altLang="en-US" sz="1400" dirty="0"/>
              <a:t>End users of the service (data providers, data processing program providers, etc.)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8D339537-1864-E853-744C-A6D7CC3ADA72}"/>
              </a:ext>
            </a:extLst>
          </p:cNvPr>
          <p:cNvSpPr/>
          <p:nvPr/>
        </p:nvSpPr>
        <p:spPr>
          <a:xfrm>
            <a:off x="3806451" y="2603822"/>
            <a:ext cx="616226" cy="367748"/>
          </a:xfrm>
          <a:custGeom>
            <a:avLst/>
            <a:gdLst>
              <a:gd name="connsiteX0" fmla="*/ 0 w 407505"/>
              <a:gd name="connsiteY0" fmla="*/ 0 h 367748"/>
              <a:gd name="connsiteX1" fmla="*/ 0 w 407505"/>
              <a:gd name="connsiteY1" fmla="*/ 367748 h 367748"/>
              <a:gd name="connsiteX2" fmla="*/ 407505 w 407505"/>
              <a:gd name="connsiteY2" fmla="*/ 367748 h 36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505" h="367748">
                <a:moveTo>
                  <a:pt x="0" y="0"/>
                </a:moveTo>
                <a:lnTo>
                  <a:pt x="0" y="367748"/>
                </a:lnTo>
                <a:lnTo>
                  <a:pt x="407505" y="367748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FCCC814-F3CF-8FA3-622A-7E2C0A331E1C}"/>
              </a:ext>
            </a:extLst>
          </p:cNvPr>
          <p:cNvCxnSpPr>
            <a:cxnSpLocks/>
          </p:cNvCxnSpPr>
          <p:nvPr/>
        </p:nvCxnSpPr>
        <p:spPr>
          <a:xfrm>
            <a:off x="1788215" y="2541040"/>
            <a:ext cx="1479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810A17F6-F66D-3D35-7987-23C4DCA9C57A}"/>
              </a:ext>
            </a:extLst>
          </p:cNvPr>
          <p:cNvSpPr/>
          <p:nvPr/>
        </p:nvSpPr>
        <p:spPr>
          <a:xfrm>
            <a:off x="2527851" y="2561871"/>
            <a:ext cx="616226" cy="959781"/>
          </a:xfrm>
          <a:custGeom>
            <a:avLst/>
            <a:gdLst>
              <a:gd name="connsiteX0" fmla="*/ 0 w 407505"/>
              <a:gd name="connsiteY0" fmla="*/ 0 h 367748"/>
              <a:gd name="connsiteX1" fmla="*/ 0 w 407505"/>
              <a:gd name="connsiteY1" fmla="*/ 367748 h 367748"/>
              <a:gd name="connsiteX2" fmla="*/ 407505 w 407505"/>
              <a:gd name="connsiteY2" fmla="*/ 367748 h 36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505" h="367748">
                <a:moveTo>
                  <a:pt x="0" y="0"/>
                </a:moveTo>
                <a:lnTo>
                  <a:pt x="0" y="367748"/>
                </a:lnTo>
                <a:lnTo>
                  <a:pt x="407505" y="367748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5F0FF33-0153-AF80-1025-10E9D8A2B58A}"/>
              </a:ext>
            </a:extLst>
          </p:cNvPr>
          <p:cNvSpPr txBox="1"/>
          <p:nvPr/>
        </p:nvSpPr>
        <p:spPr>
          <a:xfrm>
            <a:off x="3256721" y="3444199"/>
            <a:ext cx="760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400" dirty="0"/>
              <a:t>Use cases for handling </a:t>
            </a:r>
            <a:br xmlns:a="http://schemas.openxmlformats.org/drawingml/2006/main">
              <a:rPr lang="en-US" altLang="ja-JP" sz="1400" dirty="0"/>
            </a:br>
            <a:r xmlns:a="http://schemas.openxmlformats.org/drawingml/2006/main">
              <a:rPr kumimoji="1" lang="en" altLang="en-US" sz="1400" dirty="0"/>
              <a:t>distributed </a:t>
            </a:r>
            <a:r xmlns:a="http://schemas.openxmlformats.org/drawingml/2006/main">
              <a:rPr kumimoji="1" lang="en" altLang="ja-JP" sz="1400" dirty="0"/>
              <a:t>computing resources </a:t>
            </a:r>
            <a:r xmlns:a="http://schemas.openxmlformats.org/drawingml/2006/main">
              <a:rPr lang="en" altLang="en-US" sz="1400" dirty="0"/>
              <a:t>( e.g., </a:t>
            </a:r>
            <a:r xmlns:a="http://schemas.openxmlformats.org/drawingml/2006/main">
              <a:rPr kumimoji="1" lang="en" altLang="en-US" sz="1400" dirty="0"/>
              <a:t>distributed processing using multiple computing resources, </a:t>
            </a:r>
            <a:r xmlns:a="http://schemas.openxmlformats.org/drawingml/2006/main">
              <a:rPr kumimoji="1" lang="en" altLang="ja-JP" sz="1400" dirty="0"/>
              <a:t>integration </a:t>
            </a:r>
            <a:r xmlns:a="http://schemas.openxmlformats.org/drawingml/2006/main">
              <a:rPr kumimoji="1" lang="en" altLang="en-US" sz="1400" dirty="0"/>
              <a:t>with </a:t>
            </a:r>
            <a:r xmlns:a="http://schemas.openxmlformats.org/drawingml/2006/main">
              <a:rPr kumimoji="1" lang="en" altLang="ja-JP" sz="1400" dirty="0"/>
              <a:t>GPU </a:t>
            </a:r>
            <a:r xmlns:a="http://schemas.openxmlformats.org/drawingml/2006/main">
              <a:rPr kumimoji="1" lang="en" altLang="en-US" sz="1400" dirty="0"/>
              <a:t>-based </a:t>
            </a:r>
            <a:r xmlns:a="http://schemas.openxmlformats.org/drawingml/2006/main">
              <a:rPr kumimoji="1" lang="en" altLang="ja-JP" sz="1400" dirty="0"/>
              <a:t>TEEs 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8A2CB-3FE6-BA44-AFD0-BF5AA5F1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2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9114E-F492-FCC2-E08B-34138F2D0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steps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7409B2-85E9-E9D5-D334-B7F9AE1B0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25" y="1462088"/>
            <a:ext cx="10687975" cy="4947421"/>
          </a:xfrm>
        </p:spPr>
        <p:txBody>
          <a:bodyPr>
            <a:normAutofit/>
          </a:bodyPr>
          <a:lstStyle/>
          <a:p>
            <a:pPr xmlns:a="http://schemas.openxmlformats.org/drawingml/2006/main" marL="0" indent="0">
              <a:spcAft>
                <a:spcPts val="600"/>
              </a:spcAft>
              <a:buNone/>
            </a:pPr>
            <a:r xmlns:a="http://schemas.openxmlformats.org/drawingml/2006/main">
              <a:rPr lang="en" altLang="ja-JP" sz="2400" b="1" dirty="0"/>
              <a:t>B. </a:t>
            </a:r>
            <a:r xmlns:a="http://schemas.openxmlformats.org/drawingml/2006/main">
              <a:rPr lang="en" altLang="en-US" sz="2400" b="1" dirty="0"/>
              <a:t>Proposal/Verification of Implementation Methods</a:t>
            </a:r>
            <a:endParaRPr xmlns:a="http://schemas.openxmlformats.org/drawingml/2006/main" lang="en-US" altLang="ja-JP" sz="2400" b="1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000" dirty="0"/>
              <a:t>Based on the aforementioned idea, </a:t>
            </a:r>
            <a:r xmlns:a="http://schemas.openxmlformats.org/drawingml/2006/main">
              <a:rPr lang="en" altLang="ja-JP" sz="2000" dirty="0"/>
              <a:t>Chain</a:t>
            </a:r>
            <a:r xmlns:a="http://schemas.openxmlformats.org/drawingml/2006/main">
              <a:rPr lang="en" altLang="en-US" sz="2000" dirty="0"/>
              <a:t> </a:t>
            </a:r>
            <a:r xmlns:a="http://schemas.openxmlformats.org/drawingml/2006/main">
              <a:rPr lang="en" altLang="ja-JP" sz="2000" dirty="0"/>
              <a:t>of</a:t>
            </a:r>
            <a:r xmlns:a="http://schemas.openxmlformats.org/drawingml/2006/main">
              <a:rPr lang="en" altLang="en-US" sz="2000" dirty="0"/>
              <a:t> </a:t>
            </a:r>
            <a:r xmlns:a="http://schemas.openxmlformats.org/drawingml/2006/main">
              <a:rPr lang="en" altLang="en-US" sz="2000" dirty="0"/>
              <a:t>We propose an extension method for </a:t>
            </a:r>
            <a:endParaRPr xmlns:a="http://schemas.openxmlformats.org/drawingml/2006/main" lang="en-US" altLang="ja-JP" sz="2000" dirty="0"/>
            <a:r xmlns:a="http://schemas.openxmlformats.org/drawingml/2006/main">
              <a:rPr lang="en" altLang="ja-JP" sz="2000" dirty="0"/>
              <a:t>Trust </a:t>
            </a:r>
            <a:r xmlns:a="http://schemas.openxmlformats.org/drawingml/2006/main">
              <a:rPr lang="en" altLang="en-US" sz="2000" dirty="0"/>
              <a:t>and </a:t>
            </a:r>
            <a:r xmlns:a="http://schemas.openxmlformats.org/drawingml/2006/main">
              <a:rPr lang="en" altLang="ja-JP" sz="2000" dirty="0"/>
              <a:t>Remote Attestation.</a:t>
            </a:r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( </a:t>
            </a:r>
            <a:r xmlns:a="http://schemas.openxmlformats.org/drawingml/2006/main">
              <a:rPr lang="en" altLang="en-US" sz="1600" dirty="0"/>
              <a:t>symmetric-key cryptography, public-key cryptography, key derivation functions, hash functions, etc.) </a:t>
            </a:r>
            <a:endParaRPr xmlns:a="http://schemas.openxmlformats.org/drawingml/2006/main" lang="en-US" altLang="ja-JP" sz="1600" dirty="0"/>
            <a:r xmlns:a="http://schemas.openxmlformats.org/drawingml/2006/main">
              <a:rPr lang="en" altLang="en-US" sz="1800" dirty="0"/>
              <a:t>that combine cryptographic primitives.</a:t>
            </a:r>
            <a:br xmlns:a="http://schemas.openxmlformats.org/drawingml/2006/main">
              <a:rPr lang="en-US" altLang="ja-JP" sz="1800" dirty="0"/>
            </a:br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Utilization of related technologies closely associated with cryptography, and integration with peripheral systems </a:t>
            </a:r>
            <a:br xmlns:a="http://schemas.openxmlformats.org/drawingml/2006/main">
              <a:rPr lang="en-US" altLang="ja-JP" sz="1800" dirty="0"/>
            </a:br>
            <a:r xmlns:a="http://schemas.openxmlformats.org/drawingml/2006/main">
              <a:rPr lang="en" altLang="en-US" sz="1800" dirty="0"/>
              <a:t>( </a:t>
            </a:r>
            <a:r xmlns:a="http://schemas.openxmlformats.org/drawingml/2006/main">
              <a:rPr lang="en" altLang="ja-JP" sz="1800" dirty="0"/>
              <a:t>PKI </a:t>
            </a:r>
            <a:r xmlns:a="http://schemas.openxmlformats.org/drawingml/2006/main">
              <a:rPr lang="en" altLang="en-US" sz="1800" dirty="0"/>
              <a:t>, </a:t>
            </a:r>
            <a:r xmlns:a="http://schemas.openxmlformats.org/drawingml/2006/main">
              <a:rPr lang="en" altLang="ja-JP" sz="1800" dirty="0"/>
              <a:t>TLS </a:t>
            </a:r>
            <a:r xmlns:a="http://schemas.openxmlformats.org/drawingml/2006/main">
              <a:rPr lang="en" altLang="en-US" sz="1800" dirty="0"/>
              <a:t>, authentication and authorization, and </a:t>
            </a:r>
            <a:r xmlns:a="http://schemas.openxmlformats.org/drawingml/2006/main">
              <a:rPr lang="en" altLang="ja-JP" sz="1800" dirty="0"/>
              <a:t>identity </a:t>
            </a:r>
            <a:r xmlns:a="http://schemas.openxmlformats.org/drawingml/2006/main">
              <a:rPr lang="en" altLang="en-US" sz="1800" dirty="0"/>
              <a:t>management).</a:t>
            </a:r>
            <a:endParaRPr xmlns:a="http://schemas.openxmlformats.org/drawingml/2006/main" lang="en-US" altLang="ja-JP" sz="1800" dirty="0"/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Also refer to </a:t>
            </a:r>
            <a:endParaRPr xmlns:a="http://schemas.openxmlformats.org/drawingml/2006/main" lang="en-US" altLang="ja-JP" sz="1800" dirty="0"/>
            <a:r xmlns:a="http://schemas.openxmlformats.org/drawingml/2006/main">
              <a:rPr lang="en" altLang="ja-JP" sz="1800" dirty="0"/>
              <a:t>RATs (Remote Attestation </a:t>
            </a:r>
            <a:r xmlns:a="http://schemas.openxmlformats.org/drawingml/2006/main">
              <a:rPr lang="en" altLang="ja-JP" sz="1800" dirty="0" err="1"/>
              <a:t>Procedures </a:t>
            </a:r>
            <a:r xmlns:a="http://schemas.openxmlformats.org/drawingml/2006/main">
              <a:rPr lang="en" altLang="ja-JP" sz="1800" dirty="0"/>
              <a:t>, RFC9334), </a:t>
            </a:r>
            <a:r xmlns:a="http://schemas.openxmlformats.org/drawingml/2006/main">
              <a:rPr lang="en" altLang="en-US" sz="1800" dirty="0"/>
              <a:t>which are currently under discussion at </a:t>
            </a:r>
            <a:r xmlns:a="http://schemas.openxmlformats.org/drawingml/2006/main">
              <a:rPr lang="en" altLang="ja-JP" sz="1800" dirty="0"/>
              <a:t>the IETF.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ja-JP" sz="1800" dirty="0"/>
          </a:p>
          <a:p>
            <a:pPr xmlns:a="http://schemas.openxmlformats.org/drawingml/2006/main" lvl="1">
              <a:spcAft>
                <a:spcPts val="600"/>
              </a:spcAft>
            </a:pPr>
            <a:r xmlns:a="http://schemas.openxmlformats.org/drawingml/2006/main">
              <a:rPr lang="en" altLang="en-US" sz="2200" dirty="0"/>
              <a:t>Regarding the expansion method, we will analyze the differences from existing technologies and evaluate it from the perspectives of feasibility and safety.</a:t>
            </a:r>
            <a:endParaRPr xmlns:a="http://schemas.openxmlformats.org/drawingml/2006/main" lang="en-US" altLang="ja-JP" sz="2200" dirty="0"/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Differences: Differences from current </a:t>
            </a:r>
            <a:r xmlns:a="http://schemas.openxmlformats.org/drawingml/2006/main">
              <a:rPr lang="en" altLang="ja-JP" sz="1800" dirty="0"/>
              <a:t>CC </a:t>
            </a:r>
            <a:r xmlns:a="http://schemas.openxmlformats.org/drawingml/2006/main">
              <a:rPr lang="en" altLang="en-US" sz="1800" dirty="0"/>
              <a:t>, differences from related research</a:t>
            </a:r>
            <a:endParaRPr xmlns:a="http://schemas.openxmlformats.org/drawingml/2006/main" lang="en-US" altLang="ja-JP" sz="1800" dirty="0"/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Feasibility: </a:t>
            </a:r>
            <a:r xmlns:a="http://schemas.openxmlformats.org/drawingml/2006/main">
              <a:rPr lang="en" altLang="en-US" sz="1800" dirty="0"/>
              <a:t>Implement a prototype using experimental programs and open-source </a:t>
            </a:r>
            <a:endParaRPr xmlns:a="http://schemas.openxmlformats.org/drawingml/2006/main" lang="en-US" altLang="ja-JP" sz="1800" dirty="0"/>
            <a:r xmlns:a="http://schemas.openxmlformats.org/drawingml/2006/main">
              <a:rPr lang="en" altLang="ja-JP" sz="1800" dirty="0"/>
              <a:t>software , then verify its operation and measure its performance.</a:t>
            </a:r>
          </a:p>
          <a:p>
            <a:pPr xmlns:a="http://schemas.openxmlformats.org/drawingml/2006/main" lvl="2">
              <a:spcAft>
                <a:spcPts val="600"/>
              </a:spcAft>
              <a:buFont typeface="Wingdings" panose="05000000000000000000" pitchFamily="2" charset="2"/>
              <a:buChar char="Ø"/>
            </a:pPr>
            <a:r xmlns:a="http://schemas.openxmlformats.org/drawingml/2006/main">
              <a:rPr lang="en" altLang="en-US" sz="1800" dirty="0"/>
              <a:t>Security: Verification of compliance with security requirements through evaluation methods such as threat analysis and formal verification.</a:t>
            </a:r>
            <a:endParaRPr xmlns:a="http://schemas.openxmlformats.org/drawingml/2006/main" lang="en-US" altLang="ja-JP" sz="1800" dirty="0"/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ja-JP" sz="1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F84EB-FFF9-FE41-EF42-AFE97F3A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51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C7EB2-67F5-5D5E-20E0-85B4736F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Announcement plan</a:t>
            </a:r>
          </a:p>
        </p:txBody>
      </p:sp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828EB518-517B-013F-1E38-C9264DC27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44791"/>
              </p:ext>
            </p:extLst>
          </p:nvPr>
        </p:nvGraphicFramePr>
        <p:xfrm>
          <a:off x="461156" y="1972601"/>
          <a:ext cx="11515370" cy="4297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6348">
                  <a:extLst>
                    <a:ext uri="{9D8B030D-6E8A-4147-A177-3AD203B41FA5}">
                      <a16:colId xmlns:a16="http://schemas.microsoft.com/office/drawing/2014/main" val="142007608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2132287637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76211436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623709596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45772792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939542661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2714480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545717194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856937092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24995848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2424576021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309555048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045280475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0323016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53042422"/>
                    </a:ext>
                  </a:extLst>
                </a:gridCol>
              </a:tblGrid>
              <a:tr h="329806">
                <a:tc rowSpan="2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2024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2024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2025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2026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2027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574599"/>
                  </a:ext>
                </a:extLst>
              </a:tr>
              <a:tr h="329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212750"/>
                  </a:ext>
                </a:extLst>
              </a:tr>
              <a:tr h="1268881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dissertation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6084359"/>
                  </a:ext>
                </a:extLst>
              </a:tr>
              <a:tr h="1201271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Task 1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ja-JP" sz="1600" dirty="0"/>
                        <a:t>the TEE </a:t>
                      </a:r>
                      <a:r xmlns:a="http://schemas.openxmlformats.org/drawingml/2006/main">
                        <a:rPr kumimoji="1" lang="en" altLang="en-US" sz="1600" dirty="0"/>
                        <a:t>usage environment.</a:t>
                      </a:r>
                      <a:endParaRPr xmlns:a="http://schemas.openxmlformats.org/drawingml/2006/main"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4310346"/>
                  </a:ext>
                </a:extLst>
              </a:tr>
              <a:tr h="1156447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Task 2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en-US" sz="1600" dirty="0"/>
                        <a:t>Advanced </a:t>
                      </a:r>
                      <a:r xmlns:a="http://schemas.openxmlformats.org/drawingml/2006/main">
                        <a:rPr kumimoji="1" lang="en" altLang="ja-JP" sz="1600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425825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18BFC5-37B3-561A-927C-8165738B66AB}"/>
              </a:ext>
            </a:extLst>
          </p:cNvPr>
          <p:cNvSpPr txBox="1"/>
          <p:nvPr/>
        </p:nvSpPr>
        <p:spPr>
          <a:xfrm>
            <a:off x="456674" y="1213601"/>
            <a:ext cx="11735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dirty="0"/>
              <a:t>The research will proceed by simultaneously </a:t>
            </a:r>
            <a:br xmlns:a="http://schemas.openxmlformats.org/drawingml/2006/main">
              <a:rPr lang="en-US" altLang="ja-JP" dirty="0"/>
            </a:br>
            <a:r xmlns:a="http://schemas.openxmlformats.org/drawingml/2006/main">
              <a:rPr lang="en" altLang="en-US" dirty="0"/>
              <a:t>examining technical requirements ( </a:t>
            </a:r>
            <a:r xmlns:a="http://schemas.openxmlformats.org/drawingml/2006/main">
              <a:rPr lang="en" altLang="ja-JP" dirty="0"/>
              <a:t>A. </a:t>
            </a:r>
            <a:r xmlns:a="http://schemas.openxmlformats.org/drawingml/2006/main">
              <a:rPr lang="en" altLang="en-US" dirty="0"/>
              <a:t>) and proposing/verifying implementation methods ( </a:t>
            </a:r>
            <a:r xmlns:a="http://schemas.openxmlformats.org/drawingml/2006/main">
              <a:rPr lang="en" altLang="ja-JP" dirty="0"/>
              <a:t>B. ). </a:t>
            </a:r>
            <a:r xmlns:a="http://schemas.openxmlformats.org/drawingml/2006/main">
              <a:rPr lang="en" altLang="en-US" dirty="0"/>
              <a:t>The research results obtained will be presented at international conferences and in academic journals, and compiled into a doctoral dissertation.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7E8A3AA8-781B-79B9-A72F-0290CD7FBAA3}"/>
              </a:ext>
            </a:extLst>
          </p:cNvPr>
          <p:cNvSpPr txBox="1"/>
          <p:nvPr/>
        </p:nvSpPr>
        <p:spPr>
          <a:xfrm>
            <a:off x="3893873" y="6342189"/>
            <a:ext cx="12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dirty="0"/>
              <a:t>▲Enrollment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83CC6DC-401E-7AE8-DB30-A56F467AA7B5}"/>
              </a:ext>
            </a:extLst>
          </p:cNvPr>
          <p:cNvSpPr txBox="1"/>
          <p:nvPr/>
        </p:nvSpPr>
        <p:spPr>
          <a:xfrm>
            <a:off x="10637941" y="6352143"/>
            <a:ext cx="201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/>
              <a:t>Completion </a:t>
            </a:r>
            <a:r xmlns:a="http://schemas.openxmlformats.org/drawingml/2006/main">
              <a:rPr lang="en" altLang="ja-JP" dirty="0"/>
              <a:t>( </a:t>
            </a:r>
            <a:r xmlns:a="http://schemas.openxmlformats.org/drawingml/2006/main">
              <a:rPr lang="en" altLang="en-US" dirty="0"/>
              <a:t>expected </a:t>
            </a:r>
            <a:r xmlns:a="http://schemas.openxmlformats.org/drawingml/2006/main">
              <a:rPr lang="en" altLang="ja-JP" dirty="0"/>
              <a:t>) </a:t>
            </a:r>
            <a:r xmlns:a="http://schemas.openxmlformats.org/drawingml/2006/main">
              <a:rPr kumimoji="1" lang="en" altLang="en-US" dirty="0"/>
              <a:t>▲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925D7E41-6E78-195E-96F3-487C1ED59F92}"/>
              </a:ext>
            </a:extLst>
          </p:cNvPr>
          <p:cNvSpPr/>
          <p:nvPr/>
        </p:nvSpPr>
        <p:spPr>
          <a:xfrm>
            <a:off x="461156" y="2630090"/>
            <a:ext cx="11515370" cy="129091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F0655B08-C166-A08F-18E5-FA9C87CE1F6E}"/>
              </a:ext>
            </a:extLst>
          </p:cNvPr>
          <p:cNvSpPr/>
          <p:nvPr/>
        </p:nvSpPr>
        <p:spPr>
          <a:xfrm>
            <a:off x="9691449" y="2793148"/>
            <a:ext cx="2285078" cy="646331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600" dirty="0"/>
              <a:t>doctoral dissertation</a:t>
            </a:r>
            <a:endParaRPr xmlns:a="http://schemas.openxmlformats.org/drawingml/2006/main" kumimoji="1" lang="en-US" altLang="ja-JP" sz="1600" dirty="0"/>
          </a:p>
          <a:p>
            <a:pPr xmlns:a="http://schemas.openxmlformats.org/drawingml/2006/main" algn="ctr"/>
            <a:r xmlns:a="http://schemas.openxmlformats.org/drawingml/2006/main">
              <a:rPr kumimoji="1" lang="en" altLang="en-US" sz="1600" dirty="0"/>
              <a:t>Writing/Submission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D0E2566F-7D65-0399-EB98-E59CD35F9A68}"/>
              </a:ext>
            </a:extLst>
          </p:cNvPr>
          <p:cNvSpPr/>
          <p:nvPr/>
        </p:nvSpPr>
        <p:spPr>
          <a:xfrm>
            <a:off x="7696202" y="2790235"/>
            <a:ext cx="1953686" cy="646331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journal </a:t>
            </a:r>
            <a:br xmlns:a="http://schemas.openxmlformats.org/drawingml/2006/main">
              <a:rPr kumimoji="1" lang="en-US" altLang="ja-JP" sz="1400" dirty="0"/>
            </a:br>
            <a:r xmlns:a="http://schemas.openxmlformats.org/drawingml/2006/main">
              <a:rPr kumimoji="1" lang="en" altLang="en-US" sz="1400" dirty="0"/>
              <a:t>submission/presentation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3EA58CD3-3BB7-8489-8FF1-7B4FEDAEDF6B}"/>
              </a:ext>
            </a:extLst>
          </p:cNvPr>
          <p:cNvSpPr/>
          <p:nvPr/>
        </p:nvSpPr>
        <p:spPr>
          <a:xfrm>
            <a:off x="3402105" y="4544503"/>
            <a:ext cx="1358759" cy="304518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ja-JP" sz="1200" dirty="0">
                <a:solidFill>
                  <a:schemeClr val="bg1"/>
                </a:solidFill>
              </a:rPr>
              <a:t>B. RA </a:t>
            </a:r>
            <a:r xmlns:a="http://schemas.openxmlformats.org/drawingml/2006/main">
              <a:rPr kumimoji="1" lang="en" altLang="en-US" sz="1200" dirty="0">
                <a:solidFill>
                  <a:schemeClr val="bg1"/>
                </a:solidFill>
              </a:rPr>
              <a:t>improvement proposal</a:t>
            </a: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AC346D2C-B918-A23C-9D13-61A8671D0773}"/>
              </a:ext>
            </a:extLst>
          </p:cNvPr>
          <p:cNvSpPr/>
          <p:nvPr/>
        </p:nvSpPr>
        <p:spPr>
          <a:xfrm>
            <a:off x="2722098" y="4256910"/>
            <a:ext cx="1909551" cy="32904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ja-JP" sz="1200" dirty="0">
                <a:solidFill>
                  <a:schemeClr val="tx1"/>
                </a:solidFill>
              </a:rPr>
              <a:t>A. </a:t>
            </a:r>
            <a:r xmlns:a="http://schemas.openxmlformats.org/drawingml/2006/main">
              <a:rPr lang="en" altLang="en-US" sz="1200" dirty="0">
                <a:solidFill>
                  <a:schemeClr val="tx1"/>
                </a:solidFill>
              </a:rPr>
              <a:t>Trust Model Consideration</a:t>
            </a:r>
            <a:endParaRPr xmlns:a="http://schemas.openxmlformats.org/drawingml/2006/main"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46ECAA7-18B0-A053-E31B-50832D28B037}"/>
              </a:ext>
            </a:extLst>
          </p:cNvPr>
          <p:cNvCxnSpPr>
            <a:cxnSpLocks/>
          </p:cNvCxnSpPr>
          <p:nvPr/>
        </p:nvCxnSpPr>
        <p:spPr>
          <a:xfrm flipV="1">
            <a:off x="4671216" y="3445332"/>
            <a:ext cx="0" cy="12368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CA96B3F8-AC63-9683-DF8B-B236E9874DC9}"/>
              </a:ext>
            </a:extLst>
          </p:cNvPr>
          <p:cNvSpPr/>
          <p:nvPr/>
        </p:nvSpPr>
        <p:spPr>
          <a:xfrm>
            <a:off x="4567520" y="5757270"/>
            <a:ext cx="1489564" cy="329042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ja-JP" sz="1200" dirty="0">
                <a:solidFill>
                  <a:schemeClr val="bg1"/>
                </a:solidFill>
              </a:rPr>
              <a:t>B. </a:t>
            </a:r>
            <a:r xmlns:a="http://schemas.openxmlformats.org/drawingml/2006/main">
              <a:rPr kumimoji="1" lang="en" altLang="en-US" sz="1200" dirty="0">
                <a:solidFill>
                  <a:schemeClr val="bg1"/>
                </a:solidFill>
              </a:rPr>
              <a:t>Proposal for RA extension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EA1752E2-71D6-A8E8-F06A-54E2A5246B49}"/>
              </a:ext>
            </a:extLst>
          </p:cNvPr>
          <p:cNvSpPr/>
          <p:nvPr/>
        </p:nvSpPr>
        <p:spPr>
          <a:xfrm>
            <a:off x="4130782" y="5408924"/>
            <a:ext cx="1906987" cy="39876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ja-JP" sz="1200" dirty="0">
                <a:solidFill>
                  <a:schemeClr val="bg1"/>
                </a:solidFill>
              </a:rPr>
              <a:t>A. </a:t>
            </a:r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Security Model Consideration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9" name="矢印: 五方向 38">
            <a:extLst>
              <a:ext uri="{FF2B5EF4-FFF2-40B4-BE49-F238E27FC236}">
                <a16:creationId xmlns:a16="http://schemas.microsoft.com/office/drawing/2014/main" id="{C326B2B5-10BD-81FB-80A6-569F87121F53}"/>
              </a:ext>
            </a:extLst>
          </p:cNvPr>
          <p:cNvSpPr/>
          <p:nvPr/>
        </p:nvSpPr>
        <p:spPr>
          <a:xfrm>
            <a:off x="6129928" y="5757270"/>
            <a:ext cx="1655545" cy="329042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3D2F75BE-FBEE-F958-EAB2-DC4B23E7C586}"/>
              </a:ext>
            </a:extLst>
          </p:cNvPr>
          <p:cNvSpPr/>
          <p:nvPr/>
        </p:nvSpPr>
        <p:spPr>
          <a:xfrm>
            <a:off x="4782302" y="4560063"/>
            <a:ext cx="1514954" cy="303898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99BE8771-A5CE-B995-B366-70145DBD5D52}"/>
              </a:ext>
            </a:extLst>
          </p:cNvPr>
          <p:cNvSpPr/>
          <p:nvPr/>
        </p:nvSpPr>
        <p:spPr>
          <a:xfrm>
            <a:off x="6099548" y="4544503"/>
            <a:ext cx="1653770" cy="328423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D5603807-FC2E-9836-4664-B27723948613}"/>
              </a:ext>
            </a:extLst>
          </p:cNvPr>
          <p:cNvSpPr/>
          <p:nvPr/>
        </p:nvSpPr>
        <p:spPr>
          <a:xfrm>
            <a:off x="7869260" y="4502840"/>
            <a:ext cx="1822188" cy="1583471"/>
          </a:xfrm>
          <a:prstGeom prst="homePlate">
            <a:avLst>
              <a:gd name="adj" fmla="val 1922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>
                <a:solidFill>
                  <a:schemeClr val="bg1"/>
                </a:solidFill>
              </a:rPr>
              <a:t>Systematization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978C8C5-D57E-65BA-71DE-5256ACC1302A}"/>
              </a:ext>
            </a:extLst>
          </p:cNvPr>
          <p:cNvCxnSpPr>
            <a:cxnSpLocks/>
          </p:cNvCxnSpPr>
          <p:nvPr/>
        </p:nvCxnSpPr>
        <p:spPr>
          <a:xfrm flipV="1">
            <a:off x="7758220" y="3455126"/>
            <a:ext cx="0" cy="2474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F561CBE-1336-8B05-6C5D-F83ECF997C42}"/>
              </a:ext>
            </a:extLst>
          </p:cNvPr>
          <p:cNvCxnSpPr>
            <a:cxnSpLocks/>
          </p:cNvCxnSpPr>
          <p:nvPr/>
        </p:nvCxnSpPr>
        <p:spPr>
          <a:xfrm flipV="1">
            <a:off x="7714131" y="3455126"/>
            <a:ext cx="0" cy="12368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AFE4BB05-5591-F145-4D06-BD703B85FE0D}"/>
              </a:ext>
            </a:extLst>
          </p:cNvPr>
          <p:cNvSpPr/>
          <p:nvPr/>
        </p:nvSpPr>
        <p:spPr>
          <a:xfrm>
            <a:off x="4391505" y="2773854"/>
            <a:ext cx="1650039" cy="660040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International conference</a:t>
            </a:r>
            <a:endParaRPr xmlns:a="http://schemas.openxmlformats.org/drawingml/2006/main" kumimoji="1" lang="en-US" altLang="ja-JP" sz="1400" dirty="0"/>
          </a:p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Preparation/Presentation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5891D176-640A-164D-9955-2D4548C71957}"/>
              </a:ext>
            </a:extLst>
          </p:cNvPr>
          <p:cNvSpPr/>
          <p:nvPr/>
        </p:nvSpPr>
        <p:spPr>
          <a:xfrm>
            <a:off x="6004599" y="2806839"/>
            <a:ext cx="1650039" cy="629727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Preparing for/presenting </a:t>
            </a:r>
            <a:r xmlns:a="http://schemas.openxmlformats.org/drawingml/2006/main">
              <a:rPr kumimoji="1" lang="en" altLang="en-US" sz="1400" dirty="0"/>
              <a:t>at an international conference</a:t>
            </a:r>
            <a:br xmlns:a="http://schemas.openxmlformats.org/drawingml/2006/main">
              <a:rPr kumimoji="1" lang="en-US" altLang="ja-JP" sz="1400" dirty="0"/>
            </a:b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B0D10128-3D1F-1C70-0778-B9A1D9F974F8}"/>
              </a:ext>
            </a:extLst>
          </p:cNvPr>
          <p:cNvCxnSpPr>
            <a:cxnSpLocks/>
          </p:cNvCxnSpPr>
          <p:nvPr/>
        </p:nvCxnSpPr>
        <p:spPr>
          <a:xfrm flipV="1">
            <a:off x="6044703" y="3446161"/>
            <a:ext cx="0" cy="2474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2408D77-F85C-8ED4-D8A3-4B43A6801512}"/>
              </a:ext>
            </a:extLst>
          </p:cNvPr>
          <p:cNvCxnSpPr>
            <a:cxnSpLocks/>
          </p:cNvCxnSpPr>
          <p:nvPr/>
        </p:nvCxnSpPr>
        <p:spPr>
          <a:xfrm flipV="1">
            <a:off x="5979543" y="3446161"/>
            <a:ext cx="0" cy="21621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4C52F733-7A6B-282C-8F11-3DD349CB5286}"/>
              </a:ext>
            </a:extLst>
          </p:cNvPr>
          <p:cNvCxnSpPr>
            <a:cxnSpLocks/>
          </p:cNvCxnSpPr>
          <p:nvPr/>
        </p:nvCxnSpPr>
        <p:spPr>
          <a:xfrm flipV="1">
            <a:off x="9691448" y="3454297"/>
            <a:ext cx="0" cy="1848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F6E58A0E-6444-745A-F53C-0826C484698E}"/>
              </a:ext>
            </a:extLst>
          </p:cNvPr>
          <p:cNvSpPr/>
          <p:nvPr/>
        </p:nvSpPr>
        <p:spPr>
          <a:xfrm>
            <a:off x="3482790" y="2770579"/>
            <a:ext cx="869568" cy="67558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900" dirty="0">
                <a:solidFill>
                  <a:schemeClr val="tx1"/>
                </a:solidFill>
              </a:rPr>
              <a:t>Domestic Conference</a:t>
            </a:r>
            <a:endParaRPr xmlns:a="http://schemas.openxmlformats.org/drawingml/2006/main" kumimoji="1" lang="en-US" altLang="ja-JP" sz="900" dirty="0">
              <a:solidFill>
                <a:schemeClr val="tx1"/>
              </a:solidFill>
            </a:endParaRPr>
          </a:p>
          <a:p>
            <a:pPr xmlns:a="http://schemas.openxmlformats.org/drawingml/2006/main" algn="ctr"/>
            <a:r xmlns:a="http://schemas.openxmlformats.org/drawingml/2006/main">
              <a:rPr lang="en" altLang="en-US" sz="900" dirty="0">
                <a:solidFill>
                  <a:schemeClr val="tx1"/>
                </a:solidFill>
              </a:rPr>
              <a:t>Submission </a:t>
            </a:r>
            <a:r xmlns:a="http://schemas.openxmlformats.org/drawingml/2006/main">
              <a:rPr lang="en" altLang="ja-JP" sz="900" dirty="0">
                <a:solidFill>
                  <a:schemeClr val="tx1"/>
                </a:solidFill>
              </a:rPr>
              <a:t>/ </a:t>
            </a:r>
            <a:r xmlns:a="http://schemas.openxmlformats.org/drawingml/2006/main">
              <a:rPr lang="en" altLang="en-US" sz="900" dirty="0">
                <a:solidFill>
                  <a:schemeClr val="tx1"/>
                </a:solidFill>
              </a:rPr>
              <a:t>Announcement</a:t>
            </a:r>
            <a:endParaRPr xmlns:a="http://schemas.openxmlformats.org/drawingml/2006/main" lang="en-US" altLang="ja-JP" sz="900" dirty="0">
              <a:solidFill>
                <a:schemeClr val="tx1"/>
              </a:solidFill>
            </a:endParaRPr>
          </a:p>
        </p:txBody>
      </p:sp>
      <p:sp>
        <p:nvSpPr>
          <p:cNvPr id="33" name="円弧 32">
            <a:extLst>
              <a:ext uri="{FF2B5EF4-FFF2-40B4-BE49-F238E27FC236}">
                <a16:creationId xmlns:a16="http://schemas.microsoft.com/office/drawing/2014/main" id="{F80FFE42-D771-0B59-6A64-A029F51CA682}"/>
              </a:ext>
            </a:extLst>
          </p:cNvPr>
          <p:cNvSpPr/>
          <p:nvPr/>
        </p:nvSpPr>
        <p:spPr>
          <a:xfrm>
            <a:off x="4495688" y="3610960"/>
            <a:ext cx="236116" cy="120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>
            <a:extLst>
              <a:ext uri="{FF2B5EF4-FFF2-40B4-BE49-F238E27FC236}">
                <a16:creationId xmlns:a16="http://schemas.microsoft.com/office/drawing/2014/main" id="{55DA0E3F-9B08-752B-CFC8-C7B9CFF137A2}"/>
              </a:ext>
            </a:extLst>
          </p:cNvPr>
          <p:cNvSpPr/>
          <p:nvPr/>
        </p:nvSpPr>
        <p:spPr>
          <a:xfrm>
            <a:off x="5867720" y="3603979"/>
            <a:ext cx="297764" cy="122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円弧 46">
            <a:extLst>
              <a:ext uri="{FF2B5EF4-FFF2-40B4-BE49-F238E27FC236}">
                <a16:creationId xmlns:a16="http://schemas.microsoft.com/office/drawing/2014/main" id="{46EA3843-2A98-0394-EF15-55FAF1F39C90}"/>
              </a:ext>
            </a:extLst>
          </p:cNvPr>
          <p:cNvSpPr/>
          <p:nvPr/>
        </p:nvSpPr>
        <p:spPr>
          <a:xfrm>
            <a:off x="7586717" y="3545701"/>
            <a:ext cx="297764" cy="122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F72C135-9A07-11E3-5984-0B039F825044}"/>
              </a:ext>
            </a:extLst>
          </p:cNvPr>
          <p:cNvSpPr txBox="1"/>
          <p:nvPr/>
        </p:nvSpPr>
        <p:spPr>
          <a:xfrm>
            <a:off x="4708556" y="3454297"/>
            <a:ext cx="99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Distributed </a:t>
            </a:r>
            <a:r xmlns:a="http://schemas.openxmlformats.org/drawingml/2006/main">
              <a:rPr kumimoji="1" lang="en" altLang="ja-JP" sz="9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Proposal</a:t>
            </a:r>
            <a:r xmlns:a="http://schemas.openxmlformats.org/drawingml/2006/main">
              <a:rPr lang="en" altLang="en-US" sz="900" dirty="0">
                <a:solidFill>
                  <a:srgbClr val="FF0000"/>
                </a:solidFill>
              </a:rPr>
              <a:t>​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6F1361-B3A1-9524-4CBE-8300246A0D6B}"/>
              </a:ext>
            </a:extLst>
          </p:cNvPr>
          <p:cNvSpPr txBox="1"/>
          <p:nvPr/>
        </p:nvSpPr>
        <p:spPr>
          <a:xfrm>
            <a:off x="6147926" y="3475315"/>
            <a:ext cx="102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9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proposal </a:t>
            </a:r>
            <a:r xmlns:a="http://schemas.openxmlformats.org/drawingml/2006/main">
              <a:rPr lang="en" altLang="en-US" sz="900" dirty="0">
                <a:solidFill>
                  <a:srgbClr val="FF0000"/>
                </a:solidFill>
              </a:rPr>
              <a:t>for confidential information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847C0C0-24DD-C50E-5EDD-886B4413B34C}"/>
              </a:ext>
            </a:extLst>
          </p:cNvPr>
          <p:cNvSpPr txBox="1"/>
          <p:nvPr/>
        </p:nvSpPr>
        <p:spPr>
          <a:xfrm>
            <a:off x="7839757" y="3489384"/>
            <a:ext cx="139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Detailed feasibility assessment</a:t>
            </a:r>
            <a:endParaRPr xmlns:a="http://schemas.openxmlformats.org/drawingml/2006/main" kumimoji="1" lang="en-US" altLang="ja-JP" sz="900" dirty="0">
              <a:solidFill>
                <a:srgbClr val="FF0000"/>
              </a:solidFill>
            </a:endParaRPr>
          </a:p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and safety verification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9ACD70C-11A9-5FC6-7018-589A5A3865E0}"/>
              </a:ext>
            </a:extLst>
          </p:cNvPr>
          <p:cNvSpPr txBox="1"/>
          <p:nvPr/>
        </p:nvSpPr>
        <p:spPr>
          <a:xfrm>
            <a:off x="2844269" y="3567586"/>
            <a:ext cx="9922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(Issues raised)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CFF1885-D313-105B-15B7-7B1FBE9BC2CE}"/>
              </a:ext>
            </a:extLst>
          </p:cNvPr>
          <p:cNvSpPr txBox="1"/>
          <p:nvPr/>
        </p:nvSpPr>
        <p:spPr>
          <a:xfrm>
            <a:off x="9716304" y="3567586"/>
            <a:ext cx="10414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Writing a doctoral dissertation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92D17F8-B167-3929-075D-336E6AB0C54B}"/>
              </a:ext>
            </a:extLst>
          </p:cNvPr>
          <p:cNvCxnSpPr>
            <a:cxnSpLocks/>
          </p:cNvCxnSpPr>
          <p:nvPr/>
        </p:nvCxnSpPr>
        <p:spPr>
          <a:xfrm flipV="1">
            <a:off x="4567520" y="3454297"/>
            <a:ext cx="0" cy="9397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F3AF8A3-50EC-238F-0D06-D1A033B83220}"/>
              </a:ext>
            </a:extLst>
          </p:cNvPr>
          <p:cNvCxnSpPr>
            <a:cxnSpLocks/>
          </p:cNvCxnSpPr>
          <p:nvPr/>
        </p:nvCxnSpPr>
        <p:spPr>
          <a:xfrm flipV="1">
            <a:off x="3565834" y="3461626"/>
            <a:ext cx="0" cy="861559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A0F934-8066-5026-CEF4-7288CC22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99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481C9-6FF1-6441-4C96-7C6BEE35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In conclusion (Aspirations)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E29049-5141-21BA-4B4E-06712FCD8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73" y="1845503"/>
            <a:ext cx="11524423" cy="4326696"/>
          </a:xfrm>
        </p:spPr>
        <p:txBody>
          <a:bodyPr>
            <a:normAutofit fontScale="92500"/>
          </a:bodyPr>
          <a:lstStyle/>
          <a:p>
            <a:r xmlns:a="http://schemas.openxmlformats.org/drawingml/2006/main">
              <a:rPr kumimoji="1" lang="en" altLang="en-US" dirty="0"/>
              <a:t>Regarding the field of </a:t>
            </a:r>
            <a:endParaRPr xmlns:a="http://schemas.openxmlformats.org/drawingml/2006/main" kumimoji="1" lang="en-US" altLang="ja-JP" dirty="0"/>
            <a:r xmlns:a="http://schemas.openxmlformats.org/drawingml/2006/main">
              <a:rPr kumimoji="1" lang="en" altLang="ja-JP" dirty="0"/>
              <a:t>CC</a:t>
            </a:r>
          </a:p>
          <a:p>
            <a:pPr xmlns:a="http://schemas.openxmlformats.org/drawingml/2006/main" lvl="1"/>
            <a:r xmlns:a="http://schemas.openxmlformats.org/drawingml/2006/main">
              <a:rPr lang="en" altLang="en-US" dirty="0"/>
              <a:t>across hardware, software, cloud, and networking </a:t>
            </a:r>
            <a:br xmlns:a="http://schemas.openxmlformats.org/drawingml/2006/main">
              <a:rPr lang="en-US" altLang="ja-JP" dirty="0"/>
            </a:br>
            <a:r xmlns:a="http://schemas.openxmlformats.org/drawingml/2006/main">
              <a:rPr lang="en" altLang="en-US" dirty="0"/>
              <a:t>, we approach these challenges with a strong focus on cryptographic technology.</a:t>
            </a:r>
            <a:endParaRPr xmlns:a="http://schemas.openxmlformats.org/drawingml/2006/main" kumimoji="1" lang="en-US" altLang="ja-JP" dirty="0"/>
          </a:p>
          <a:p>
            <a:endParaRPr lang="en-US" altLang="ja-JP" dirty="0"/>
          </a:p>
          <a:p>
            <a:r xmlns:a="http://schemas.openxmlformats.org/drawingml/2006/main">
              <a:rPr kumimoji="1" lang="en" altLang="en-US" dirty="0"/>
              <a:t>As a security researcher</a:t>
            </a:r>
            <a:endParaRPr xmlns:a="http://schemas.openxmlformats.org/drawingml/2006/main" kumimoji="1" lang="en-US" altLang="ja-JP" dirty="0"/>
          </a:p>
          <a:p>
            <a:pPr xmlns:a="http://schemas.openxmlformats.org/drawingml/2006/main" lvl="1"/>
            <a:r xmlns:a="http://schemas.openxmlformats.org/drawingml/2006/main">
              <a:rPr kumimoji="1" lang="en" altLang="en-US" dirty="0"/>
              <a:t>further deepen my knowledge and experience in various security-related tasks and </a:t>
            </a:r>
            <a:br xmlns:a="http://schemas.openxmlformats.org/drawingml/2006/main">
              <a:rPr kumimoji="1" lang="en-US" altLang="ja-JP" dirty="0"/>
            </a:br>
            <a:r xmlns:a="http://schemas.openxmlformats.org/drawingml/2006/main">
              <a:rPr kumimoji="1" lang="en" altLang="en-US" dirty="0"/>
              <a:t>acquire expertise in security system architecture.</a:t>
            </a:r>
            <a:endParaRPr xmlns:a="http://schemas.openxmlformats.org/drawingml/2006/main" kumimoji="1" lang="en-US" altLang="ja-JP" dirty="0"/>
          </a:p>
          <a:p>
            <a:pPr lvl="1"/>
            <a:endParaRPr lang="en-US" altLang="ja-JP" dirty="0"/>
          </a:p>
          <a:p>
            <a:r xmlns:a="http://schemas.openxmlformats.org/drawingml/2006/main">
              <a:rPr lang="en" altLang="en-US" dirty="0"/>
              <a:t>Returning to the basics</a:t>
            </a:r>
            <a:endParaRPr xmlns:a="http://schemas.openxmlformats.org/drawingml/2006/main" lang="en-US" altLang="ja-JP" dirty="0"/>
          </a:p>
          <a:p>
            <a:pPr xmlns:a="http://schemas.openxmlformats.org/drawingml/2006/main" lvl="1"/>
            <a:r xmlns:a="http://schemas.openxmlformats.org/drawingml/2006/main">
              <a:rPr lang="en" altLang="en-US" dirty="0"/>
              <a:t>provide highly secure and reliable information and communication systems, and </a:t>
            </a:r>
            <a:br xmlns:a="http://schemas.openxmlformats.org/drawingml/2006/main">
              <a:rPr lang="en-US" altLang="ja-JP" dirty="0"/>
            </a:br>
            <a:r xmlns:a="http://schemas.openxmlformats.org/drawingml/2006/main">
              <a:rPr lang="en" altLang="en-US" dirty="0"/>
              <a:t>create a convenient and safe information society (we want to generate knowledge and deliver it to the world!).</a:t>
            </a:r>
            <a:endParaRPr xmlns:a="http://schemas.openxmlformats.org/drawingml/2006/main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3288EA-2781-BD8A-9D6B-D535C92E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35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2746F0-2BA6-D0E2-350D-9732806E6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xmlns:a="http://schemas.openxmlformats.org/drawingml/2006/main" marL="457200" lvl="1" indent="0" algn="ctr">
              <a:buNone/>
            </a:pPr>
            <a:r xmlns:a="http://schemas.openxmlformats.org/drawingml/2006/main">
              <a:rPr lang="en" altLang="en-US" sz="4000" dirty="0"/>
              <a:t>Supplementary information below</a:t>
            </a:r>
            <a:endParaRPr xmlns:a="http://schemas.openxmlformats.org/drawingml/2006/main" kumimoji="1" lang="ja-JP" altLang="en-US" sz="4000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9643F98-72C6-0A6D-B423-0122F380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028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3F5D7ED-236D-2702-85F5-224604A61B4E}"/>
              </a:ext>
            </a:extLst>
          </p:cNvPr>
          <p:cNvSpPr/>
          <p:nvPr/>
        </p:nvSpPr>
        <p:spPr>
          <a:xfrm>
            <a:off x="5893517" y="1328898"/>
            <a:ext cx="2784318" cy="815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2D84205-FA29-548A-C3F3-5AB9E8E6C4B3}"/>
              </a:ext>
            </a:extLst>
          </p:cNvPr>
          <p:cNvSpPr/>
          <p:nvPr/>
        </p:nvSpPr>
        <p:spPr>
          <a:xfrm>
            <a:off x="5893516" y="2401704"/>
            <a:ext cx="2784318" cy="921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2F97BA0-F423-1966-D7F2-51D0C3C9A97E}"/>
              </a:ext>
            </a:extLst>
          </p:cNvPr>
          <p:cNvSpPr/>
          <p:nvPr/>
        </p:nvSpPr>
        <p:spPr>
          <a:xfrm>
            <a:off x="5914831" y="3712450"/>
            <a:ext cx="2762999" cy="1044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C065DF-DAB9-8EE1-8688-C077F257325F}"/>
              </a:ext>
            </a:extLst>
          </p:cNvPr>
          <p:cNvSpPr txBox="1"/>
          <p:nvPr/>
        </p:nvSpPr>
        <p:spPr>
          <a:xfrm>
            <a:off x="6565662" y="1396126"/>
            <a:ext cx="16280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 err="1"/>
              <a:t>PubKey </a:t>
            </a:r>
            <a:r xmlns:a="http://schemas.openxmlformats.org/drawingml/2006/main">
              <a:rPr kumimoji="1" lang="en" altLang="ja-JP" sz="1000" dirty="0"/>
              <a:t>Certificate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65ECBE-EDC1-7DB7-5D00-16DF64FC6B67}"/>
              </a:ext>
            </a:extLst>
          </p:cNvPr>
          <p:cNvSpPr txBox="1"/>
          <p:nvPr/>
        </p:nvSpPr>
        <p:spPr>
          <a:xfrm>
            <a:off x="6572668" y="1750803"/>
            <a:ext cx="95461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/>
              <a:t>Signing Key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753929C-03DB-8241-5DE7-F7AC4D56C01C}"/>
              </a:ext>
            </a:extLst>
          </p:cNvPr>
          <p:cNvCxnSpPr>
            <a:cxnSpLocks/>
          </p:cNvCxnSpPr>
          <p:nvPr/>
        </p:nvCxnSpPr>
        <p:spPr>
          <a:xfrm>
            <a:off x="7086612" y="2039484"/>
            <a:ext cx="0" cy="430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D014B23-54E3-A9C7-43CC-27A748003366}"/>
              </a:ext>
            </a:extLst>
          </p:cNvPr>
          <p:cNvSpPr txBox="1"/>
          <p:nvPr/>
        </p:nvSpPr>
        <p:spPr>
          <a:xfrm>
            <a:off x="8827849" y="1581526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AMD Root CA</a:t>
            </a:r>
          </a:p>
          <a:p>
            <a:r xmlns:a="http://schemas.openxmlformats.org/drawingml/2006/main">
              <a:rPr lang="en" altLang="ja-JP" sz="1050" dirty="0"/>
              <a:t>(ARK)</a:t>
            </a:r>
            <a:endParaRPr xmlns:a="http://schemas.openxmlformats.org/drawingml/2006/main" kumimoji="1" lang="en-US" altLang="ja-JP" sz="105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A98C379-181A-7EEA-ABAA-AF2606FC4F60}"/>
              </a:ext>
            </a:extLst>
          </p:cNvPr>
          <p:cNvSpPr txBox="1"/>
          <p:nvPr/>
        </p:nvSpPr>
        <p:spPr>
          <a:xfrm>
            <a:off x="8797363" y="2755737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AMD SEV </a:t>
            </a:r>
            <a:r xmlns:a="http://schemas.openxmlformats.org/drawingml/2006/main">
              <a:rPr lang="en" altLang="ja-JP" sz="1050" dirty="0"/>
              <a:t>CA</a:t>
            </a:r>
          </a:p>
          <a:p>
            <a:r xmlns:a="http://schemas.openxmlformats.org/drawingml/2006/main">
              <a:rPr kumimoji="1" lang="en" altLang="ja-JP" sz="1050" dirty="0"/>
              <a:t>(ASK)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C60A765-001B-324E-57B8-C128E34383EB}"/>
              </a:ext>
            </a:extLst>
          </p:cNvPr>
          <p:cNvSpPr txBox="1"/>
          <p:nvPr/>
        </p:nvSpPr>
        <p:spPr>
          <a:xfrm>
            <a:off x="8742528" y="3925406"/>
            <a:ext cx="1516918" cy="5770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Versioned Chip</a:t>
            </a:r>
          </a:p>
          <a:p>
            <a:r xmlns:a="http://schemas.openxmlformats.org/drawingml/2006/main">
              <a:rPr lang="en" altLang="ja-JP" sz="1050" dirty="0"/>
              <a:t>Endorsement Key</a:t>
            </a:r>
          </a:p>
          <a:p>
            <a:r xmlns:a="http://schemas.openxmlformats.org/drawingml/2006/main">
              <a:rPr kumimoji="1" lang="en" altLang="ja-JP" sz="1050" dirty="0"/>
              <a:t>(VCEK)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6C555DA7-079A-E1DC-2643-34033D043A5D}"/>
              </a:ext>
            </a:extLst>
          </p:cNvPr>
          <p:cNvCxnSpPr>
            <a:cxnSpLocks/>
          </p:cNvCxnSpPr>
          <p:nvPr/>
        </p:nvCxnSpPr>
        <p:spPr>
          <a:xfrm>
            <a:off x="7093337" y="3202913"/>
            <a:ext cx="0" cy="585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195DA0DD-0072-F63E-A693-E726431E38CE}"/>
              </a:ext>
            </a:extLst>
          </p:cNvPr>
          <p:cNvSpPr txBox="1"/>
          <p:nvPr/>
        </p:nvSpPr>
        <p:spPr>
          <a:xfrm>
            <a:off x="6680655" y="2169397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757094D-F50E-C5F2-7AAD-275D8E81505D}"/>
              </a:ext>
            </a:extLst>
          </p:cNvPr>
          <p:cNvSpPr txBox="1"/>
          <p:nvPr/>
        </p:nvSpPr>
        <p:spPr>
          <a:xfrm>
            <a:off x="6680655" y="3390833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A043291-0AEB-E0CD-7D17-3B72E66528E2}"/>
              </a:ext>
            </a:extLst>
          </p:cNvPr>
          <p:cNvSpPr txBox="1"/>
          <p:nvPr/>
        </p:nvSpPr>
        <p:spPr>
          <a:xfrm>
            <a:off x="7730957" y="5719897"/>
            <a:ext cx="1591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100" dirty="0">
                <a:solidFill>
                  <a:srgbClr val="FF0000"/>
                </a:solidFill>
              </a:rPr>
              <a:t>Root of Trust</a:t>
            </a:r>
            <a:endParaRPr xmlns:a="http://schemas.openxmlformats.org/drawingml/2006/main" kumimoji="1" lang="ja-JP" altLang="en-US" sz="1100" dirty="0">
              <a:solidFill>
                <a:srgbClr val="FF0000"/>
              </a:solidFill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15A2B3B-1570-1D02-79BB-A248708A7E04}"/>
              </a:ext>
            </a:extLst>
          </p:cNvPr>
          <p:cNvSpPr txBox="1"/>
          <p:nvPr/>
        </p:nvSpPr>
        <p:spPr>
          <a:xfrm>
            <a:off x="6581295" y="5233888"/>
            <a:ext cx="911276" cy="41549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>
                <a:solidFill>
                  <a:schemeClr val="bg1"/>
                </a:solidFill>
              </a:rPr>
              <a:t>Attestation</a:t>
            </a:r>
          </a:p>
          <a:p>
            <a:pPr xmlns:a="http://schemas.openxmlformats.org/drawingml/2006/main" algn="ctr"/>
            <a:r xmlns:a="http://schemas.openxmlformats.org/drawingml/2006/main">
              <a:rPr kumimoji="1" lang="en" altLang="ja-JP" sz="1050" dirty="0">
                <a:solidFill>
                  <a:schemeClr val="bg1"/>
                </a:solidFill>
              </a:rPr>
              <a:t>Report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0C71717-FD30-D1FF-1974-A292F14C28A5}"/>
              </a:ext>
            </a:extLst>
          </p:cNvPr>
          <p:cNvSpPr/>
          <p:nvPr/>
        </p:nvSpPr>
        <p:spPr>
          <a:xfrm>
            <a:off x="6321152" y="4247680"/>
            <a:ext cx="1435865" cy="1779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3C6486C-4EFE-0DCA-9158-403B85CD43CF}"/>
              </a:ext>
            </a:extLst>
          </p:cNvPr>
          <p:cNvSpPr txBox="1"/>
          <p:nvPr/>
        </p:nvSpPr>
        <p:spPr>
          <a:xfrm>
            <a:off x="7595346" y="4821087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28B91F3-5209-189B-AF13-79F1981989A7}"/>
              </a:ext>
            </a:extLst>
          </p:cNvPr>
          <p:cNvSpPr txBox="1"/>
          <p:nvPr/>
        </p:nvSpPr>
        <p:spPr>
          <a:xfrm>
            <a:off x="2607823" y="3953489"/>
            <a:ext cx="881498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Chip - Unique </a:t>
            </a:r>
            <a:br xmlns:a="http://schemas.openxmlformats.org/drawingml/2006/main">
              <a:rPr kumimoji="1" lang="en-US" altLang="ja-JP" sz="900" dirty="0">
                <a:solidFill>
                  <a:schemeClr val="bg1"/>
                </a:solidFill>
              </a:rPr>
            </a:br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Secret</a:t>
            </a:r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18B4D189-8935-D29E-7B8E-155238A5E1A6}"/>
              </a:ext>
            </a:extLst>
          </p:cNvPr>
          <p:cNvCxnSpPr>
            <a:cxnSpLocks/>
          </p:cNvCxnSpPr>
          <p:nvPr/>
        </p:nvCxnSpPr>
        <p:spPr>
          <a:xfrm>
            <a:off x="3611487" y="4178959"/>
            <a:ext cx="22155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F711880A-6DFD-7002-3430-D38518FCED18}"/>
              </a:ext>
            </a:extLst>
          </p:cNvPr>
          <p:cNvCxnSpPr>
            <a:cxnSpLocks/>
          </p:cNvCxnSpPr>
          <p:nvPr/>
        </p:nvCxnSpPr>
        <p:spPr>
          <a:xfrm>
            <a:off x="4348567" y="3611799"/>
            <a:ext cx="0" cy="5263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88AB67A-5E20-04AE-5155-C2F4079D0F86}"/>
              </a:ext>
            </a:extLst>
          </p:cNvPr>
          <p:cNvSpPr txBox="1"/>
          <p:nvPr/>
        </p:nvSpPr>
        <p:spPr>
          <a:xfrm>
            <a:off x="3727761" y="4184381"/>
            <a:ext cx="1241611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Key Derivation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B6464410-5699-AF46-3261-801EE7ADFF7D}"/>
              </a:ext>
            </a:extLst>
          </p:cNvPr>
          <p:cNvSpPr txBox="1"/>
          <p:nvPr/>
        </p:nvSpPr>
        <p:spPr>
          <a:xfrm>
            <a:off x="3299356" y="2793827"/>
            <a:ext cx="1702720" cy="7848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900" dirty="0"/>
              <a:t>Security Version Number</a:t>
            </a:r>
          </a:p>
          <a:p>
            <a:r xmlns:a="http://schemas.openxmlformats.org/drawingml/2006/main">
              <a:rPr lang="en" altLang="en-US" sz="900" dirty="0"/>
              <a:t>Bootloader</a:t>
            </a:r>
            <a:r xmlns:a="http://schemas.openxmlformats.org/drawingml/2006/main">
              <a:rPr kumimoji="1" lang="en" altLang="ja-JP" sz="900" dirty="0"/>
              <a:t>​</a:t>
            </a:r>
          </a:p>
          <a:p>
            <a:r xmlns:a="http://schemas.openxmlformats.org/drawingml/2006/main">
              <a:rPr lang="en" altLang="en-US" sz="900" dirty="0"/>
              <a:t>OS</a:t>
            </a:r>
            <a:r xmlns:a="http://schemas.openxmlformats.org/drawingml/2006/main">
              <a:rPr lang="en" altLang="ja-JP" sz="900" dirty="0"/>
              <a:t>​</a:t>
            </a:r>
          </a:p>
          <a:p>
            <a:r xmlns:a="http://schemas.openxmlformats.org/drawingml/2006/main">
              <a:rPr kumimoji="1" lang="en" altLang="en-US" sz="900" dirty="0"/>
              <a:t>SNP </a:t>
            </a:r>
            <a:r xmlns:a="http://schemas.openxmlformats.org/drawingml/2006/main">
              <a:rPr kumimoji="1" lang="en" altLang="ja-JP" sz="900" dirty="0"/>
              <a:t>FW</a:t>
            </a:r>
          </a:p>
          <a:p>
            <a:r xmlns:a="http://schemas.openxmlformats.org/drawingml/2006/main">
              <a:rPr lang="en" altLang="en-US" sz="900" dirty="0"/>
              <a:t>Microcode </a:t>
            </a:r>
            <a:r xmlns:a="http://schemas.openxmlformats.org/drawingml/2006/main">
              <a:rPr lang="en" altLang="ja-JP" sz="900" dirty="0"/>
              <a:t>Patch Level</a:t>
            </a:r>
            <a:endParaRPr xmlns:a="http://schemas.openxmlformats.org/drawingml/2006/main" kumimoji="1" lang="en-US" altLang="ja-JP" sz="9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C4EB34F-9B2B-301C-CB71-D88FCB1D926B}"/>
              </a:ext>
            </a:extLst>
          </p:cNvPr>
          <p:cNvSpPr txBox="1"/>
          <p:nvPr/>
        </p:nvSpPr>
        <p:spPr>
          <a:xfrm>
            <a:off x="5827059" y="6185598"/>
            <a:ext cx="5947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900" dirty="0"/>
              <a:t>Reference: </a:t>
            </a:r>
            <a:r xmlns:a="http://schemas.openxmlformats.org/drawingml/2006/main">
              <a:rPr lang="en" altLang="ja-JP" sz="900" dirty="0"/>
              <a:t>Versioned Chip Endorsement Key (VCEK) Certificate and KDS Interface Specification</a:t>
            </a:r>
          </a:p>
          <a:p>
            <a:r xmlns:a="http://schemas.openxmlformats.org/drawingml/2006/main" xmlns:r="http://schemas.openxmlformats.org/officeDocument/2006/relationships">
              <a:rPr lang="en" altLang="ja-JP" sz="900" dirty="0">
                <a:hlinkClick r:id="rId2"/>
              </a:rPr>
              <a:t>https://www.amd.com/content/dam/amd/en/documents/epyc-technical-docs/specifications/57230.pdf</a:t>
            </a:r>
            <a:endParaRPr xmlns:a="http://schemas.openxmlformats.org/drawingml/2006/main" lang="en-US" altLang="ja-JP" sz="900" dirty="0"/>
          </a:p>
          <a:p>
            <a:r xmlns:a="http://schemas.openxmlformats.org/drawingml/2006/main">
              <a:rPr lang="en" altLang="en-US" sz="900" dirty="0"/>
              <a:t>Reference: </a:t>
            </a:r>
            <a:r xmlns:a="http://schemas.openxmlformats.org/drawingml/2006/main">
              <a:rPr lang="en" altLang="ja-JP" sz="900" dirty="0"/>
              <a:t>AMD SEV-SNP Attestation: Establishing Trust in Guests</a:t>
            </a:r>
          </a:p>
          <a:p>
            <a:r xmlns:a="http://schemas.openxmlformats.org/drawingml/2006/main" xmlns:r="http://schemas.openxmlformats.org/officeDocument/2006/relationships">
              <a:rPr lang="en" altLang="ja-JP" sz="900" dirty="0">
                <a:hlinkClick r:id="rId3"/>
              </a:rPr>
              <a:t>https://www.amd.com/content/dam/amd/en/documents/developer/lss-snp-attestation.pdf</a:t>
            </a:r>
            <a:endParaRPr xmlns:a="http://schemas.openxmlformats.org/drawingml/2006/main" lang="en-US" altLang="ja-JP" sz="900" dirty="0"/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503BDD1C-3846-2502-49C4-22470305AB4B}"/>
              </a:ext>
            </a:extLst>
          </p:cNvPr>
          <p:cNvCxnSpPr>
            <a:cxnSpLocks/>
          </p:cNvCxnSpPr>
          <p:nvPr/>
        </p:nvCxnSpPr>
        <p:spPr>
          <a:xfrm>
            <a:off x="5739051" y="5599704"/>
            <a:ext cx="784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6698779B-6BDF-ABAB-5DA7-CCF586B683B0}"/>
              </a:ext>
            </a:extLst>
          </p:cNvPr>
          <p:cNvSpPr txBox="1"/>
          <p:nvPr/>
        </p:nvSpPr>
        <p:spPr>
          <a:xfrm>
            <a:off x="4590396" y="5399284"/>
            <a:ext cx="1622324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Guest </a:t>
            </a:r>
            <a:br xmlns:a="http://schemas.openxmlformats.org/drawingml/2006/main">
              <a:rPr kumimoji="1" lang="en-US" altLang="ja-JP" sz="1050" dirty="0"/>
            </a:br>
            <a:r xmlns:a="http://schemas.openxmlformats.org/drawingml/2006/main">
              <a:rPr kumimoji="1" lang="en" altLang="ja-JP" sz="1050" dirty="0"/>
              <a:t>Measurements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03C42460-EF6C-1E9C-5ABD-33FC8907F8AF}"/>
              </a:ext>
            </a:extLst>
          </p:cNvPr>
          <p:cNvSpPr txBox="1"/>
          <p:nvPr/>
        </p:nvSpPr>
        <p:spPr>
          <a:xfrm>
            <a:off x="3787952" y="5037437"/>
            <a:ext cx="157609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REPORT_DATA</a:t>
            </a: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A84CE80E-B261-8BE8-2250-99A03EDA4D33}"/>
              </a:ext>
            </a:extLst>
          </p:cNvPr>
          <p:cNvCxnSpPr>
            <a:cxnSpLocks/>
          </p:cNvCxnSpPr>
          <p:nvPr/>
        </p:nvCxnSpPr>
        <p:spPr>
          <a:xfrm>
            <a:off x="3863955" y="5291353"/>
            <a:ext cx="26595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216776E-130B-3B1B-BA4C-F2719890B7A6}"/>
              </a:ext>
            </a:extLst>
          </p:cNvPr>
          <p:cNvSpPr/>
          <p:nvPr/>
        </p:nvSpPr>
        <p:spPr>
          <a:xfrm>
            <a:off x="2222212" y="5121104"/>
            <a:ext cx="1443574" cy="8604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C2FA941B-D194-DD1F-FF3C-8A0DD2D5EE50}"/>
              </a:ext>
            </a:extLst>
          </p:cNvPr>
          <p:cNvSpPr txBox="1"/>
          <p:nvPr/>
        </p:nvSpPr>
        <p:spPr>
          <a:xfrm>
            <a:off x="2507877" y="5571228"/>
            <a:ext cx="94914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Secret Key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AF77EED-9D32-9AAB-A8EE-24AE364BA8C1}"/>
              </a:ext>
            </a:extLst>
          </p:cNvPr>
          <p:cNvSpPr txBox="1"/>
          <p:nvPr/>
        </p:nvSpPr>
        <p:spPr>
          <a:xfrm>
            <a:off x="2507877" y="5214222"/>
            <a:ext cx="94914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Public Key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53B5842B-D171-9515-88F5-41D06133A703}"/>
              </a:ext>
            </a:extLst>
          </p:cNvPr>
          <p:cNvSpPr txBox="1"/>
          <p:nvPr/>
        </p:nvSpPr>
        <p:spPr>
          <a:xfrm>
            <a:off x="1602846" y="5079162"/>
            <a:ext cx="764110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Guest </a:t>
            </a:r>
            <a:br xmlns:a="http://schemas.openxmlformats.org/drawingml/2006/main">
              <a:rPr lang="en-US" altLang="ja-JP" sz="1050" dirty="0"/>
            </a:br>
            <a:r xmlns:a="http://schemas.openxmlformats.org/drawingml/2006/main">
              <a:rPr lang="en" altLang="ja-JP" sz="1050" dirty="0"/>
              <a:t>Keypair</a:t>
            </a:r>
            <a:endParaRPr xmlns:a="http://schemas.openxmlformats.org/drawingml/2006/main" kumimoji="1" lang="ja-JP" altLang="en-US" sz="1050" dirty="0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9DB2F7F6-21BE-9BC0-5E22-80A1396EBFF9}"/>
              </a:ext>
            </a:extLst>
          </p:cNvPr>
          <p:cNvSpPr txBox="1"/>
          <p:nvPr/>
        </p:nvSpPr>
        <p:spPr>
          <a:xfrm>
            <a:off x="654858" y="1367565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AMD SEV-SNP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1C7C18-87DD-AE18-4271-EDADEC8C5A8E}"/>
              </a:ext>
            </a:extLst>
          </p:cNvPr>
          <p:cNvSpPr txBox="1"/>
          <p:nvPr/>
        </p:nvSpPr>
        <p:spPr>
          <a:xfrm>
            <a:off x="6546200" y="2889241"/>
            <a:ext cx="1094274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/>
              <a:t>Signing Key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E533EA9-4486-296F-5560-62F2F79EB36A}"/>
              </a:ext>
            </a:extLst>
          </p:cNvPr>
          <p:cNvSpPr txBox="1"/>
          <p:nvPr/>
        </p:nvSpPr>
        <p:spPr>
          <a:xfrm>
            <a:off x="6527658" y="4341514"/>
            <a:ext cx="1094274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/>
              <a:t>Signing Key</a:t>
            </a: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76F1B849-7791-35CA-FB8F-39710D0E776A}"/>
              </a:ext>
            </a:extLst>
          </p:cNvPr>
          <p:cNvSpPr/>
          <p:nvPr/>
        </p:nvSpPr>
        <p:spPr>
          <a:xfrm flipH="1">
            <a:off x="6278797" y="1573423"/>
            <a:ext cx="237566" cy="277906"/>
          </a:xfrm>
          <a:custGeom>
            <a:avLst/>
            <a:gdLst>
              <a:gd name="connsiteX0" fmla="*/ 0 w 484094"/>
              <a:gd name="connsiteY0" fmla="*/ 277906 h 277906"/>
              <a:gd name="connsiteX1" fmla="*/ 484094 w 484094"/>
              <a:gd name="connsiteY1" fmla="*/ 277906 h 277906"/>
              <a:gd name="connsiteX2" fmla="*/ 484094 w 484094"/>
              <a:gd name="connsiteY2" fmla="*/ 0 h 277906"/>
              <a:gd name="connsiteX3" fmla="*/ 26894 w 484094"/>
              <a:gd name="connsiteY3" fmla="*/ 0 h 27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094" h="277906">
                <a:moveTo>
                  <a:pt x="0" y="277906"/>
                </a:moveTo>
                <a:lnTo>
                  <a:pt x="484094" y="277906"/>
                </a:lnTo>
                <a:lnTo>
                  <a:pt x="484094" y="0"/>
                </a:lnTo>
                <a:lnTo>
                  <a:pt x="26894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FDAE63A-CFF9-80A0-99D0-80870CA45694}"/>
              </a:ext>
            </a:extLst>
          </p:cNvPr>
          <p:cNvSpPr txBox="1"/>
          <p:nvPr/>
        </p:nvSpPr>
        <p:spPr>
          <a:xfrm>
            <a:off x="5272710" y="1577054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Self-Sign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A4361D3-DEAB-1A96-5775-768B0BDC87F2}"/>
              </a:ext>
            </a:extLst>
          </p:cNvPr>
          <p:cNvSpPr txBox="1"/>
          <p:nvPr/>
        </p:nvSpPr>
        <p:spPr>
          <a:xfrm>
            <a:off x="7586238" y="2155933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55CC0CE-433D-E6E1-99ED-0BBE32094010}"/>
              </a:ext>
            </a:extLst>
          </p:cNvPr>
          <p:cNvSpPr txBox="1"/>
          <p:nvPr/>
        </p:nvSpPr>
        <p:spPr>
          <a:xfrm>
            <a:off x="7621932" y="3397202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647D36A-49AE-F360-ADBB-9940EB225012}"/>
              </a:ext>
            </a:extLst>
          </p:cNvPr>
          <p:cNvSpPr txBox="1"/>
          <p:nvPr/>
        </p:nvSpPr>
        <p:spPr>
          <a:xfrm>
            <a:off x="6538448" y="2506609"/>
            <a:ext cx="1655292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 err="1"/>
              <a:t>PubKey </a:t>
            </a:r>
            <a:r xmlns:a="http://schemas.openxmlformats.org/drawingml/2006/main">
              <a:rPr kumimoji="1" lang="en" altLang="ja-JP" sz="1000" dirty="0"/>
              <a:t>Certificate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82026A0-BFF5-AB60-F584-CDB44A0C52CA}"/>
              </a:ext>
            </a:extLst>
          </p:cNvPr>
          <p:cNvSpPr txBox="1"/>
          <p:nvPr/>
        </p:nvSpPr>
        <p:spPr>
          <a:xfrm>
            <a:off x="6527658" y="3825616"/>
            <a:ext cx="1666080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00" dirty="0" err="1"/>
              <a:t>PubKey </a:t>
            </a:r>
            <a:r xmlns:a="http://schemas.openxmlformats.org/drawingml/2006/main">
              <a:rPr kumimoji="1" lang="en" altLang="ja-JP" sz="1000" dirty="0"/>
              <a:t>Certificate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3F15399C-AEEF-C77F-4042-B22FDBF1C747}"/>
              </a:ext>
            </a:extLst>
          </p:cNvPr>
          <p:cNvCxnSpPr>
            <a:cxnSpLocks/>
          </p:cNvCxnSpPr>
          <p:nvPr/>
        </p:nvCxnSpPr>
        <p:spPr>
          <a:xfrm flipV="1">
            <a:off x="7978308" y="2752830"/>
            <a:ext cx="0" cy="1033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42E965D-54CC-2504-7F0E-E028A7AEFB89}"/>
              </a:ext>
            </a:extLst>
          </p:cNvPr>
          <p:cNvCxnSpPr>
            <a:cxnSpLocks/>
          </p:cNvCxnSpPr>
          <p:nvPr/>
        </p:nvCxnSpPr>
        <p:spPr>
          <a:xfrm flipV="1">
            <a:off x="7970441" y="1671052"/>
            <a:ext cx="0" cy="778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9583CD40-15D9-5BDC-2298-2BF077191857}"/>
              </a:ext>
            </a:extLst>
          </p:cNvPr>
          <p:cNvCxnSpPr>
            <a:cxnSpLocks/>
          </p:cNvCxnSpPr>
          <p:nvPr/>
        </p:nvCxnSpPr>
        <p:spPr>
          <a:xfrm>
            <a:off x="7083877" y="4655057"/>
            <a:ext cx="0" cy="516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AE2AA7D-6526-6150-9DB9-4F5971DDB69B}"/>
              </a:ext>
            </a:extLst>
          </p:cNvPr>
          <p:cNvSpPr txBox="1"/>
          <p:nvPr/>
        </p:nvSpPr>
        <p:spPr>
          <a:xfrm>
            <a:off x="6637572" y="4826211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34A2C2D1-3414-A1D3-961F-51C0AD51CF6E}"/>
              </a:ext>
            </a:extLst>
          </p:cNvPr>
          <p:cNvSpPr/>
          <p:nvPr/>
        </p:nvSpPr>
        <p:spPr>
          <a:xfrm>
            <a:off x="7584142" y="4150659"/>
            <a:ext cx="367553" cy="1290917"/>
          </a:xfrm>
          <a:custGeom>
            <a:avLst/>
            <a:gdLst>
              <a:gd name="connsiteX0" fmla="*/ 0 w 367553"/>
              <a:gd name="connsiteY0" fmla="*/ 1290917 h 1290917"/>
              <a:gd name="connsiteX1" fmla="*/ 367553 w 367553"/>
              <a:gd name="connsiteY1" fmla="*/ 1290917 h 1290917"/>
              <a:gd name="connsiteX2" fmla="*/ 367553 w 367553"/>
              <a:gd name="connsiteY2" fmla="*/ 0 h 1290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7553" h="1290917">
                <a:moveTo>
                  <a:pt x="0" y="1290917"/>
                </a:moveTo>
                <a:lnTo>
                  <a:pt x="367553" y="1290917"/>
                </a:lnTo>
                <a:lnTo>
                  <a:pt x="367553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9A03649-7B27-913D-A3BA-355CE92B97BB}"/>
              </a:ext>
            </a:extLst>
          </p:cNvPr>
          <p:cNvSpPr txBox="1"/>
          <p:nvPr/>
        </p:nvSpPr>
        <p:spPr>
          <a:xfrm>
            <a:off x="9222397" y="737993"/>
            <a:ext cx="2969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* </a:t>
            </a:r>
            <a:r xmlns:a="http://schemas.openxmlformats.org/drawingml/2006/main">
              <a:rPr lang="en" altLang="en-US" sz="1200" dirty="0"/>
              <a:t>Created based on hypotheses, referencing the provided materials.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ED280D5-0B0E-DB1F-2C1D-BF7306BB0E23}"/>
              </a:ext>
            </a:extLst>
          </p:cNvPr>
          <p:cNvSpPr/>
          <p:nvPr/>
        </p:nvSpPr>
        <p:spPr>
          <a:xfrm>
            <a:off x="10754096" y="1067610"/>
            <a:ext cx="553056" cy="196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85949A-E277-7C27-0294-E67E808AC003}"/>
              </a:ext>
            </a:extLst>
          </p:cNvPr>
          <p:cNvSpPr txBox="1"/>
          <p:nvPr/>
        </p:nvSpPr>
        <p:spPr>
          <a:xfrm>
            <a:off x="11353800" y="1038920"/>
            <a:ext cx="76411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Keypair</a:t>
            </a:r>
            <a:endParaRPr xmlns:a="http://schemas.openxmlformats.org/drawingml/2006/main" kumimoji="1" lang="ja-JP" altLang="en-US" sz="105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8FBA6-4406-E069-67ED-36DB567E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657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FD16AC-93F5-D5DF-D0B9-CD244A3DC3F7}"/>
              </a:ext>
            </a:extLst>
          </p:cNvPr>
          <p:cNvSpPr txBox="1"/>
          <p:nvPr/>
        </p:nvSpPr>
        <p:spPr>
          <a:xfrm>
            <a:off x="285844" y="1148373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Intel SGX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18B51958-F4EB-6DB2-B82F-503529557A82}"/>
              </a:ext>
            </a:extLst>
          </p:cNvPr>
          <p:cNvSpPr txBox="1"/>
          <p:nvPr/>
        </p:nvSpPr>
        <p:spPr>
          <a:xfrm>
            <a:off x="188595" y="6189788"/>
            <a:ext cx="74131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900" dirty="0"/>
              <a:t>Reference: </a:t>
            </a:r>
            <a:r xmlns:a="http://schemas.openxmlformats.org/drawingml/2006/main">
              <a:rPr lang="en" altLang="ja-JP" sz="900" dirty="0"/>
              <a:t>Design Guide for Intel® SGX Provisioning Certificate Caching Service (Intel® SGX PCCS)</a:t>
            </a:r>
          </a:p>
          <a:p>
            <a:r xmlns:a="http://schemas.openxmlformats.org/drawingml/2006/main" xmlns:r="http://schemas.openxmlformats.org/officeDocument/2006/relationships">
              <a:rPr lang="en" altLang="ja-JP" sz="900" dirty="0">
                <a:hlinkClick r:id="rId2"/>
              </a:rPr>
              <a:t>https://download.01.org/intel-sgx/sgx-dcap/1.14/linux/docs/SGX_DCAP_Caching_Service_Design_Guide.pdf</a:t>
            </a:r>
            <a:endParaRPr xmlns:a="http://schemas.openxmlformats.org/drawingml/2006/main" lang="en-US" altLang="ja-JP" sz="900" dirty="0"/>
          </a:p>
          <a:p>
            <a:endParaRPr lang="en-US" altLang="ja-JP" sz="9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DBCDD7-1F21-2C5E-C4E0-15A695D5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89" y="1615413"/>
            <a:ext cx="7557139" cy="4365432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530A3E-BCC5-2C7A-A679-38CE59AC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313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031C83-F6B2-3CCA-4C24-A779BB0F2571}"/>
              </a:ext>
            </a:extLst>
          </p:cNvPr>
          <p:cNvSpPr txBox="1"/>
          <p:nvPr/>
        </p:nvSpPr>
        <p:spPr>
          <a:xfrm>
            <a:off x="1078919" y="4628064"/>
            <a:ext cx="151368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</a:t>
            </a:r>
            <a:r xmlns:a="http://schemas.openxmlformats.org/drawingml/2006/main">
              <a:rPr lang="en" altLang="ja-JP" sz="1050" b="1" dirty="0"/>
              <a:t>PCK</a:t>
            </a:r>
          </a:p>
          <a:p>
            <a:r xmlns:a="http://schemas.openxmlformats.org/drawingml/2006/main">
              <a:rPr kumimoji="1" lang="en" altLang="ja-JP" sz="1050" b="1" dirty="0"/>
              <a:t>Certificate</a:t>
            </a: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F7EE1C2C-1F12-04D3-E146-FEAAEBC49227}"/>
              </a:ext>
            </a:extLst>
          </p:cNvPr>
          <p:cNvSpPr/>
          <p:nvPr/>
        </p:nvSpPr>
        <p:spPr>
          <a:xfrm>
            <a:off x="5017754" y="5254168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16675E6B-BA36-3DEC-E771-819872F1994A}"/>
              </a:ext>
            </a:extLst>
          </p:cNvPr>
          <p:cNvSpPr/>
          <p:nvPr/>
        </p:nvSpPr>
        <p:spPr>
          <a:xfrm>
            <a:off x="4954796" y="5183369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D7A1CC41-973F-3867-00E0-ECB54E32F96A}"/>
              </a:ext>
            </a:extLst>
          </p:cNvPr>
          <p:cNvSpPr/>
          <p:nvPr/>
        </p:nvSpPr>
        <p:spPr>
          <a:xfrm>
            <a:off x="1518386" y="5259164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00ECDC42-500C-898E-2439-1F1B76BE7046}"/>
              </a:ext>
            </a:extLst>
          </p:cNvPr>
          <p:cNvSpPr/>
          <p:nvPr/>
        </p:nvSpPr>
        <p:spPr>
          <a:xfrm>
            <a:off x="1447011" y="5172505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FD16AC-93F5-D5DF-D0B9-CD244A3DC3F7}"/>
              </a:ext>
            </a:extLst>
          </p:cNvPr>
          <p:cNvSpPr txBox="1"/>
          <p:nvPr/>
        </p:nvSpPr>
        <p:spPr>
          <a:xfrm>
            <a:off x="285844" y="1148373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Intel SGX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9EB2C0E-06B6-6918-E2CA-1422441F86B6}"/>
              </a:ext>
            </a:extLst>
          </p:cNvPr>
          <p:cNvSpPr/>
          <p:nvPr/>
        </p:nvSpPr>
        <p:spPr>
          <a:xfrm>
            <a:off x="1301922" y="1748375"/>
            <a:ext cx="9300102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D4A18B5-D7CB-D38E-D8D4-7D8F96EF036B}"/>
              </a:ext>
            </a:extLst>
          </p:cNvPr>
          <p:cNvSpPr txBox="1"/>
          <p:nvPr/>
        </p:nvSpPr>
        <p:spPr>
          <a:xfrm>
            <a:off x="1783698" y="2197160"/>
            <a:ext cx="987902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B6F4C2A-B0C3-8916-6CE8-3276A0F238CB}"/>
              </a:ext>
            </a:extLst>
          </p:cNvPr>
          <p:cNvSpPr txBox="1"/>
          <p:nvPr/>
        </p:nvSpPr>
        <p:spPr>
          <a:xfrm>
            <a:off x="1767380" y="1832075"/>
            <a:ext cx="8064047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9F8E692-804A-02BA-A6FC-4F10483672C5}"/>
              </a:ext>
            </a:extLst>
          </p:cNvPr>
          <p:cNvSpPr txBox="1"/>
          <p:nvPr/>
        </p:nvSpPr>
        <p:spPr>
          <a:xfrm>
            <a:off x="1234996" y="1549693"/>
            <a:ext cx="143300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</a:t>
            </a:r>
            <a:r xmlns:a="http://schemas.openxmlformats.org/drawingml/2006/main">
              <a:rPr lang="en" altLang="ja-JP" sz="1050" b="1" dirty="0"/>
              <a:t>Root CA</a:t>
            </a:r>
            <a:endParaRPr xmlns:a="http://schemas.openxmlformats.org/drawingml/2006/main" kumimoji="1" lang="en-US" altLang="ja-JP" sz="1050" b="1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5251250-9B94-2DF2-8A3D-849738665AD1}"/>
              </a:ext>
            </a:extLst>
          </p:cNvPr>
          <p:cNvSpPr/>
          <p:nvPr/>
        </p:nvSpPr>
        <p:spPr>
          <a:xfrm>
            <a:off x="1301923" y="3467379"/>
            <a:ext cx="2090286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9C230BB6-FBC9-D12D-471A-F02E547E1B28}"/>
              </a:ext>
            </a:extLst>
          </p:cNvPr>
          <p:cNvSpPr txBox="1"/>
          <p:nvPr/>
        </p:nvSpPr>
        <p:spPr>
          <a:xfrm>
            <a:off x="1573725" y="3916164"/>
            <a:ext cx="1094274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1A8E671-32CC-DADD-1B01-5C0E994FAB53}"/>
              </a:ext>
            </a:extLst>
          </p:cNvPr>
          <p:cNvSpPr txBox="1"/>
          <p:nvPr/>
        </p:nvSpPr>
        <p:spPr>
          <a:xfrm>
            <a:off x="1573725" y="3551079"/>
            <a:ext cx="166608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2070FE1-D148-8396-CCB2-AA0E47EC0EFA}"/>
              </a:ext>
            </a:extLst>
          </p:cNvPr>
          <p:cNvSpPr txBox="1"/>
          <p:nvPr/>
        </p:nvSpPr>
        <p:spPr>
          <a:xfrm>
            <a:off x="1084423" y="3071581"/>
            <a:ext cx="151368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</a:t>
            </a:r>
            <a:r xmlns:a="http://schemas.openxmlformats.org/drawingml/2006/main">
              <a:rPr lang="en" altLang="ja-JP" sz="1050" b="1" dirty="0"/>
              <a:t>PCK Platform CA</a:t>
            </a:r>
            <a:endParaRPr xmlns:a="http://schemas.openxmlformats.org/drawingml/2006/main" kumimoji="1" lang="en-US" altLang="ja-JP" sz="1050" b="1" dirty="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C711AEE-8739-D3F6-66F3-96B9DB5F2B70}"/>
              </a:ext>
            </a:extLst>
          </p:cNvPr>
          <p:cNvSpPr/>
          <p:nvPr/>
        </p:nvSpPr>
        <p:spPr>
          <a:xfrm>
            <a:off x="4837765" y="3467379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7AA3C8B-10B7-718D-1D30-FB1B54A5A835}"/>
              </a:ext>
            </a:extLst>
          </p:cNvPr>
          <p:cNvSpPr txBox="1"/>
          <p:nvPr/>
        </p:nvSpPr>
        <p:spPr>
          <a:xfrm>
            <a:off x="5027377" y="3916164"/>
            <a:ext cx="1094274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17DDF97-61E9-BAC7-F55A-9E2E8046D28D}"/>
              </a:ext>
            </a:extLst>
          </p:cNvPr>
          <p:cNvSpPr txBox="1"/>
          <p:nvPr/>
        </p:nvSpPr>
        <p:spPr>
          <a:xfrm>
            <a:off x="5027377" y="3551079"/>
            <a:ext cx="166608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4593F37-9DAC-6EE3-AC17-567B5C8FB4E2}"/>
              </a:ext>
            </a:extLst>
          </p:cNvPr>
          <p:cNvSpPr txBox="1"/>
          <p:nvPr/>
        </p:nvSpPr>
        <p:spPr>
          <a:xfrm>
            <a:off x="11072530" y="2114339"/>
            <a:ext cx="562539" cy="2308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CRL</a:t>
            </a: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B5E69A05-B019-3B4C-9B08-AF5706EE1421}"/>
              </a:ext>
            </a:extLst>
          </p:cNvPr>
          <p:cNvCxnSpPr/>
          <p:nvPr/>
        </p:nvCxnSpPr>
        <p:spPr>
          <a:xfrm>
            <a:off x="10602024" y="2194411"/>
            <a:ext cx="43383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A353EE4F-B49F-77C0-B871-4C3C8CF19512}"/>
              </a:ext>
            </a:extLst>
          </p:cNvPr>
          <p:cNvSpPr txBox="1"/>
          <p:nvPr/>
        </p:nvSpPr>
        <p:spPr>
          <a:xfrm>
            <a:off x="7374465" y="3781911"/>
            <a:ext cx="562539" cy="2308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CRL</a:t>
            </a: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B37424F1-5444-BC4A-70D8-9A34AB733679}"/>
              </a:ext>
            </a:extLst>
          </p:cNvPr>
          <p:cNvCxnSpPr>
            <a:cxnSpLocks/>
          </p:cNvCxnSpPr>
          <p:nvPr/>
        </p:nvCxnSpPr>
        <p:spPr>
          <a:xfrm>
            <a:off x="6845860" y="3877142"/>
            <a:ext cx="43383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1A13AB93-F1EC-2400-A8B2-9B8DE401A6D9}"/>
              </a:ext>
            </a:extLst>
          </p:cNvPr>
          <p:cNvSpPr txBox="1"/>
          <p:nvPr/>
        </p:nvSpPr>
        <p:spPr>
          <a:xfrm>
            <a:off x="3895180" y="3782100"/>
            <a:ext cx="562539" cy="2308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CRL</a:t>
            </a: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EC49290-0204-F01E-98AF-12B44F855294}"/>
              </a:ext>
            </a:extLst>
          </p:cNvPr>
          <p:cNvCxnSpPr/>
          <p:nvPr/>
        </p:nvCxnSpPr>
        <p:spPr>
          <a:xfrm>
            <a:off x="3426778" y="3897516"/>
            <a:ext cx="43383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07A0955D-4B47-C37B-C00C-5CD49DCE8820}"/>
              </a:ext>
            </a:extLst>
          </p:cNvPr>
          <p:cNvSpPr txBox="1"/>
          <p:nvPr/>
        </p:nvSpPr>
        <p:spPr>
          <a:xfrm>
            <a:off x="4771720" y="3130354"/>
            <a:ext cx="151368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</a:t>
            </a:r>
            <a:r xmlns:a="http://schemas.openxmlformats.org/drawingml/2006/main">
              <a:rPr lang="en" altLang="ja-JP" sz="1050" b="1" dirty="0"/>
              <a:t>PCK Processor CA</a:t>
            </a:r>
            <a:endParaRPr xmlns:a="http://schemas.openxmlformats.org/drawingml/2006/main" kumimoji="1" lang="en-US" altLang="ja-JP" sz="1050" b="1" dirty="0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9FDE82B-D683-92A7-60CB-4666803AB8DB}"/>
              </a:ext>
            </a:extLst>
          </p:cNvPr>
          <p:cNvSpPr/>
          <p:nvPr/>
        </p:nvSpPr>
        <p:spPr>
          <a:xfrm>
            <a:off x="1375636" y="5096902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438D549D-E649-C656-AE09-E5F97EE31DFA}"/>
              </a:ext>
            </a:extLst>
          </p:cNvPr>
          <p:cNvSpPr txBox="1"/>
          <p:nvPr/>
        </p:nvSpPr>
        <p:spPr>
          <a:xfrm>
            <a:off x="1565248" y="5545687"/>
            <a:ext cx="1094274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FFB9F02-5770-74EC-FB9C-A04509718456}"/>
              </a:ext>
            </a:extLst>
          </p:cNvPr>
          <p:cNvSpPr txBox="1"/>
          <p:nvPr/>
        </p:nvSpPr>
        <p:spPr>
          <a:xfrm>
            <a:off x="1565248" y="5180602"/>
            <a:ext cx="166608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4C0D1800-D965-2027-8083-DDBA3400670C}"/>
              </a:ext>
            </a:extLst>
          </p:cNvPr>
          <p:cNvSpPr/>
          <p:nvPr/>
        </p:nvSpPr>
        <p:spPr>
          <a:xfrm>
            <a:off x="4837765" y="5096902"/>
            <a:ext cx="200809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B17FF3B0-1C01-0FA2-25AC-A3F84CF488C9}"/>
              </a:ext>
            </a:extLst>
          </p:cNvPr>
          <p:cNvSpPr txBox="1"/>
          <p:nvPr/>
        </p:nvSpPr>
        <p:spPr>
          <a:xfrm>
            <a:off x="5027377" y="5545687"/>
            <a:ext cx="1094274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2C89DD1E-B6FD-BC7C-EBA1-0D153F62F573}"/>
              </a:ext>
            </a:extLst>
          </p:cNvPr>
          <p:cNvSpPr txBox="1"/>
          <p:nvPr/>
        </p:nvSpPr>
        <p:spPr>
          <a:xfrm>
            <a:off x="5027377" y="5180602"/>
            <a:ext cx="166608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C9734422-3215-5A00-B1F1-94EF840E13C6}"/>
              </a:ext>
            </a:extLst>
          </p:cNvPr>
          <p:cNvCxnSpPr>
            <a:cxnSpLocks/>
          </p:cNvCxnSpPr>
          <p:nvPr/>
        </p:nvCxnSpPr>
        <p:spPr>
          <a:xfrm>
            <a:off x="2486835" y="2427992"/>
            <a:ext cx="0" cy="11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CEE0DEB4-91A4-3A28-4975-7387D921D4F8}"/>
              </a:ext>
            </a:extLst>
          </p:cNvPr>
          <p:cNvSpPr/>
          <p:nvPr/>
        </p:nvSpPr>
        <p:spPr>
          <a:xfrm>
            <a:off x="2486835" y="2981311"/>
            <a:ext cx="3747184" cy="565464"/>
          </a:xfrm>
          <a:custGeom>
            <a:avLst/>
            <a:gdLst>
              <a:gd name="connsiteX0" fmla="*/ 0 w 3558988"/>
              <a:gd name="connsiteY0" fmla="*/ 0 h 609600"/>
              <a:gd name="connsiteX1" fmla="*/ 3558988 w 3558988"/>
              <a:gd name="connsiteY1" fmla="*/ 0 h 609600"/>
              <a:gd name="connsiteX2" fmla="*/ 3558988 w 3558988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8988" h="609600">
                <a:moveTo>
                  <a:pt x="0" y="0"/>
                </a:moveTo>
                <a:lnTo>
                  <a:pt x="3558988" y="0"/>
                </a:lnTo>
                <a:lnTo>
                  <a:pt x="3558988" y="60960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FA9FD807-CDE0-EEF7-643D-845474488986}"/>
              </a:ext>
            </a:extLst>
          </p:cNvPr>
          <p:cNvCxnSpPr>
            <a:cxnSpLocks/>
          </p:cNvCxnSpPr>
          <p:nvPr/>
        </p:nvCxnSpPr>
        <p:spPr>
          <a:xfrm>
            <a:off x="2486836" y="4235172"/>
            <a:ext cx="0" cy="945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63DF679-B3AC-143C-2C0A-870A9140740B}"/>
              </a:ext>
            </a:extLst>
          </p:cNvPr>
          <p:cNvSpPr txBox="1"/>
          <p:nvPr/>
        </p:nvSpPr>
        <p:spPr>
          <a:xfrm>
            <a:off x="1682678" y="2754867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E1A92F8A-87F4-6B6F-F006-369E304552AD}"/>
              </a:ext>
            </a:extLst>
          </p:cNvPr>
          <p:cNvSpPr txBox="1"/>
          <p:nvPr/>
        </p:nvSpPr>
        <p:spPr>
          <a:xfrm>
            <a:off x="1682678" y="4486725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C1494ECC-F533-E615-341C-38BCC017538E}"/>
              </a:ext>
            </a:extLst>
          </p:cNvPr>
          <p:cNvCxnSpPr>
            <a:cxnSpLocks/>
          </p:cNvCxnSpPr>
          <p:nvPr/>
        </p:nvCxnSpPr>
        <p:spPr>
          <a:xfrm flipV="1">
            <a:off x="6493715" y="2115532"/>
            <a:ext cx="0" cy="1430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E5F34101-61AE-7FD6-904F-AE1D83DF245E}"/>
              </a:ext>
            </a:extLst>
          </p:cNvPr>
          <p:cNvCxnSpPr>
            <a:cxnSpLocks/>
          </p:cNvCxnSpPr>
          <p:nvPr/>
        </p:nvCxnSpPr>
        <p:spPr>
          <a:xfrm flipV="1">
            <a:off x="6493715" y="4014307"/>
            <a:ext cx="0" cy="11492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DA1CE8D7-EF0A-DE59-6FA3-F25127D15016}"/>
              </a:ext>
            </a:extLst>
          </p:cNvPr>
          <p:cNvSpPr txBox="1"/>
          <p:nvPr/>
        </p:nvSpPr>
        <p:spPr>
          <a:xfrm>
            <a:off x="6099233" y="4426618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8F470437-FE40-A28D-0172-143E496C9937}"/>
              </a:ext>
            </a:extLst>
          </p:cNvPr>
          <p:cNvSpPr txBox="1"/>
          <p:nvPr/>
        </p:nvSpPr>
        <p:spPr>
          <a:xfrm>
            <a:off x="2606733" y="4383585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BBAD5BA3-08D0-9C18-A314-5C52859AA9E3}"/>
              </a:ext>
            </a:extLst>
          </p:cNvPr>
          <p:cNvSpPr txBox="1"/>
          <p:nvPr/>
        </p:nvSpPr>
        <p:spPr>
          <a:xfrm>
            <a:off x="6097254" y="2581021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A669CCAE-FCAE-49B2-43A4-C16C2D50231D}"/>
              </a:ext>
            </a:extLst>
          </p:cNvPr>
          <p:cNvCxnSpPr>
            <a:cxnSpLocks/>
          </p:cNvCxnSpPr>
          <p:nvPr/>
        </p:nvCxnSpPr>
        <p:spPr>
          <a:xfrm flipV="1">
            <a:off x="2997479" y="3919076"/>
            <a:ext cx="0" cy="1261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4031DD23-8469-8C8F-8FEA-3EBB044F452E}"/>
              </a:ext>
            </a:extLst>
          </p:cNvPr>
          <p:cNvCxnSpPr>
            <a:cxnSpLocks/>
          </p:cNvCxnSpPr>
          <p:nvPr/>
        </p:nvCxnSpPr>
        <p:spPr>
          <a:xfrm flipV="1">
            <a:off x="3042303" y="2142979"/>
            <a:ext cx="0" cy="1503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41612208-8792-8D93-0329-E9A9BF1B0702}"/>
              </a:ext>
            </a:extLst>
          </p:cNvPr>
          <p:cNvSpPr txBox="1"/>
          <p:nvPr/>
        </p:nvSpPr>
        <p:spPr>
          <a:xfrm>
            <a:off x="2662897" y="2570725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121" name="フリーフォーム: 図形 120">
            <a:extLst>
              <a:ext uri="{FF2B5EF4-FFF2-40B4-BE49-F238E27FC236}">
                <a16:creationId xmlns:a16="http://schemas.microsoft.com/office/drawing/2014/main" id="{DC38D4AE-752B-7309-0D65-A1F20C22A003}"/>
              </a:ext>
            </a:extLst>
          </p:cNvPr>
          <p:cNvSpPr/>
          <p:nvPr/>
        </p:nvSpPr>
        <p:spPr>
          <a:xfrm flipH="1">
            <a:off x="1481557" y="1984513"/>
            <a:ext cx="237566" cy="277906"/>
          </a:xfrm>
          <a:custGeom>
            <a:avLst/>
            <a:gdLst>
              <a:gd name="connsiteX0" fmla="*/ 0 w 484094"/>
              <a:gd name="connsiteY0" fmla="*/ 277906 h 277906"/>
              <a:gd name="connsiteX1" fmla="*/ 484094 w 484094"/>
              <a:gd name="connsiteY1" fmla="*/ 277906 h 277906"/>
              <a:gd name="connsiteX2" fmla="*/ 484094 w 484094"/>
              <a:gd name="connsiteY2" fmla="*/ 0 h 277906"/>
              <a:gd name="connsiteX3" fmla="*/ 26894 w 484094"/>
              <a:gd name="connsiteY3" fmla="*/ 0 h 27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094" h="277906">
                <a:moveTo>
                  <a:pt x="0" y="277906"/>
                </a:moveTo>
                <a:lnTo>
                  <a:pt x="484094" y="277906"/>
                </a:lnTo>
                <a:lnTo>
                  <a:pt x="484094" y="0"/>
                </a:lnTo>
                <a:lnTo>
                  <a:pt x="26894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F63F775D-D785-12CA-9622-99B1138BF39E}"/>
              </a:ext>
            </a:extLst>
          </p:cNvPr>
          <p:cNvSpPr txBox="1"/>
          <p:nvPr/>
        </p:nvSpPr>
        <p:spPr>
          <a:xfrm>
            <a:off x="477512" y="1983239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Self-Sign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C70F88C2-7FE4-20AF-E3BA-366E982D0178}"/>
              </a:ext>
            </a:extLst>
          </p:cNvPr>
          <p:cNvSpPr txBox="1"/>
          <p:nvPr/>
        </p:nvSpPr>
        <p:spPr>
          <a:xfrm>
            <a:off x="4735785" y="4648022"/>
            <a:ext cx="151368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</a:t>
            </a:r>
            <a:r xmlns:a="http://schemas.openxmlformats.org/drawingml/2006/main">
              <a:rPr lang="en" altLang="ja-JP" sz="1050" b="1" dirty="0"/>
              <a:t>PCK</a:t>
            </a:r>
          </a:p>
          <a:p>
            <a:r xmlns:a="http://schemas.openxmlformats.org/drawingml/2006/main">
              <a:rPr kumimoji="1" lang="en" altLang="ja-JP" sz="1050" b="1" dirty="0"/>
              <a:t>Certificate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8BF91331-39E5-2F6E-6CFD-CA6AE2F86285}"/>
              </a:ext>
            </a:extLst>
          </p:cNvPr>
          <p:cNvSpPr/>
          <p:nvPr/>
        </p:nvSpPr>
        <p:spPr>
          <a:xfrm>
            <a:off x="8356248" y="3578155"/>
            <a:ext cx="2090286" cy="8916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1324273C-B74F-AE7F-4A43-45646FD55A0D}"/>
              </a:ext>
            </a:extLst>
          </p:cNvPr>
          <p:cNvSpPr txBox="1"/>
          <p:nvPr/>
        </p:nvSpPr>
        <p:spPr>
          <a:xfrm>
            <a:off x="8628050" y="4079630"/>
            <a:ext cx="1094274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/>
              <a:t>Signing Key</a:t>
            </a: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717B9273-CC33-4B2D-9848-41B13CA9A5B0}"/>
              </a:ext>
            </a:extLst>
          </p:cNvPr>
          <p:cNvSpPr txBox="1"/>
          <p:nvPr/>
        </p:nvSpPr>
        <p:spPr>
          <a:xfrm>
            <a:off x="8628050" y="3661855"/>
            <a:ext cx="166608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/>
              <a:t>PubKey </a:t>
            </a:r>
            <a:r xmlns:a="http://schemas.openxmlformats.org/drawingml/2006/main">
              <a:rPr kumimoji="1" lang="en" altLang="ja-JP" sz="900" dirty="0"/>
              <a:t>Certificate</a:t>
            </a:r>
          </a:p>
        </p:txBody>
      </p:sp>
      <p:sp>
        <p:nvSpPr>
          <p:cNvPr id="127" name="フリーフォーム: 図形 126">
            <a:extLst>
              <a:ext uri="{FF2B5EF4-FFF2-40B4-BE49-F238E27FC236}">
                <a16:creationId xmlns:a16="http://schemas.microsoft.com/office/drawing/2014/main" id="{6B22BB46-8C4E-A7ED-5E2C-6B8E40A12529}"/>
              </a:ext>
            </a:extLst>
          </p:cNvPr>
          <p:cNvSpPr/>
          <p:nvPr/>
        </p:nvSpPr>
        <p:spPr>
          <a:xfrm>
            <a:off x="6234016" y="2984047"/>
            <a:ext cx="2746747" cy="675884"/>
          </a:xfrm>
          <a:custGeom>
            <a:avLst/>
            <a:gdLst>
              <a:gd name="connsiteX0" fmla="*/ 0 w 3558988"/>
              <a:gd name="connsiteY0" fmla="*/ 0 h 609600"/>
              <a:gd name="connsiteX1" fmla="*/ 3558988 w 3558988"/>
              <a:gd name="connsiteY1" fmla="*/ 0 h 609600"/>
              <a:gd name="connsiteX2" fmla="*/ 3558988 w 3558988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8988" h="609600">
                <a:moveTo>
                  <a:pt x="0" y="0"/>
                </a:moveTo>
                <a:lnTo>
                  <a:pt x="3558988" y="0"/>
                </a:lnTo>
                <a:lnTo>
                  <a:pt x="3558988" y="60960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4375B1EF-F0E9-C0EE-259C-344732E308C4}"/>
              </a:ext>
            </a:extLst>
          </p:cNvPr>
          <p:cNvSpPr txBox="1"/>
          <p:nvPr/>
        </p:nvSpPr>
        <p:spPr>
          <a:xfrm>
            <a:off x="9861432" y="3158319"/>
            <a:ext cx="151368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b="1" dirty="0"/>
              <a:t>Intel SGX TCB</a:t>
            </a:r>
            <a:endParaRPr xmlns:a="http://schemas.openxmlformats.org/drawingml/2006/main" lang="en-US" altLang="ja-JP" sz="1050" b="1" dirty="0"/>
          </a:p>
          <a:p>
            <a:r xmlns:a="http://schemas.openxmlformats.org/drawingml/2006/main">
              <a:rPr kumimoji="1" lang="en" altLang="ja-JP" sz="1050" b="1" dirty="0"/>
              <a:t>Signing Test</a:t>
            </a: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1D3DA74-19B0-935F-B758-D5EFB5717B46}"/>
              </a:ext>
            </a:extLst>
          </p:cNvPr>
          <p:cNvCxnSpPr>
            <a:cxnSpLocks/>
          </p:cNvCxnSpPr>
          <p:nvPr/>
        </p:nvCxnSpPr>
        <p:spPr>
          <a:xfrm flipV="1">
            <a:off x="9740940" y="2114339"/>
            <a:ext cx="0" cy="1545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5ADABEC7-8BC8-9FFB-0B98-409BC8FB0482}"/>
              </a:ext>
            </a:extLst>
          </p:cNvPr>
          <p:cNvSpPr txBox="1"/>
          <p:nvPr/>
        </p:nvSpPr>
        <p:spPr>
          <a:xfrm>
            <a:off x="9324321" y="2552928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18B51958-F4EB-6DB2-B82F-503529557A82}"/>
              </a:ext>
            </a:extLst>
          </p:cNvPr>
          <p:cNvSpPr txBox="1"/>
          <p:nvPr/>
        </p:nvSpPr>
        <p:spPr>
          <a:xfrm>
            <a:off x="188595" y="6189788"/>
            <a:ext cx="741316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900" dirty="0"/>
              <a:t>Reference: </a:t>
            </a:r>
            <a:r xmlns:a="http://schemas.openxmlformats.org/drawingml/2006/main">
              <a:rPr lang="en" altLang="ja-JP" sz="900" dirty="0"/>
              <a:t>Intel® SGX PCK Certificate and Certificate Revocation</a:t>
            </a:r>
          </a:p>
          <a:p>
            <a:r xmlns:a="http://schemas.openxmlformats.org/drawingml/2006/main" xmlns:r="http://schemas.openxmlformats.org/officeDocument/2006/relationships">
              <a:rPr lang="en" altLang="ja-JP" sz="900" dirty="0">
                <a:hlinkClick r:id="rId2"/>
              </a:rPr>
              <a:t>https://api.trustedservices.intel.com/documents/Intel_SGX_PCK_Certificate_CRL_Spec-1.5.pdf</a:t>
            </a:r>
            <a:endParaRPr xmlns:a="http://schemas.openxmlformats.org/drawingml/2006/main" lang="en-US" altLang="ja-JP" sz="900" dirty="0"/>
          </a:p>
          <a:p>
            <a:r xmlns:a="http://schemas.openxmlformats.org/drawingml/2006/main">
              <a:rPr lang="en" altLang="en-US" sz="900" dirty="0"/>
              <a:t>Reference: </a:t>
            </a:r>
            <a:r xmlns:a="http://schemas.openxmlformats.org/drawingml/2006/main">
              <a:rPr lang="en" altLang="ja-JP" sz="900" dirty="0"/>
              <a:t>Design Guide for Intel® SGX Provisioning Certificate Caching Service (Intel® SGX PCCS)</a:t>
            </a:r>
          </a:p>
          <a:p>
            <a:r xmlns:a="http://schemas.openxmlformats.org/drawingml/2006/main" xmlns:r="http://schemas.openxmlformats.org/officeDocument/2006/relationships">
              <a:rPr lang="en" altLang="ja-JP" sz="900" dirty="0">
                <a:hlinkClick r:id="rId3"/>
              </a:rPr>
              <a:t>https://download.01.org/intel-sgx/sgx-dcap/1.14/linux/docs/SGX_DCAP_Caching_Service_Design_Guide.pdf</a:t>
            </a:r>
            <a:endParaRPr xmlns:a="http://schemas.openxmlformats.org/drawingml/2006/main" lang="en-US" altLang="ja-JP" sz="900" dirty="0"/>
          </a:p>
          <a:p>
            <a:endParaRPr lang="en-US" altLang="ja-JP" sz="900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D38EE40E-89FF-7B0E-87EC-3B58EDD0C9EE}"/>
              </a:ext>
            </a:extLst>
          </p:cNvPr>
          <p:cNvSpPr/>
          <p:nvPr/>
        </p:nvSpPr>
        <p:spPr>
          <a:xfrm>
            <a:off x="8212665" y="3976385"/>
            <a:ext cx="3244766" cy="19961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1B33CC19-7D86-95FA-1C95-C6FD0314E335}"/>
              </a:ext>
            </a:extLst>
          </p:cNvPr>
          <p:cNvSpPr txBox="1"/>
          <p:nvPr/>
        </p:nvSpPr>
        <p:spPr>
          <a:xfrm>
            <a:off x="8980764" y="5981253"/>
            <a:ext cx="2960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400" dirty="0">
                <a:solidFill>
                  <a:srgbClr val="FF0000"/>
                </a:solidFill>
              </a:rPr>
              <a:t>Processing in Root of Trust ??</a:t>
            </a:r>
            <a:endParaRPr xmlns:a="http://schemas.openxmlformats.org/drawingml/2006/main"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50FDBAB4-993C-FD7F-C04C-9DAEE8B8E070}"/>
              </a:ext>
            </a:extLst>
          </p:cNvPr>
          <p:cNvSpPr txBox="1"/>
          <p:nvPr/>
        </p:nvSpPr>
        <p:spPr>
          <a:xfrm>
            <a:off x="8628050" y="5458581"/>
            <a:ext cx="696271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TCB</a:t>
            </a:r>
          </a:p>
          <a:p>
            <a:pPr xmlns:a="http://schemas.openxmlformats.org/drawingml/2006/main" algn="ctr"/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Info</a:t>
            </a:r>
          </a:p>
        </p:txBody>
      </p: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AF243B5C-02D3-40C9-721A-20D8F53D94EF}"/>
              </a:ext>
            </a:extLst>
          </p:cNvPr>
          <p:cNvSpPr txBox="1"/>
          <p:nvPr/>
        </p:nvSpPr>
        <p:spPr>
          <a:xfrm>
            <a:off x="9596990" y="5458581"/>
            <a:ext cx="696271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QE Identity</a:t>
            </a: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132F7CB7-8B67-7220-C145-19F77278F1EE}"/>
              </a:ext>
            </a:extLst>
          </p:cNvPr>
          <p:cNvSpPr txBox="1"/>
          <p:nvPr/>
        </p:nvSpPr>
        <p:spPr>
          <a:xfrm>
            <a:off x="10565930" y="5467905"/>
            <a:ext cx="696271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900" dirty="0" err="1">
                <a:solidFill>
                  <a:schemeClr val="bg1"/>
                </a:solidFill>
              </a:rPr>
              <a:t>QvE </a:t>
            </a:r>
            <a:r xmlns:a="http://schemas.openxmlformats.org/drawingml/2006/main">
              <a:rPr kumimoji="1" lang="en" altLang="ja-JP" sz="900" dirty="0">
                <a:solidFill>
                  <a:schemeClr val="bg1"/>
                </a:solidFill>
              </a:rPr>
              <a:t>Identity</a:t>
            </a:r>
          </a:p>
        </p:txBody>
      </p: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C223626C-FEBE-D421-AA20-B4FD0E4ABA0B}"/>
              </a:ext>
            </a:extLst>
          </p:cNvPr>
          <p:cNvCxnSpPr>
            <a:cxnSpLocks/>
          </p:cNvCxnSpPr>
          <p:nvPr/>
        </p:nvCxnSpPr>
        <p:spPr>
          <a:xfrm>
            <a:off x="8980763" y="4549839"/>
            <a:ext cx="0" cy="816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フリーフォーム: 図形 146">
            <a:extLst>
              <a:ext uri="{FF2B5EF4-FFF2-40B4-BE49-F238E27FC236}">
                <a16:creationId xmlns:a16="http://schemas.microsoft.com/office/drawing/2014/main" id="{B2E7E89B-B039-3391-AA14-EEE4C400307C}"/>
              </a:ext>
            </a:extLst>
          </p:cNvPr>
          <p:cNvSpPr/>
          <p:nvPr/>
        </p:nvSpPr>
        <p:spPr>
          <a:xfrm>
            <a:off x="8980763" y="5071709"/>
            <a:ext cx="1034430" cy="298967"/>
          </a:xfrm>
          <a:custGeom>
            <a:avLst/>
            <a:gdLst>
              <a:gd name="connsiteX0" fmla="*/ 0 w 3558988"/>
              <a:gd name="connsiteY0" fmla="*/ 0 h 609600"/>
              <a:gd name="connsiteX1" fmla="*/ 3558988 w 3558988"/>
              <a:gd name="connsiteY1" fmla="*/ 0 h 609600"/>
              <a:gd name="connsiteX2" fmla="*/ 3558988 w 3558988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8988" h="609600">
                <a:moveTo>
                  <a:pt x="0" y="0"/>
                </a:moveTo>
                <a:lnTo>
                  <a:pt x="3558988" y="0"/>
                </a:lnTo>
                <a:lnTo>
                  <a:pt x="3558988" y="60960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フリーフォーム: 図形 147">
            <a:extLst>
              <a:ext uri="{FF2B5EF4-FFF2-40B4-BE49-F238E27FC236}">
                <a16:creationId xmlns:a16="http://schemas.microsoft.com/office/drawing/2014/main" id="{C9D800C4-599E-6B19-631F-EAF9D1DEAEB3}"/>
              </a:ext>
            </a:extLst>
          </p:cNvPr>
          <p:cNvSpPr/>
          <p:nvPr/>
        </p:nvSpPr>
        <p:spPr>
          <a:xfrm>
            <a:off x="10015193" y="5071709"/>
            <a:ext cx="1008355" cy="298967"/>
          </a:xfrm>
          <a:custGeom>
            <a:avLst/>
            <a:gdLst>
              <a:gd name="connsiteX0" fmla="*/ 0 w 3558988"/>
              <a:gd name="connsiteY0" fmla="*/ 0 h 609600"/>
              <a:gd name="connsiteX1" fmla="*/ 3558988 w 3558988"/>
              <a:gd name="connsiteY1" fmla="*/ 0 h 609600"/>
              <a:gd name="connsiteX2" fmla="*/ 3558988 w 3558988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8988" h="609600">
                <a:moveTo>
                  <a:pt x="0" y="0"/>
                </a:moveTo>
                <a:lnTo>
                  <a:pt x="3558988" y="0"/>
                </a:lnTo>
                <a:lnTo>
                  <a:pt x="3558988" y="60960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43FB2999-61E7-760C-4221-A17119D98E5F}"/>
              </a:ext>
            </a:extLst>
          </p:cNvPr>
          <p:cNvSpPr txBox="1"/>
          <p:nvPr/>
        </p:nvSpPr>
        <p:spPr>
          <a:xfrm>
            <a:off x="9480857" y="4876423"/>
            <a:ext cx="151368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JSON Structure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E3864F84-CB43-56AD-51AF-6AA9BF234450}"/>
              </a:ext>
            </a:extLst>
          </p:cNvPr>
          <p:cNvSpPr txBox="1"/>
          <p:nvPr/>
        </p:nvSpPr>
        <p:spPr>
          <a:xfrm>
            <a:off x="9222397" y="737993"/>
            <a:ext cx="2969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* </a:t>
            </a:r>
            <a:r xmlns:a="http://schemas.openxmlformats.org/drawingml/2006/main">
              <a:rPr lang="en" altLang="en-US" sz="1200" dirty="0"/>
              <a:t>Created based on hypotheses, referencing the provided materials.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3BECFC-9F03-F2D5-4AD3-5E3DC02453AC}"/>
              </a:ext>
            </a:extLst>
          </p:cNvPr>
          <p:cNvSpPr/>
          <p:nvPr/>
        </p:nvSpPr>
        <p:spPr>
          <a:xfrm>
            <a:off x="10754096" y="1067610"/>
            <a:ext cx="553056" cy="196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5B6284-20D4-80F1-1249-A88D8CB187CB}"/>
              </a:ext>
            </a:extLst>
          </p:cNvPr>
          <p:cNvSpPr txBox="1"/>
          <p:nvPr/>
        </p:nvSpPr>
        <p:spPr>
          <a:xfrm>
            <a:off x="11353800" y="1038920"/>
            <a:ext cx="76411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Keypair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75D1BAC-11E0-336B-397B-18902A8EA311}"/>
              </a:ext>
            </a:extLst>
          </p:cNvPr>
          <p:cNvCxnSpPr>
            <a:cxnSpLocks/>
          </p:cNvCxnSpPr>
          <p:nvPr/>
        </p:nvCxnSpPr>
        <p:spPr>
          <a:xfrm>
            <a:off x="5931050" y="4235172"/>
            <a:ext cx="0" cy="8951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3FBA0-A433-72F4-F582-7497C40B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63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FD16AC-93F5-D5DF-D0B9-CD244A3DC3F7}"/>
              </a:ext>
            </a:extLst>
          </p:cNvPr>
          <p:cNvSpPr txBox="1"/>
          <p:nvPr/>
        </p:nvSpPr>
        <p:spPr>
          <a:xfrm>
            <a:off x="285844" y="1148373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Intel TDX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5FE46F6-9EF2-B36E-EC85-C08F45FFA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52320"/>
            <a:ext cx="9045937" cy="430024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BEFAC8-4EAA-2DCE-AADA-299EF11012F7}"/>
              </a:ext>
            </a:extLst>
          </p:cNvPr>
          <p:cNvSpPr txBox="1"/>
          <p:nvPr/>
        </p:nvSpPr>
        <p:spPr>
          <a:xfrm>
            <a:off x="2743198" y="6352085"/>
            <a:ext cx="94488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050" dirty="0"/>
              <a:t>Reference: </a:t>
            </a:r>
            <a:r xmlns:a="http://schemas.openxmlformats.org/drawingml/2006/main">
              <a:rPr lang="en" altLang="ja-JP" sz="1050" dirty="0"/>
              <a:t>Intel® Trust Domain Extensions Data Center Attestation Primitives</a:t>
            </a:r>
            <a:r xmlns:a="http://schemas.openxmlformats.org/drawingml/2006/main">
              <a:rPr lang="en" altLang="en-US" sz="1050" dirty="0"/>
              <a:t> </a:t>
            </a:r>
            <a:r xmlns:a="http://schemas.openxmlformats.org/drawingml/2006/main">
              <a:rPr lang="en" altLang="ja-JP" sz="1050" dirty="0"/>
              <a:t>(Intel® TDX DCAP): Quote Generation Library and Quote Verification Library</a:t>
            </a:r>
          </a:p>
          <a:p>
            <a:r xmlns:a="http://schemas.openxmlformats.org/drawingml/2006/main" xmlns:r="http://schemas.openxmlformats.org/officeDocument/2006/relationships">
              <a:rPr lang="en" altLang="ja-JP" sz="1050" dirty="0">
                <a:hlinkClick r:id="rId3"/>
              </a:rPr>
              <a:t>https://download.01.org/intel-sgx/latest/dcap-latest/linux/docs/Intel_TDX_DCAP_Quoting_Library_API.pdf</a:t>
            </a:r>
            <a:endParaRPr xmlns:a="http://schemas.openxmlformats.org/drawingml/2006/main" lang="en-US" altLang="ja-JP" sz="105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DBDACF-84AF-4C69-7FA6-7CCACAE8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42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FD16AC-93F5-D5DF-D0B9-CD244A3DC3F7}"/>
              </a:ext>
            </a:extLst>
          </p:cNvPr>
          <p:cNvSpPr txBox="1"/>
          <p:nvPr/>
        </p:nvSpPr>
        <p:spPr>
          <a:xfrm>
            <a:off x="285844" y="1148373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Intel TDX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BEFAC8-4EAA-2DCE-AADA-299EF11012F7}"/>
              </a:ext>
            </a:extLst>
          </p:cNvPr>
          <p:cNvSpPr txBox="1"/>
          <p:nvPr/>
        </p:nvSpPr>
        <p:spPr>
          <a:xfrm>
            <a:off x="2743198" y="6352085"/>
            <a:ext cx="94488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050" dirty="0"/>
              <a:t>Reference: </a:t>
            </a:r>
            <a:r xmlns:a="http://schemas.openxmlformats.org/drawingml/2006/main">
              <a:rPr lang="en" altLang="ja-JP" sz="1050" dirty="0"/>
              <a:t>Intel® Trust Domain Extensions Data Center Attestation Primitives</a:t>
            </a:r>
            <a:r xmlns:a="http://schemas.openxmlformats.org/drawingml/2006/main">
              <a:rPr lang="en" altLang="en-US" sz="1050" dirty="0"/>
              <a:t> </a:t>
            </a:r>
            <a:r xmlns:a="http://schemas.openxmlformats.org/drawingml/2006/main">
              <a:rPr lang="en" altLang="ja-JP" sz="1050" dirty="0"/>
              <a:t>(Intel® TDX DCAP): Quote Generation Library and Quote Verification Library</a:t>
            </a:r>
          </a:p>
          <a:p>
            <a:r xmlns:a="http://schemas.openxmlformats.org/drawingml/2006/main" xmlns:r="http://schemas.openxmlformats.org/officeDocument/2006/relationships">
              <a:rPr lang="en" altLang="ja-JP" sz="1050" dirty="0">
                <a:hlinkClick r:id="rId2"/>
              </a:rPr>
              <a:t>https://download.01.org/intel-sgx/latest/dcap-latest/linux/docs/Intel_TDX_DCAP_Quoting_Library_API.pdf</a:t>
            </a:r>
            <a:endParaRPr xmlns:a="http://schemas.openxmlformats.org/drawingml/2006/main" lang="en-US" altLang="ja-JP" sz="105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C1D9CC4-7B13-DE43-69C3-084392E3D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77" y="1517705"/>
            <a:ext cx="9117106" cy="4558553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9E26DE-26B8-DDD3-B8E8-8090BD5C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877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3200" dirty="0"/>
              <a:t>[ </a:t>
            </a:r>
            <a:r xmlns:a="http://schemas.openxmlformats.org/drawingml/2006/main">
              <a:rPr kumimoji="1" lang="en" altLang="en-US" sz="3200" dirty="0"/>
              <a:t>Reference </a:t>
            </a:r>
            <a:r xmlns:a="http://schemas.openxmlformats.org/drawingml/2006/main">
              <a:rPr kumimoji="1" lang="en" altLang="ja-JP" sz="3200" dirty="0"/>
              <a:t>] </a:t>
            </a:r>
            <a:r xmlns:a="http://schemas.openxmlformats.org/drawingml/2006/main">
              <a:rPr lang="en" altLang="en-US" sz="3200" dirty="0"/>
              <a:t>Keys and certificates in </a:t>
            </a:r>
            <a:endParaRPr xmlns:a="http://schemas.openxmlformats.org/drawingml/2006/main" kumimoji="1" lang="ja-JP" altLang="en-US" sz="3200" dirty="0"/>
            <a:r xmlns:a="http://schemas.openxmlformats.org/drawingml/2006/main">
              <a:rPr lang="en" altLang="ja-JP" sz="3200" dirty="0"/>
              <a:t>Attestation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FD16AC-93F5-D5DF-D0B9-CD244A3DC3F7}"/>
              </a:ext>
            </a:extLst>
          </p:cNvPr>
          <p:cNvSpPr txBox="1"/>
          <p:nvPr/>
        </p:nvSpPr>
        <p:spPr>
          <a:xfrm>
            <a:off x="262192" y="1216336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u="sng" dirty="0"/>
              <a:t>In the case of </a:t>
            </a:r>
            <a:endParaRPr xmlns:a="http://schemas.openxmlformats.org/drawingml/2006/main" kumimoji="1" lang="ja-JP" altLang="en-US" u="sng" dirty="0"/>
            <a:r xmlns:a="http://schemas.openxmlformats.org/drawingml/2006/main">
              <a:rPr kumimoji="1" lang="en" altLang="ja-JP" u="sng" dirty="0"/>
              <a:t>Intel TDX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BEFAC8-4EAA-2DCE-AADA-299EF11012F7}"/>
              </a:ext>
            </a:extLst>
          </p:cNvPr>
          <p:cNvSpPr txBox="1"/>
          <p:nvPr/>
        </p:nvSpPr>
        <p:spPr>
          <a:xfrm>
            <a:off x="2743198" y="6352085"/>
            <a:ext cx="94488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050" dirty="0"/>
              <a:t>Reference: </a:t>
            </a:r>
            <a:r xmlns:a="http://schemas.openxmlformats.org/drawingml/2006/main">
              <a:rPr lang="en" altLang="ja-JP" sz="1050" dirty="0"/>
              <a:t>Intel® Trust Domain Extensions Data Center Attestation Primitives</a:t>
            </a:r>
            <a:r xmlns:a="http://schemas.openxmlformats.org/drawingml/2006/main">
              <a:rPr lang="en" altLang="en-US" sz="1050" dirty="0"/>
              <a:t> </a:t>
            </a:r>
            <a:r xmlns:a="http://schemas.openxmlformats.org/drawingml/2006/main">
              <a:rPr lang="en" altLang="ja-JP" sz="1050" dirty="0"/>
              <a:t>(Intel® TDX DCAP): Quote Generation Library and Quote Verification Library</a:t>
            </a:r>
          </a:p>
          <a:p>
            <a:r xmlns:a="http://schemas.openxmlformats.org/drawingml/2006/main" xmlns:r="http://schemas.openxmlformats.org/officeDocument/2006/relationships">
              <a:rPr lang="en" altLang="ja-JP" sz="1050" dirty="0">
                <a:hlinkClick r:id="rId2"/>
              </a:rPr>
              <a:t>https://download.01.org/intel-sgx/latest/dcap-latest/linux/docs/Intel_TDX_DCAP_Quoting_Library_API.pdf</a:t>
            </a:r>
            <a:endParaRPr xmlns:a="http://schemas.openxmlformats.org/drawingml/2006/main" lang="en-US" altLang="ja-JP" sz="105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66B2AA-1CBC-9411-1A38-6FB8C7218BC0}"/>
              </a:ext>
            </a:extLst>
          </p:cNvPr>
          <p:cNvSpPr/>
          <p:nvPr/>
        </p:nvSpPr>
        <p:spPr>
          <a:xfrm>
            <a:off x="7491885" y="3113143"/>
            <a:ext cx="2935262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38BAE0-0CD4-287B-813E-B1D576E5067B}"/>
              </a:ext>
            </a:extLst>
          </p:cNvPr>
          <p:cNvSpPr txBox="1"/>
          <p:nvPr/>
        </p:nvSpPr>
        <p:spPr>
          <a:xfrm>
            <a:off x="7951777" y="3561928"/>
            <a:ext cx="846744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800" dirty="0"/>
              <a:t>Signing Key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ABE7D2-9734-31A5-EFFB-AC9EF06797FD}"/>
              </a:ext>
            </a:extLst>
          </p:cNvPr>
          <p:cNvSpPr txBox="1"/>
          <p:nvPr/>
        </p:nvSpPr>
        <p:spPr>
          <a:xfrm>
            <a:off x="9105509" y="3203399"/>
            <a:ext cx="1193533" cy="2154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800" dirty="0" err="1"/>
              <a:t>PubKey </a:t>
            </a:r>
            <a:r xmlns:a="http://schemas.openxmlformats.org/drawingml/2006/main">
              <a:rPr kumimoji="1" lang="en" altLang="ja-JP" sz="800" dirty="0"/>
              <a:t>Certificate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BFD732-C67B-768E-2AAA-79E2B47D9E19}"/>
              </a:ext>
            </a:extLst>
          </p:cNvPr>
          <p:cNvSpPr txBox="1"/>
          <p:nvPr/>
        </p:nvSpPr>
        <p:spPr>
          <a:xfrm>
            <a:off x="10418063" y="3347347"/>
            <a:ext cx="1289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dirty="0"/>
              <a:t>PCK Certificate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727B6A2-407B-CFE5-66EC-DAEB1B3F47A0}"/>
              </a:ext>
            </a:extLst>
          </p:cNvPr>
          <p:cNvSpPr/>
          <p:nvPr/>
        </p:nvSpPr>
        <p:spPr>
          <a:xfrm>
            <a:off x="7491885" y="4329531"/>
            <a:ext cx="2854885" cy="789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4AC152-430A-E6F2-59E2-2EEFF9E92DAB}"/>
              </a:ext>
            </a:extLst>
          </p:cNvPr>
          <p:cNvSpPr txBox="1"/>
          <p:nvPr/>
        </p:nvSpPr>
        <p:spPr>
          <a:xfrm>
            <a:off x="7951777" y="4778316"/>
            <a:ext cx="846744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800" dirty="0"/>
              <a:t>Signing Key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DF667F1-02B2-A699-5D1E-1B8283D2B4D0}"/>
              </a:ext>
            </a:extLst>
          </p:cNvPr>
          <p:cNvSpPr txBox="1"/>
          <p:nvPr/>
        </p:nvSpPr>
        <p:spPr>
          <a:xfrm>
            <a:off x="7951777" y="4438943"/>
            <a:ext cx="2290866" cy="2154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800" dirty="0" err="1"/>
              <a:t>PubKey </a:t>
            </a:r>
            <a:r xmlns:a="http://schemas.openxmlformats.org/drawingml/2006/main">
              <a:rPr kumimoji="1" lang="en" altLang="ja-JP" sz="800" dirty="0"/>
              <a:t>Certificate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9251BFA-6101-C3B3-27BA-A06EEE5DB5FD}"/>
              </a:ext>
            </a:extLst>
          </p:cNvPr>
          <p:cNvSpPr txBox="1"/>
          <p:nvPr/>
        </p:nvSpPr>
        <p:spPr>
          <a:xfrm>
            <a:off x="10450197" y="4569789"/>
            <a:ext cx="1002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dirty="0"/>
              <a:t>Certified</a:t>
            </a:r>
          </a:p>
          <a:p>
            <a:r xmlns:a="http://schemas.openxmlformats.org/drawingml/2006/main">
              <a:rPr kumimoji="1" lang="en" altLang="ja-JP" sz="1200" dirty="0"/>
              <a:t>AttestKey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E6B0AA8-4812-FDA7-9B13-C125551B1A0D}"/>
              </a:ext>
            </a:extLst>
          </p:cNvPr>
          <p:cNvSpPr txBox="1"/>
          <p:nvPr/>
        </p:nvSpPr>
        <p:spPr>
          <a:xfrm>
            <a:off x="7944862" y="4049073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5A30150-F3E0-81BE-0B1B-FF703D867277}"/>
              </a:ext>
            </a:extLst>
          </p:cNvPr>
          <p:cNvCxnSpPr>
            <a:cxnSpLocks/>
          </p:cNvCxnSpPr>
          <p:nvPr/>
        </p:nvCxnSpPr>
        <p:spPr>
          <a:xfrm>
            <a:off x="8342565" y="5031454"/>
            <a:ext cx="0" cy="639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1CBD3EE-25C8-BFBE-ED1B-5507E9E81603}"/>
              </a:ext>
            </a:extLst>
          </p:cNvPr>
          <p:cNvSpPr txBox="1"/>
          <p:nvPr/>
        </p:nvSpPr>
        <p:spPr>
          <a:xfrm>
            <a:off x="8027013" y="5693954"/>
            <a:ext cx="696271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ja-JP" sz="900" dirty="0">
                <a:solidFill>
                  <a:schemeClr val="bg1"/>
                </a:solidFill>
              </a:rPr>
              <a:t>TD </a:t>
            </a:r>
            <a:br xmlns:a="http://schemas.openxmlformats.org/drawingml/2006/main">
              <a:rPr lang="en-US" altLang="ja-JP" sz="900" dirty="0">
                <a:solidFill>
                  <a:schemeClr val="bg1"/>
                </a:solidFill>
              </a:rPr>
            </a:br>
            <a:r xmlns:a="http://schemas.openxmlformats.org/drawingml/2006/main">
              <a:rPr lang="en" altLang="ja-JP" sz="900" dirty="0">
                <a:solidFill>
                  <a:schemeClr val="bg1"/>
                </a:solidFill>
              </a:rPr>
              <a:t>Quote</a:t>
            </a:r>
            <a:endParaRPr xmlns:a="http://schemas.openxmlformats.org/drawingml/2006/main" kumimoji="1" lang="en-US" altLang="ja-JP" sz="900" dirty="0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1B37AFE-75EE-B8C1-67CF-DA999E47645B}"/>
              </a:ext>
            </a:extLst>
          </p:cNvPr>
          <p:cNvSpPr txBox="1"/>
          <p:nvPr/>
        </p:nvSpPr>
        <p:spPr>
          <a:xfrm>
            <a:off x="7935491" y="5341990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Sign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461ADACC-BB5E-4182-C4AA-E6DA6B6E3852}"/>
              </a:ext>
            </a:extLst>
          </p:cNvPr>
          <p:cNvCxnSpPr>
            <a:cxnSpLocks/>
          </p:cNvCxnSpPr>
          <p:nvPr/>
        </p:nvCxnSpPr>
        <p:spPr>
          <a:xfrm>
            <a:off x="4551591" y="5849573"/>
            <a:ext cx="3383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45C4BD-92D8-2879-0AE4-EBBF9E59F994}"/>
              </a:ext>
            </a:extLst>
          </p:cNvPr>
          <p:cNvSpPr txBox="1"/>
          <p:nvPr/>
        </p:nvSpPr>
        <p:spPr>
          <a:xfrm>
            <a:off x="3771259" y="5624704"/>
            <a:ext cx="696271" cy="5078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ja-JP" sz="900" dirty="0">
                <a:solidFill>
                  <a:schemeClr val="bg1"/>
                </a:solidFill>
              </a:rPr>
              <a:t>TD </a:t>
            </a:r>
            <a:br xmlns:a="http://schemas.openxmlformats.org/drawingml/2006/main">
              <a:rPr lang="en-US" altLang="ja-JP" sz="900" dirty="0">
                <a:solidFill>
                  <a:schemeClr val="bg1"/>
                </a:solidFill>
              </a:rPr>
            </a:br>
            <a:r xmlns:a="http://schemas.openxmlformats.org/drawingml/2006/main">
              <a:rPr lang="en" altLang="ja-JP" sz="900" dirty="0">
                <a:solidFill>
                  <a:schemeClr val="bg1"/>
                </a:solidFill>
              </a:rPr>
              <a:t>REPORT</a:t>
            </a:r>
          </a:p>
          <a:p>
            <a:pPr algn="ctr"/>
            <a:endParaRPr kumimoji="1" lang="en-US" altLang="ja-JP" sz="900" dirty="0">
              <a:solidFill>
                <a:schemeClr val="bg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D74F72F-75E6-A2AE-AEF4-ACF4C987B5E8}"/>
              </a:ext>
            </a:extLst>
          </p:cNvPr>
          <p:cNvSpPr txBox="1"/>
          <p:nvPr/>
        </p:nvSpPr>
        <p:spPr>
          <a:xfrm>
            <a:off x="105852" y="5834588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TD REPORTDATA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E8B2399-0DD1-3C32-275F-9585726798D6}"/>
              </a:ext>
            </a:extLst>
          </p:cNvPr>
          <p:cNvCxnSpPr>
            <a:cxnSpLocks/>
          </p:cNvCxnSpPr>
          <p:nvPr/>
        </p:nvCxnSpPr>
        <p:spPr>
          <a:xfrm>
            <a:off x="1423380" y="6063286"/>
            <a:ext cx="231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6E4FA2E-997D-E39A-1CA1-34CA9570CE62}"/>
              </a:ext>
            </a:extLst>
          </p:cNvPr>
          <p:cNvSpPr txBox="1"/>
          <p:nvPr/>
        </p:nvSpPr>
        <p:spPr>
          <a:xfrm>
            <a:off x="2238049" y="5308440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MAC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D2AF241-7843-23DA-21AD-DA0CA6E0F4E6}"/>
              </a:ext>
            </a:extLst>
          </p:cNvPr>
          <p:cNvCxnSpPr>
            <a:cxnSpLocks/>
          </p:cNvCxnSpPr>
          <p:nvPr/>
        </p:nvCxnSpPr>
        <p:spPr>
          <a:xfrm>
            <a:off x="3080520" y="5031454"/>
            <a:ext cx="0" cy="639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B8A3F18A-E424-19AE-23EC-5B8AFDA0709A}"/>
              </a:ext>
            </a:extLst>
          </p:cNvPr>
          <p:cNvCxnSpPr>
            <a:cxnSpLocks/>
          </p:cNvCxnSpPr>
          <p:nvPr/>
        </p:nvCxnSpPr>
        <p:spPr>
          <a:xfrm flipV="1">
            <a:off x="4061081" y="5031454"/>
            <a:ext cx="0" cy="513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5DCC0C5-C0CF-141D-14F3-436B09EF2496}"/>
              </a:ext>
            </a:extLst>
          </p:cNvPr>
          <p:cNvSpPr txBox="1"/>
          <p:nvPr/>
        </p:nvSpPr>
        <p:spPr>
          <a:xfrm>
            <a:off x="2900637" y="4789169"/>
            <a:ext cx="1297823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800" dirty="0"/>
              <a:t>MAC Key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1B71AB6-8E6F-A159-4D5E-DFF3CAADB044}"/>
              </a:ext>
            </a:extLst>
          </p:cNvPr>
          <p:cNvSpPr txBox="1"/>
          <p:nvPr/>
        </p:nvSpPr>
        <p:spPr>
          <a:xfrm>
            <a:off x="3708454" y="5231496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MAC</a:t>
            </a:r>
          </a:p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Verify?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5F16B281-B41C-A1C1-83D7-2FA2C4F118B2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461167" y="5690500"/>
            <a:ext cx="1272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54FA90B-29AB-EFAC-E41A-34D4E33B52F3}"/>
              </a:ext>
            </a:extLst>
          </p:cNvPr>
          <p:cNvSpPr txBox="1"/>
          <p:nvPr/>
        </p:nvSpPr>
        <p:spPr>
          <a:xfrm>
            <a:off x="1219556" y="5482751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SEAM</a:t>
            </a:r>
          </a:p>
          <a:p>
            <a:pPr xmlns:a="http://schemas.openxmlformats.org/drawingml/2006/main" algn="ctr"/>
            <a:r xmlns:a="http://schemas.openxmlformats.org/drawingml/2006/main">
              <a:rPr lang="en" altLang="ja-JP" sz="1050" dirty="0"/>
              <a:t>Measurements</a:t>
            </a:r>
            <a:endParaRPr xmlns:a="http://schemas.openxmlformats.org/drawingml/2006/main" kumimoji="1" lang="en-US" altLang="ja-JP" sz="1050" dirty="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4453AA0-727B-B728-700F-CAC783691FEC}"/>
              </a:ext>
            </a:extLst>
          </p:cNvPr>
          <p:cNvSpPr/>
          <p:nvPr/>
        </p:nvSpPr>
        <p:spPr>
          <a:xfrm>
            <a:off x="2380873" y="2958718"/>
            <a:ext cx="2301680" cy="2291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7AC5A66-A49A-BA9B-98DC-48C115615035}"/>
              </a:ext>
            </a:extLst>
          </p:cNvPr>
          <p:cNvSpPr txBox="1"/>
          <p:nvPr/>
        </p:nvSpPr>
        <p:spPr>
          <a:xfrm>
            <a:off x="2244555" y="2623447"/>
            <a:ext cx="2960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400" dirty="0">
                <a:solidFill>
                  <a:srgbClr val="FF0000"/>
                </a:solidFill>
              </a:rPr>
              <a:t>Processing in Root of Trust ??</a:t>
            </a:r>
            <a:endParaRPr xmlns:a="http://schemas.openxmlformats.org/drawingml/2006/main"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6098E5D-EB23-DCD7-0752-E7ECE64140BF}"/>
              </a:ext>
            </a:extLst>
          </p:cNvPr>
          <p:cNvSpPr txBox="1"/>
          <p:nvPr/>
        </p:nvSpPr>
        <p:spPr>
          <a:xfrm>
            <a:off x="9621838" y="5136944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E8DB54C3-89FD-2D64-9944-4CF975F920F3}"/>
              </a:ext>
            </a:extLst>
          </p:cNvPr>
          <p:cNvCxnSpPr>
            <a:cxnSpLocks/>
          </p:cNvCxnSpPr>
          <p:nvPr/>
        </p:nvCxnSpPr>
        <p:spPr>
          <a:xfrm flipV="1">
            <a:off x="10008331" y="3572021"/>
            <a:ext cx="0" cy="798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27763DF-AEA6-13BF-B642-DA5956C6C045}"/>
              </a:ext>
            </a:extLst>
          </p:cNvPr>
          <p:cNvSpPr txBox="1"/>
          <p:nvPr/>
        </p:nvSpPr>
        <p:spPr>
          <a:xfrm>
            <a:off x="9656035" y="3992266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E6C3EF1-FB0C-1DFD-BE82-3B5E396D3068}"/>
              </a:ext>
            </a:extLst>
          </p:cNvPr>
          <p:cNvSpPr/>
          <p:nvPr/>
        </p:nvSpPr>
        <p:spPr>
          <a:xfrm>
            <a:off x="7611670" y="2271042"/>
            <a:ext cx="2547676" cy="28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60ECE299-FE27-CBB6-E9D5-52D931F834B9}"/>
              </a:ext>
            </a:extLst>
          </p:cNvPr>
          <p:cNvSpPr txBox="1"/>
          <p:nvPr/>
        </p:nvSpPr>
        <p:spPr>
          <a:xfrm>
            <a:off x="7166930" y="2067951"/>
            <a:ext cx="218766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Intel PCK CA ??</a:t>
            </a:r>
            <a:endParaRPr xmlns:a="http://schemas.openxmlformats.org/drawingml/2006/main" kumimoji="1" lang="en-US" altLang="ja-JP" sz="1050" dirty="0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B8D8E807-E1F6-8099-2AC4-015F801F69E1}"/>
              </a:ext>
            </a:extLst>
          </p:cNvPr>
          <p:cNvCxnSpPr>
            <a:cxnSpLocks/>
          </p:cNvCxnSpPr>
          <p:nvPr/>
        </p:nvCxnSpPr>
        <p:spPr>
          <a:xfrm flipV="1">
            <a:off x="10008331" y="2366740"/>
            <a:ext cx="0" cy="798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D1144DE-3183-F3EA-6CCA-294780528A4E}"/>
              </a:ext>
            </a:extLst>
          </p:cNvPr>
          <p:cNvSpPr/>
          <p:nvPr/>
        </p:nvSpPr>
        <p:spPr>
          <a:xfrm>
            <a:off x="7616947" y="1677113"/>
            <a:ext cx="2547676" cy="2656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E9D2E1F-CFA0-4A20-224A-387EA5289434}"/>
              </a:ext>
            </a:extLst>
          </p:cNvPr>
          <p:cNvSpPr txBox="1"/>
          <p:nvPr/>
        </p:nvSpPr>
        <p:spPr>
          <a:xfrm>
            <a:off x="7161234" y="1431936"/>
            <a:ext cx="218766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Intel Root CA??</a:t>
            </a:r>
            <a:endParaRPr xmlns:a="http://schemas.openxmlformats.org/drawingml/2006/main" kumimoji="1" lang="en-US" altLang="ja-JP" sz="1050" dirty="0"/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5E17B9E0-0DF0-0ECA-DCBC-8E855D556BA9}"/>
              </a:ext>
            </a:extLst>
          </p:cNvPr>
          <p:cNvCxnSpPr>
            <a:cxnSpLocks/>
          </p:cNvCxnSpPr>
          <p:nvPr/>
        </p:nvCxnSpPr>
        <p:spPr>
          <a:xfrm flipV="1">
            <a:off x="10008331" y="1725882"/>
            <a:ext cx="0" cy="5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4702C9C6-9869-B3E8-C407-4D29D5998527}"/>
              </a:ext>
            </a:extLst>
          </p:cNvPr>
          <p:cNvSpPr txBox="1"/>
          <p:nvPr/>
        </p:nvSpPr>
        <p:spPr>
          <a:xfrm>
            <a:off x="10346770" y="1825577"/>
            <a:ext cx="1927200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050" dirty="0"/>
              <a:t>Verify</a:t>
            </a:r>
          </a:p>
          <a:p>
            <a:r xmlns:a="http://schemas.openxmlformats.org/drawingml/2006/main">
              <a:rPr lang="en" altLang="ja-JP" sz="1050" dirty="0"/>
              <a:t>Certificate Chain</a:t>
            </a:r>
          </a:p>
          <a:p>
            <a:endParaRPr kumimoji="1" lang="en-US" altLang="ja-JP" sz="1050" dirty="0"/>
          </a:p>
          <a:p>
            <a:r xmlns:a="http://schemas.openxmlformats.org/drawingml/2006/main">
              <a:rPr lang="en" altLang="en-US" sz="1050" dirty="0"/>
              <a:t>Extending </a:t>
            </a:r>
            <a:endParaRPr xmlns:a="http://schemas.openxmlformats.org/drawingml/2006/main" kumimoji="1" lang="en-US" altLang="ja-JP" sz="1050" dirty="0"/>
            <a:r xmlns:a="http://schemas.openxmlformats.org/drawingml/2006/main">
              <a:rPr lang="en" altLang="ja-JP" sz="1050" dirty="0"/>
              <a:t>Intel SGX </a:t>
            </a:r>
            <a:r xmlns:a="http://schemas.openxmlformats.org/drawingml/2006/main">
              <a:rPr lang="en" altLang="en-US" sz="1050" dirty="0"/>
              <a:t>'s </a:t>
            </a:r>
            <a:r xmlns:a="http://schemas.openxmlformats.org/drawingml/2006/main">
              <a:rPr lang="en" altLang="ja-JP" sz="1050" dirty="0"/>
              <a:t>CA ? ?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22F850A-3FFC-BC18-C4AE-8DCABF6263B0}"/>
              </a:ext>
            </a:extLst>
          </p:cNvPr>
          <p:cNvSpPr/>
          <p:nvPr/>
        </p:nvSpPr>
        <p:spPr>
          <a:xfrm>
            <a:off x="7161234" y="1431936"/>
            <a:ext cx="3185536" cy="130541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FDDA477-FE83-E9CC-8080-433A9A3369ED}"/>
              </a:ext>
            </a:extLst>
          </p:cNvPr>
          <p:cNvSpPr txBox="1"/>
          <p:nvPr/>
        </p:nvSpPr>
        <p:spPr>
          <a:xfrm>
            <a:off x="8861969" y="456689"/>
            <a:ext cx="2969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* </a:t>
            </a:r>
            <a:r xmlns:a="http://schemas.openxmlformats.org/drawingml/2006/main">
              <a:rPr lang="en" altLang="en-US" sz="1200" dirty="0"/>
              <a:t>Created based on hypotheses using reference materials </a:t>
            </a:r>
            <a:br xmlns:a="http://schemas.openxmlformats.org/drawingml/2006/main">
              <a:rPr lang="en-US" altLang="ja-JP" sz="1200" dirty="0"/>
            </a:br>
            <a:r xmlns:a="http://schemas.openxmlformats.org/drawingml/2006/main">
              <a:rPr lang="en" altLang="en-US" sz="1200" dirty="0"/>
              <a:t>(especially </a:t>
            </a:r>
            <a:r xmlns:a="http://schemas.openxmlformats.org/drawingml/2006/main">
              <a:rPr lang="en" altLang="ja-JP" sz="1200" dirty="0"/>
              <a:t>the Sign and Verify </a:t>
            </a:r>
            <a:r xmlns:a="http://schemas.openxmlformats.org/drawingml/2006/main">
              <a:rPr lang="en" altLang="en-US" sz="1200" dirty="0"/>
              <a:t>processes require further examination).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73" name="フリーフォーム: 図形 72">
            <a:extLst>
              <a:ext uri="{FF2B5EF4-FFF2-40B4-BE49-F238E27FC236}">
                <a16:creationId xmlns:a16="http://schemas.microsoft.com/office/drawing/2014/main" id="{9CACEC69-6BBB-E526-C14D-6B774DFCDD3D}"/>
              </a:ext>
            </a:extLst>
          </p:cNvPr>
          <p:cNvSpPr/>
          <p:nvPr/>
        </p:nvSpPr>
        <p:spPr>
          <a:xfrm>
            <a:off x="8826711" y="4704387"/>
            <a:ext cx="1175845" cy="1164657"/>
          </a:xfrm>
          <a:custGeom>
            <a:avLst/>
            <a:gdLst>
              <a:gd name="connsiteX0" fmla="*/ 0 w 1106905"/>
              <a:gd name="connsiteY0" fmla="*/ 1164657 h 1164657"/>
              <a:gd name="connsiteX1" fmla="*/ 1106905 w 1106905"/>
              <a:gd name="connsiteY1" fmla="*/ 1164657 h 1164657"/>
              <a:gd name="connsiteX2" fmla="*/ 1106905 w 1106905"/>
              <a:gd name="connsiteY2" fmla="*/ 0 h 116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6905" h="1164657">
                <a:moveTo>
                  <a:pt x="0" y="1164657"/>
                </a:moveTo>
                <a:lnTo>
                  <a:pt x="1106905" y="1164657"/>
                </a:lnTo>
                <a:lnTo>
                  <a:pt x="1106905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163276A1-957C-E9E0-7152-B33F11CBD5DB}"/>
              </a:ext>
            </a:extLst>
          </p:cNvPr>
          <p:cNvSpPr txBox="1"/>
          <p:nvPr/>
        </p:nvSpPr>
        <p:spPr>
          <a:xfrm>
            <a:off x="2647761" y="3098805"/>
            <a:ext cx="148415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EGETKEY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E4F65AF-2B15-212A-68BE-5CD713E404C1}"/>
              </a:ext>
            </a:extLst>
          </p:cNvPr>
          <p:cNvSpPr/>
          <p:nvPr/>
        </p:nvSpPr>
        <p:spPr>
          <a:xfrm>
            <a:off x="7736171" y="3494498"/>
            <a:ext cx="1885667" cy="583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B44412C-C0C7-5FE0-3E20-DAC950047FD4}"/>
              </a:ext>
            </a:extLst>
          </p:cNvPr>
          <p:cNvSpPr txBox="1"/>
          <p:nvPr/>
        </p:nvSpPr>
        <p:spPr>
          <a:xfrm>
            <a:off x="6187557" y="5244249"/>
            <a:ext cx="2960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00" dirty="0">
                <a:solidFill>
                  <a:srgbClr val="FF0000"/>
                </a:solidFill>
              </a:rPr>
              <a:t>Quoting Generation Service</a:t>
            </a: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A8EAF3EB-DA4C-5550-1402-D74C6BA764AD}"/>
              </a:ext>
            </a:extLst>
          </p:cNvPr>
          <p:cNvSpPr/>
          <p:nvPr/>
        </p:nvSpPr>
        <p:spPr>
          <a:xfrm>
            <a:off x="10565994" y="1023633"/>
            <a:ext cx="553056" cy="196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C98A70A1-9B92-60F9-66EF-1D9083B8BE09}"/>
              </a:ext>
            </a:extLst>
          </p:cNvPr>
          <p:cNvSpPr txBox="1"/>
          <p:nvPr/>
        </p:nvSpPr>
        <p:spPr>
          <a:xfrm>
            <a:off x="11165698" y="994943"/>
            <a:ext cx="76411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Keypair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448A560E-87FA-B855-ACDB-DD923D8D50DC}"/>
              </a:ext>
            </a:extLst>
          </p:cNvPr>
          <p:cNvCxnSpPr>
            <a:cxnSpLocks/>
          </p:cNvCxnSpPr>
          <p:nvPr/>
        </p:nvCxnSpPr>
        <p:spPr>
          <a:xfrm flipV="1">
            <a:off x="3869859" y="4512857"/>
            <a:ext cx="0" cy="254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D2EAF9F-7E28-B466-47B7-A4F97D09E0F1}"/>
              </a:ext>
            </a:extLst>
          </p:cNvPr>
          <p:cNvSpPr txBox="1"/>
          <p:nvPr/>
        </p:nvSpPr>
        <p:spPr>
          <a:xfrm>
            <a:off x="3031638" y="4558343"/>
            <a:ext cx="1241611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MAC?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FEBF9C0-6D09-01C0-30CF-54A541D2B8CE}"/>
              </a:ext>
            </a:extLst>
          </p:cNvPr>
          <p:cNvCxnSpPr>
            <a:cxnSpLocks/>
          </p:cNvCxnSpPr>
          <p:nvPr/>
        </p:nvCxnSpPr>
        <p:spPr>
          <a:xfrm>
            <a:off x="8342565" y="3786235"/>
            <a:ext cx="0" cy="639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A27CC168-D7BA-4ECC-0B2D-EEC638AD4D61}"/>
              </a:ext>
            </a:extLst>
          </p:cNvPr>
          <p:cNvSpPr/>
          <p:nvPr/>
        </p:nvSpPr>
        <p:spPr>
          <a:xfrm>
            <a:off x="7736171" y="4285007"/>
            <a:ext cx="1885667" cy="9649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05796DC-1CC9-DA1A-EA6F-18BAA28E6742}"/>
              </a:ext>
            </a:extLst>
          </p:cNvPr>
          <p:cNvSpPr txBox="1"/>
          <p:nvPr/>
        </p:nvSpPr>
        <p:spPr>
          <a:xfrm>
            <a:off x="9214945" y="3519387"/>
            <a:ext cx="1847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00" dirty="0">
                <a:solidFill>
                  <a:srgbClr val="FF0000"/>
                </a:solidFill>
              </a:rPr>
              <a:t>PCE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306AFEEE-13DF-C33B-702B-5DE4533F1E4E}"/>
              </a:ext>
            </a:extLst>
          </p:cNvPr>
          <p:cNvSpPr txBox="1"/>
          <p:nvPr/>
        </p:nvSpPr>
        <p:spPr>
          <a:xfrm>
            <a:off x="9073594" y="4993117"/>
            <a:ext cx="651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00" dirty="0">
                <a:solidFill>
                  <a:srgbClr val="FF0000"/>
                </a:solidFill>
              </a:rPr>
              <a:t>TD QE</a:t>
            </a:r>
          </a:p>
        </p:txBody>
      </p:sp>
      <p:sp>
        <p:nvSpPr>
          <p:cNvPr id="130" name="フリーフォーム: 図形 129">
            <a:extLst>
              <a:ext uri="{FF2B5EF4-FFF2-40B4-BE49-F238E27FC236}">
                <a16:creationId xmlns:a16="http://schemas.microsoft.com/office/drawing/2014/main" id="{CF9C3417-39D1-B793-F3BE-E3515AA09F92}"/>
              </a:ext>
            </a:extLst>
          </p:cNvPr>
          <p:cNvSpPr/>
          <p:nvPr/>
        </p:nvSpPr>
        <p:spPr>
          <a:xfrm>
            <a:off x="3724977" y="3936733"/>
            <a:ext cx="4225490" cy="558265"/>
          </a:xfrm>
          <a:custGeom>
            <a:avLst/>
            <a:gdLst>
              <a:gd name="connsiteX0" fmla="*/ 4225490 w 4225490"/>
              <a:gd name="connsiteY0" fmla="*/ 558265 h 558265"/>
              <a:gd name="connsiteX1" fmla="*/ 0 w 4225490"/>
              <a:gd name="connsiteY1" fmla="*/ 558265 h 558265"/>
              <a:gd name="connsiteX2" fmla="*/ 0 w 4225490"/>
              <a:gd name="connsiteY2" fmla="*/ 481263 h 558265"/>
              <a:gd name="connsiteX3" fmla="*/ 4129238 w 4225490"/>
              <a:gd name="connsiteY3" fmla="*/ 481263 h 558265"/>
              <a:gd name="connsiteX4" fmla="*/ 4129238 w 4225490"/>
              <a:gd name="connsiteY4" fmla="*/ 0 h 5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5490" h="558265">
                <a:moveTo>
                  <a:pt x="4225490" y="558265"/>
                </a:moveTo>
                <a:lnTo>
                  <a:pt x="0" y="558265"/>
                </a:lnTo>
                <a:lnTo>
                  <a:pt x="0" y="481263"/>
                </a:lnTo>
                <a:lnTo>
                  <a:pt x="4129238" y="481263"/>
                </a:lnTo>
                <a:lnTo>
                  <a:pt x="4129238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5D656027-F388-B54B-0CD9-668CD10F4B66}"/>
              </a:ext>
            </a:extLst>
          </p:cNvPr>
          <p:cNvCxnSpPr>
            <a:cxnSpLocks/>
          </p:cNvCxnSpPr>
          <p:nvPr/>
        </p:nvCxnSpPr>
        <p:spPr>
          <a:xfrm flipV="1">
            <a:off x="3242612" y="3992266"/>
            <a:ext cx="0" cy="789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2DE3716A-7BDF-61C2-3578-9145C3167C7C}"/>
              </a:ext>
            </a:extLst>
          </p:cNvPr>
          <p:cNvSpPr txBox="1"/>
          <p:nvPr/>
        </p:nvSpPr>
        <p:spPr>
          <a:xfrm>
            <a:off x="2362534" y="4203055"/>
            <a:ext cx="1241611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MAC</a:t>
            </a:r>
          </a:p>
          <a:p>
            <a:pPr xmlns:a="http://schemas.openxmlformats.org/drawingml/2006/main" algn="ctr"/>
            <a:r xmlns:a="http://schemas.openxmlformats.org/drawingml/2006/main">
              <a:rPr kumimoji="1" lang="en" altLang="ja-JP" sz="1050" dirty="0"/>
              <a:t>Verify?</a:t>
            </a:r>
          </a:p>
        </p:txBody>
      </p:sp>
      <p:sp>
        <p:nvSpPr>
          <p:cNvPr id="134" name="フリーフォーム: 図形 133">
            <a:extLst>
              <a:ext uri="{FF2B5EF4-FFF2-40B4-BE49-F238E27FC236}">
                <a16:creationId xmlns:a16="http://schemas.microsoft.com/office/drawing/2014/main" id="{EF9862FD-905D-E393-F444-43D56AB9E295}"/>
              </a:ext>
            </a:extLst>
          </p:cNvPr>
          <p:cNvSpPr/>
          <p:nvPr/>
        </p:nvSpPr>
        <p:spPr>
          <a:xfrm>
            <a:off x="3213802" y="3869448"/>
            <a:ext cx="4658627" cy="85311"/>
          </a:xfrm>
          <a:custGeom>
            <a:avLst/>
            <a:gdLst>
              <a:gd name="connsiteX0" fmla="*/ 4620126 w 4658627"/>
              <a:gd name="connsiteY0" fmla="*/ 67377 h 67377"/>
              <a:gd name="connsiteX1" fmla="*/ 0 w 4658627"/>
              <a:gd name="connsiteY1" fmla="*/ 67377 h 67377"/>
              <a:gd name="connsiteX2" fmla="*/ 0 w 4658627"/>
              <a:gd name="connsiteY2" fmla="*/ 0 h 67377"/>
              <a:gd name="connsiteX3" fmla="*/ 4658627 w 4658627"/>
              <a:gd name="connsiteY3" fmla="*/ 0 h 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8627" h="67377">
                <a:moveTo>
                  <a:pt x="4620126" y="67377"/>
                </a:moveTo>
                <a:lnTo>
                  <a:pt x="0" y="67377"/>
                </a:lnTo>
                <a:lnTo>
                  <a:pt x="0" y="0"/>
                </a:lnTo>
                <a:lnTo>
                  <a:pt x="4658627" y="0"/>
                </a:ln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フリーフォーム: 図形 136">
            <a:extLst>
              <a:ext uri="{FF2B5EF4-FFF2-40B4-BE49-F238E27FC236}">
                <a16:creationId xmlns:a16="http://schemas.microsoft.com/office/drawing/2014/main" id="{B8994458-CE63-D29F-0DF4-7775163C5056}"/>
              </a:ext>
            </a:extLst>
          </p:cNvPr>
          <p:cNvSpPr/>
          <p:nvPr/>
        </p:nvSpPr>
        <p:spPr>
          <a:xfrm>
            <a:off x="3765247" y="3205307"/>
            <a:ext cx="4600875" cy="356134"/>
          </a:xfrm>
          <a:custGeom>
            <a:avLst/>
            <a:gdLst>
              <a:gd name="connsiteX0" fmla="*/ 0 w 4600875"/>
              <a:gd name="connsiteY0" fmla="*/ 0 h 356134"/>
              <a:gd name="connsiteX1" fmla="*/ 4600875 w 4600875"/>
              <a:gd name="connsiteY1" fmla="*/ 0 h 356134"/>
              <a:gd name="connsiteX2" fmla="*/ 4600875 w 4600875"/>
              <a:gd name="connsiteY2" fmla="*/ 356134 h 35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00875" h="356134">
                <a:moveTo>
                  <a:pt x="0" y="0"/>
                </a:moveTo>
                <a:lnTo>
                  <a:pt x="4600875" y="0"/>
                </a:lnTo>
                <a:lnTo>
                  <a:pt x="4600875" y="356134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DE98FFE-8CFF-B1F1-EDF0-12A10939086E}"/>
              </a:ext>
            </a:extLst>
          </p:cNvPr>
          <p:cNvSpPr txBox="1"/>
          <p:nvPr/>
        </p:nvSpPr>
        <p:spPr>
          <a:xfrm>
            <a:off x="6152655" y="4061122"/>
            <a:ext cx="177109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ja-JP" sz="1050" dirty="0"/>
              <a:t>Attest Key SGX Report</a:t>
            </a:r>
            <a:endParaRPr xmlns:a="http://schemas.openxmlformats.org/drawingml/2006/main" kumimoji="1" lang="en-US" altLang="ja-JP" sz="105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A494595-D3D8-B298-FFF6-04FDD302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048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638F2-E9BF-5865-3D69-6BC1D5EB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ja-JP" sz="4000" dirty="0"/>
              <a:t>[ </a:t>
            </a:r>
            <a:r xmlns:a="http://schemas.openxmlformats.org/drawingml/2006/main">
              <a:rPr kumimoji="1" lang="en" altLang="en-US" sz="4000" dirty="0"/>
              <a:t>Reference ] </a:t>
            </a:r>
            <a:r xmlns:a="http://schemas.openxmlformats.org/drawingml/2006/main">
              <a:rPr kumimoji="1" lang="en" altLang="en-US" sz="4000" dirty="0"/>
              <a:t>Market size of </a:t>
            </a:r>
            <a:r xmlns:a="http://schemas.openxmlformats.org/drawingml/2006/main">
              <a:rPr kumimoji="1" lang="en" altLang="ja-JP" sz="4000" dirty="0"/>
              <a:t>CC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6534BB-9EBC-CB2F-B41A-F6E1E93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A57C720-3E01-037D-3C42-601963A4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96" y="1186977"/>
            <a:ext cx="7089263" cy="553449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54F0044-35F9-CA07-CFE1-3AB77FEA996E}"/>
              </a:ext>
            </a:extLst>
          </p:cNvPr>
          <p:cNvSpPr txBox="1"/>
          <p:nvPr/>
        </p:nvSpPr>
        <p:spPr>
          <a:xfrm>
            <a:off x="7382376" y="6198255"/>
            <a:ext cx="4809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altLang="en-US" sz="1400" dirty="0"/>
              <a:t>Reference: The cloud is </a:t>
            </a:r>
            <a:r xmlns:a="http://schemas.openxmlformats.org/drawingml/2006/main">
              <a:rPr lang="en" altLang="en-US" sz="1400" dirty="0"/>
              <a:t>entering an era where it can protect </a:t>
            </a:r>
            <a:endParaRPr xmlns:a="http://schemas.openxmlformats.org/drawingml/2006/main" lang="en-US" altLang="ja-JP" sz="1400" dirty="0"/>
            <a:r xmlns:a="http://schemas.openxmlformats.org/drawingml/2006/main">
              <a:rPr lang="en" altLang="ja-JP" sz="1400" dirty="0"/>
              <a:t>" </a:t>
            </a:r>
            <a:r xmlns:a="http://schemas.openxmlformats.org/drawingml/2006/main">
              <a:rPr lang="en" altLang="en-US" sz="1400" dirty="0"/>
              <a:t>data in use </a:t>
            </a:r>
            <a:r xmlns:a="http://schemas.openxmlformats.org/drawingml/2006/main">
              <a:rPr lang="en" altLang="ja-JP" sz="1400" dirty="0"/>
              <a:t>" as well.</a:t>
            </a:r>
          </a:p>
          <a:p>
            <a:r xmlns:a="http://schemas.openxmlformats.org/drawingml/2006/main">
              <a:rPr lang="en" altLang="ja-JP" sz="1400" dirty="0"/>
              <a:t>https://toyokeizai.net/articles/-/594973</a:t>
            </a:r>
            <a:endParaRPr xmlns:a="http://schemas.openxmlformats.org/drawingml/2006/main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6642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7A346-5C17-A7AA-1FD3-7400584E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ja-JP" dirty="0"/>
              <a:t>[ </a:t>
            </a:r>
            <a:r xmlns:a="http://schemas.openxmlformats.org/drawingml/2006/main">
              <a:rPr kumimoji="1" lang="en" altLang="en-US" dirty="0"/>
              <a:t>Reference ] </a:t>
            </a:r>
            <a:r xmlns:a="http://schemas.openxmlformats.org/drawingml/2006/main">
              <a:rPr kumimoji="1" lang="en" altLang="en-US" dirty="0"/>
              <a:t>History of </a:t>
            </a:r>
            <a:r xmlns:a="http://schemas.openxmlformats.org/drawingml/2006/main">
              <a:rPr kumimoji="1" lang="en" altLang="ja-JP" dirty="0"/>
              <a:t>CC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9F731B-8BAF-3FCC-2586-19E244EA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29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2888ECE-A653-53E1-48D3-2206EAD47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9328"/>
            <a:ext cx="10585109" cy="346217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01D279-A548-1A1E-802F-C48BBAD77915}"/>
              </a:ext>
            </a:extLst>
          </p:cNvPr>
          <p:cNvSpPr txBox="1"/>
          <p:nvPr/>
        </p:nvSpPr>
        <p:spPr>
          <a:xfrm>
            <a:off x="4969042" y="5618747"/>
            <a:ext cx="889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reference:</a:t>
            </a:r>
            <a:endParaRPr xmlns:a="http://schemas.openxmlformats.org/drawingml/2006/main" kumimoji="1" lang="en-US" altLang="ja-JP" sz="1400" dirty="0"/>
          </a:p>
          <a:p>
            <a:r xmlns:a="http://schemas.openxmlformats.org/drawingml/2006/main">
              <a:rPr kumimoji="1" lang="en" altLang="ja-JP" sz="1400" dirty="0" err="1"/>
              <a:t>Dengguo </a:t>
            </a:r>
            <a:r xmlns:a="http://schemas.openxmlformats.org/drawingml/2006/main">
              <a:rPr kumimoji="1" lang="en" altLang="ja-JP" sz="1400" dirty="0"/>
              <a:t>Feng, Yu Qin, Wei Feng, Wei Li, </a:t>
            </a:r>
            <a:r xmlns:a="http://schemas.openxmlformats.org/drawingml/2006/main">
              <a:rPr kumimoji="1" lang="en" altLang="ja-JP" sz="1400" dirty="0" err="1"/>
              <a:t>Ketong </a:t>
            </a:r>
            <a:r xmlns:a="http://schemas.openxmlformats.org/drawingml/2006/main">
              <a:rPr kumimoji="1" lang="en" altLang="ja-JP" sz="1400" dirty="0"/>
              <a:t>Shang, </a:t>
            </a:r>
            <a:r xmlns:a="http://schemas.openxmlformats.org/drawingml/2006/main">
              <a:rPr kumimoji="1" lang="en" altLang="ja-JP" sz="1400" dirty="0" err="1"/>
              <a:t>Hongzhan </a:t>
            </a:r>
            <a:r xmlns:a="http://schemas.openxmlformats.org/drawingml/2006/main">
              <a:rPr kumimoji="1" lang="en" altLang="ja-JP" sz="1400" dirty="0"/>
              <a:t>Ma </a:t>
            </a:r>
            <a:br xmlns:a="http://schemas.openxmlformats.org/drawingml/2006/main">
              <a:rPr kumimoji="1" lang="en-US" altLang="ja-JP" sz="1400" dirty="0"/>
            </a:br>
            <a:r xmlns:a="http://schemas.openxmlformats.org/drawingml/2006/main">
              <a:rPr kumimoji="1" lang="en" altLang="ja-JP" sz="1400" dirty="0"/>
              <a:t>“Survey of research on confidential computing”, IET Communications, April 2024. </a:t>
            </a:r>
            <a:br xmlns:a="http://schemas.openxmlformats.org/drawingml/2006/main">
              <a:rPr kumimoji="1" lang="en-US" altLang="ja-JP" sz="1400" dirty="0"/>
            </a:br>
            <a:r xmlns:a="http://schemas.openxmlformats.org/drawingml/2006/main">
              <a:rPr kumimoji="1" lang="en" altLang="ja-JP" sz="1400" dirty="0"/>
              <a:t>https://ietresearch.onlinelibrary.wiley.com/doi/10.1049/cmu2.12759</a:t>
            </a:r>
          </a:p>
        </p:txBody>
      </p:sp>
    </p:spTree>
    <p:extLst>
      <p:ext uri="{BB962C8B-B14F-4D97-AF65-F5344CB8AC3E}">
        <p14:creationId xmlns:p14="http://schemas.microsoft.com/office/powerpoint/2010/main" val="38526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Microsoft Office PowerPoint</Application>
  <PresentationFormat>ワイド画面</PresentationFormat>
  <Paragraphs>490</Paragraphs>
  <Slides>29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5" baseType="lpstr">
      <vt:lpstr>メイリオ</vt:lpstr>
      <vt:lpstr>游ゴシック</vt:lpstr>
      <vt:lpstr>游ゴシック Light</vt:lpstr>
      <vt:lpstr>Arial</vt:lpstr>
      <vt:lpstr>Wingdings</vt:lpstr>
      <vt:lpstr>Office テーマ</vt:lpstr>
      <vt:lpstr>博士後期課程　口述試験  － セキュリティ研究者としての専門性確立に向けて －</vt:lpstr>
      <vt:lpstr>発表内容</vt:lpstr>
      <vt:lpstr>業務経歴</vt:lpstr>
      <vt:lpstr>業務内容</vt:lpstr>
      <vt:lpstr>担当業務</vt:lpstr>
      <vt:lpstr>研究実績</vt:lpstr>
      <vt:lpstr>【参考】過去の発表（完全性確認技術関連）</vt:lpstr>
      <vt:lpstr>【参考】過去の発表（修士論文、掲載論文）</vt:lpstr>
      <vt:lpstr>進学の動機</vt:lpstr>
      <vt:lpstr>研究計画</vt:lpstr>
      <vt:lpstr>背景</vt:lpstr>
      <vt:lpstr>研究領域</vt:lpstr>
      <vt:lpstr>研究目的と課題</vt:lpstr>
      <vt:lpstr>関連研究</vt:lpstr>
      <vt:lpstr>アプローチ</vt:lpstr>
      <vt:lpstr>【参考】Attestationにおける鍵と証明書</vt:lpstr>
      <vt:lpstr>研究のステップ</vt:lpstr>
      <vt:lpstr>研究のステップ</vt:lpstr>
      <vt:lpstr>発表計画</vt:lpstr>
      <vt:lpstr>おわりに（抱負）</vt:lpstr>
      <vt:lpstr>PowerPoint プレゼンテーション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【参考】CCの市場規模</vt:lpstr>
      <vt:lpstr>【参考】CCの歴史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2026-06-02T12:09:13Z</dcterms:created>
  <dcterms:modified xsi:type="dcterms:W3CDTF">2026-06-02T12:09:56Z</dcterms:modified>
</cp:coreProperties>
</file>