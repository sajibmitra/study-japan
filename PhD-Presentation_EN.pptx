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mage14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>
  <p:sldMasterIdLst>
    <p:sldMasterId id="2147483648" r:id="rId1"/>
  </p:sldMasterIdLst>
  <p:notesMasterIdLst>
    <p:notesMasterId r:id="rId31"/>
  </p:notes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  <p:sldId id="266" r:id="rId9"/>
    <p:sldId id="262" r:id="rId10"/>
    <p:sldId id="267" r:id="rId11"/>
    <p:sldId id="269" r:id="rId12"/>
    <p:sldId id="278" r:id="rId13"/>
    <p:sldId id="270" r:id="rId14"/>
    <p:sldId id="280" r:id="rId15"/>
    <p:sldId id="281" r:id="rId16"/>
    <p:sldId id="288" r:id="rId17"/>
    <p:sldId id="272" r:id="rId18"/>
    <p:sldId id="277" r:id="rId19"/>
    <p:sldId id="283" r:id="rId20"/>
    <p:sldId id="274" r:id="rId21"/>
    <p:sldId id="292" r:id="rId22"/>
    <p:sldId id="286" r:id="rId23"/>
    <p:sldId id="290" r:id="rId24"/>
    <p:sldId id="285" r:id="rId25"/>
    <p:sldId id="287" r:id="rId26"/>
    <p:sldId id="291" r:id="rId27"/>
    <p:sldId id="293" r:id="rId28"/>
    <p:sldId id="294" r:id="rId29"/>
    <p:sldId id="295" r:id="rId30"/>
  </p:sldIdLst>
  <p:sldSz cx="12192000" cy="6858000"/>
  <p:notesSz cx="6858000" cy="9144000"/>
  <p:defaultTextStyle>
    <a:defPPr>
      <a:defRPr lang="en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スタイルなし、表のグリッド線あり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4422" autoAdjust="0"/>
    <p:restoredTop sz="76101" autoAdjust="0"/>
  </p:normalViewPr>
  <p:slideViewPr>
    <p:cSldViewPr snapToGrid="0">
      <p:cViewPr varScale="1">
        <p:scale>
          <a:sx n="91" d="100"/>
          <a:sy n="91" d="100"/>
        </p:scale>
        <p:origin x="786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notesMaster" Target="notesMasters/notesMaster1.xml"/><Relationship Id="rId32" Type="http://schemas.openxmlformats.org/officeDocument/2006/relationships/presProps" Target="presProps.xml"/><Relationship Id="rId33" Type="http://schemas.openxmlformats.org/officeDocument/2006/relationships/viewProps" Target="viewProps.xml"/><Relationship Id="rId34" Type="http://schemas.openxmlformats.org/officeDocument/2006/relationships/theme" Target="theme/theme1.xml"/><Relationship Id="rId35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1D4D981-F347-4BEB-A8C4-866A92671A89}" type="datetimeFigureOut">
              <a:rPr kumimoji="1" lang="ja-JP" altLang="en-US" smtClean="0"/>
              <a:t>2026/6/2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DE25FC6-D392-4E3D-BDE4-78C6A298A63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72995607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en-US" altLang="ja-JP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DE25FC6-D392-4E3D-BDE4-78C6A298A639}" type="slidenum">
              <a:rPr kumimoji="1" lang="ja-JP" altLang="en-US" smtClean="0"/>
              <a:t>14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6588406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DE25FC6-D392-4E3D-BDE4-78C6A298A639}" type="slidenum">
              <a:rPr kumimoji="1" lang="ja-JP" altLang="en-US" smtClean="0"/>
              <a:t>19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573461056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B916378-D1C6-D719-9BFE-204D8A62FB5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F07A9A23-5FE1-8C9A-3F55-1099201CDD3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1E0E96C-3FB5-3D18-BC82-31971461D6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B36ED7-4BBB-4148-A2AB-C1DED1EA77BD}" type="datetime1">
              <a:rPr kumimoji="1" lang="ja-JP" altLang="en-US" smtClean="0"/>
              <a:t>2026/6/2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B1AFF5B6-5E41-C163-8D53-59E709D8A5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E98C759-7B44-C5E1-2246-3C72ED77BD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24682" y="125879"/>
            <a:ext cx="2743200" cy="365125"/>
          </a:xfrm>
        </p:spPr>
        <p:txBody>
          <a:bodyPr/>
          <a:lstStyle/>
          <a:p>
            <a:fld id="{B544AA7B-1733-46A6-89F2-666551969EC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906634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13289E4-E221-D968-D446-139E32862A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0AFAE251-4418-A671-950F-BC074956E5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60672B9-7DFC-CD47-3E28-350F8FBBE6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238E4F-D5E1-4353-99CC-F2A2893CF2E2}" type="datetime1">
              <a:rPr kumimoji="1" lang="ja-JP" altLang="en-US" smtClean="0"/>
              <a:t>2026/6/2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0F4ED57A-118E-835A-EC5F-01F1E12F58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76FDBF92-FD98-9470-F437-252843D805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29165" y="136525"/>
            <a:ext cx="2743200" cy="365125"/>
          </a:xfrm>
        </p:spPr>
        <p:txBody>
          <a:bodyPr/>
          <a:lstStyle/>
          <a:p>
            <a:fld id="{B544AA7B-1733-46A6-89F2-666551969EC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6566610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FF3E055-0A94-7A85-8556-2751E44C03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03FE3973-568A-FE5B-3AC4-E6AF4A297F9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1371079-103D-DB49-FDC9-FE03740CDB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5F8EF6-6DCD-4FD5-8CD2-D2FFA5B4ABE7}" type="datetime1">
              <a:rPr kumimoji="1" lang="ja-JP" altLang="en-US" smtClean="0"/>
              <a:t>2026/6/2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F3E83C61-9BBB-46E1-5E98-41E6A74F83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EA758C55-E3B5-1815-00EE-E31B4A86E4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44AA7B-1733-46A6-89F2-666551969EC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9880040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CF17C6E-DA21-9EF5-2FA0-B741323BB6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D154F354-BE97-727E-EFD4-E835B7E09C9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FA24100D-AD12-CF9F-6FCC-91DBD69DE3E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3F0D96F2-76F8-7F4C-B7F0-62DD2B3C0E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1DCED8-3BF1-4D1D-A8D5-9B2D51290168}" type="datetime1">
              <a:rPr kumimoji="1" lang="ja-JP" altLang="en-US" smtClean="0"/>
              <a:t>2026/6/2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51E18062-49FE-D9CC-37C9-FD915D2326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2A9EADEF-283A-91C1-788E-BF8AE57491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44AA7B-1733-46A6-89F2-666551969EC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6886228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71F301E-C4CD-FCE2-3CEB-E94336B68E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1EBF249A-14C1-4EF6-D2CA-89BE35505C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92BC9111-FF02-0347-3718-73FA3CE2274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74BB3C75-B7C8-A069-4022-EE99D662749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2C8A2AE4-D939-C872-FFC9-212941C4BBB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4998D2A2-3868-C02C-8FB9-AE708CA723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EAC2A7-4D24-493B-B3B3-073E1D6670F8}" type="datetime1">
              <a:rPr kumimoji="1" lang="ja-JP" altLang="en-US" smtClean="0"/>
              <a:t>2026/6/2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578807D3-13E9-9ACB-DF87-FF548C3D0A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5E77F0A1-24F5-9051-3FAE-5E247797B7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44AA7B-1733-46A6-89F2-666551969EC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209174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89E0A2F-049F-482E-D774-F5E1D614F1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539F1B61-C60A-192C-B348-67B635C249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9171A7-D4BD-497C-988B-261B95E3318B}" type="datetime1">
              <a:rPr kumimoji="1" lang="ja-JP" altLang="en-US" smtClean="0"/>
              <a:t>2026/6/2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9CB3C2B7-9715-CA87-73AA-5622602DCE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300664B4-0B42-04B8-6ECD-D790B45D5F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44AA7B-1733-46A6-89F2-666551969EC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572895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2D7F4E61-9DD8-ADEC-123A-91D7FB2391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FE087A-0971-4E2B-90E2-72B11E1D49BA}" type="datetime1">
              <a:rPr kumimoji="1" lang="ja-JP" altLang="en-US" smtClean="0"/>
              <a:t>2026/6/2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9C76888F-A9B8-874A-74FD-AC5D3DA66F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05842ED4-0E38-BE80-47AC-204BB704E8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44AA7B-1733-46A6-89F2-666551969EC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4011297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0A0B05B-5433-20D6-588C-ADD8CF679F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6543CA15-0693-B363-DF45-36A3EB93EB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3C9A189A-56A8-6AAD-AD40-D0C96AAEDD8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2828BEE7-C1EC-25D9-E46D-61090EF8A8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620539-9CBB-4B2C-A3AF-84234D7B68D5}" type="datetime1">
              <a:rPr kumimoji="1" lang="ja-JP" altLang="en-US" smtClean="0"/>
              <a:t>2026/6/2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64A6F3BE-4D0D-54E2-580B-31680BA478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3BF53361-25CD-4C98-0358-90913F1B85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44AA7B-1733-46A6-89F2-666551969EC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087244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8FBB485-E055-29FB-5FBD-84C8C00601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08794A00-0CC1-4389-A993-4DA159ECD0E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92A9F319-CA91-4F20-DF14-1C20F854CA6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CCD8B342-32BA-145E-15F2-F62FCAD52A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B4B379-A3DC-41E6-89E9-66EA95B5916E}" type="datetime1">
              <a:rPr kumimoji="1" lang="ja-JP" altLang="en-US" smtClean="0"/>
              <a:t>2026/6/2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FE341430-781E-82F6-6E31-06EE2DD476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5033249E-C295-4A04-0C34-8E03310321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44AA7B-1733-46A6-89F2-666551969EC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8551597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E1EB4B3-3675-9DAF-D2C8-B8D9851078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989798BF-781D-9105-DE07-2999DCE0B51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8E01F636-54B4-D59D-1F85-70FCF42E8F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772B0F-440D-4772-AEF7-BA5E34CEBA4D}" type="datetime1">
              <a:rPr kumimoji="1" lang="ja-JP" altLang="en-US" smtClean="0"/>
              <a:t>2026/6/2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4D20E21C-C38B-DF92-F982-C5BF408A2E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E06517AC-40E0-FDFC-793B-B7F6683B46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44AA7B-1733-46A6-89F2-666551969EC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7748412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FF34A09F-8443-3267-0983-4FA4DA4B85B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D6ED6AAD-6F0E-D390-6C78-E8CD021CCDC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3F810A0E-904F-312B-5039-8B5A3C587A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D1DC5C-49B9-4D39-BCCB-BCB365FCD08C}" type="datetime1">
              <a:rPr kumimoji="1" lang="ja-JP" altLang="en-US" smtClean="0"/>
              <a:t>2026/6/2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C7C6A220-CCB5-191A-E7E8-57E6A3C51E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61D7EDCD-1588-FB34-2C34-8BD23E2F15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44AA7B-1733-46A6-89F2-666551969EC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95800209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5320E81F-5001-D40A-B003-D7B5A83DFA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65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54EDAE8C-B6B1-1BB1-9FB8-529E56CE6B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8821FD07-AFAF-4CC1-2513-E51C026F0D6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7C83E02-9684-4373-8421-E214BC6942B4}" type="datetime1">
              <a:rPr kumimoji="1" lang="ja-JP" altLang="en-US" smtClean="0"/>
              <a:t>2026/6/2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16386537-F16D-23C1-DA0C-8670CFA65CA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90527115-4950-23D0-FE94-B0694DE57FE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544AA7B-1733-46A6-89F2-666551969EC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675634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5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png"/><Relationship Id="rId11" Type="http://schemas.openxmlformats.org/officeDocument/2006/relationships/image" Target="../media/image10.png"/><Relationship Id="rId12" Type="http://schemas.openxmlformats.org/officeDocument/2006/relationships/image" Target="../media/image11.png"/><Relationship Id="rId13" Type="http://schemas.openxmlformats.org/officeDocument/2006/relationships/image" Target="../media/image12.png"/><Relationship Id="rId14" Type="http://schemas.openxmlformats.org/officeDocument/2006/relationships/image" Target="../media/image26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3.png"/><Relationship Id="rId3" Type="http://schemas.openxmlformats.org/officeDocument/2006/relationships/image" Target="../media/image14.svg"/><Relationship Id="rId4" Type="http://schemas.openxmlformats.org/officeDocument/2006/relationships/image" Target="../media/image15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5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5.png"/><Relationship Id="rId3" Type="http://schemas.openxmlformats.org/officeDocument/2006/relationships/image" Target="../media/image16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7.png"/><Relationship Id="rId3" Type="http://schemas.openxmlformats.org/officeDocument/2006/relationships/image" Target="../media/image18.png"/><Relationship Id="rId4" Type="http://schemas.openxmlformats.org/officeDocument/2006/relationships/image" Target="../media/image19.png"/><Relationship Id="rId5" Type="http://schemas.openxmlformats.org/officeDocument/2006/relationships/hyperlink" Target="https://www.amd.com/content/dam/amd/en/documents/developer/lss-snp-attestation.pdf" TargetMode="External"/><Relationship Id="rId6" Type="http://schemas.openxmlformats.org/officeDocument/2006/relationships/image" Target="../media/image27.png"/><Relationship Id="rId7" Type="http://schemas.openxmlformats.org/officeDocument/2006/relationships/image" Target="../media/image28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s://www.amd.com/content/dam/amd/en/documents/epyc-technical-docs/specifications/57230.pdf" TargetMode="External"/><Relationship Id="rId3" Type="http://schemas.openxmlformats.org/officeDocument/2006/relationships/hyperlink" Target="https://www.amd.com/content/dam/amd/en/documents/developer/lss-snp-attestation.pdf" TargetMode="External"/><Relationship Id="rId4" Type="http://schemas.openxmlformats.org/officeDocument/2006/relationships/image" Target="../media/image26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s://download.01.org/intel-sgx/sgx-dcap/1.14/linux/docs/SGX_DCAP_Caching_Service_Design_Guide.pdf" TargetMode="External"/><Relationship Id="rId3" Type="http://schemas.openxmlformats.org/officeDocument/2006/relationships/image" Target="../media/image20.png"/><Relationship Id="rId4" Type="http://schemas.openxmlformats.org/officeDocument/2006/relationships/image" Target="../media/image29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s://api.trustedservices.intel.com/documents/Intel_SGX_PCK_Certificate_CRL_Spec-1.5.pdf" TargetMode="External"/><Relationship Id="rId3" Type="http://schemas.openxmlformats.org/officeDocument/2006/relationships/hyperlink" Target="https://download.01.org/intel-sgx/sgx-dcap/1.14/linux/docs/SGX_DCAP_Caching_Service_Design_Guide.pdf" TargetMode="Externa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1.png"/><Relationship Id="rId3" Type="http://schemas.openxmlformats.org/officeDocument/2006/relationships/hyperlink" Target="https://download.01.org/intel-sgx/latest/dcap-latest/linux/docs/Intel_TDX_DCAP_Quoting_Library_API.pdf" TargetMode="Externa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s://download.01.org/intel-sgx/latest/dcap-latest/linux/docs/Intel_TDX_DCAP_Quoting_Library_API.pdf" TargetMode="External"/><Relationship Id="rId3" Type="http://schemas.openxmlformats.org/officeDocument/2006/relationships/image" Target="../media/image22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s://download.01.org/intel-sgx/latest/dcap-latest/linux/docs/Intel_TDX_DCAP_Quoting_Library_API.pdf" TargetMode="Externa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3.png"/><Relationship Id="rId3" Type="http://schemas.openxmlformats.org/officeDocument/2006/relationships/image" Target="../media/image28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3EC1714-1283-6C49-EF60-87823BF0845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2"/>
            <a:ext cx="9144000" cy="3068637"/>
          </a:xfrm>
        </p:spPr>
        <p:txBody>
          <a:bodyPr>
            <a:normAutofit/>
          </a:bodyPr>
          <a:lstStyle/>
          <a:p>
            <a:r>
              <a:t>Doctoral Program Oral Examination</a:t>
            </a:r>
            <a:br/>
            <a:br/>
            <a:r>
              <a:t>– Deployable Hybrid Quantum–Classical Edge Intelligence for Sustainable IoT Security –</a:t>
            </a:r>
            <a:endParaRPr xmlns:a="http://schemas.openxmlformats.org/drawingml/2006/main" kumimoji="1" lang="ja-JP" altLang="en-US" sz="3200" dirty="0"/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5784FA36-437A-A7E2-3757-65D6B000CDE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190999"/>
            <a:ext cx="9144000" cy="1655762"/>
          </a:xfrm>
        </p:spPr>
        <p:txBody>
          <a:bodyPr>
            <a:normAutofit fontScale="92500" lnSpcReduction="10000"/>
          </a:bodyPr>
          <a:lstStyle/>
          <a:p>
            <a:r>
              <a:t>Sajib Kumar Mitra</a:t>
            </a:r>
            <a:endParaRPr kumimoji="1" lang="en-US" altLang="ja-JP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022D6E75-2ED1-1CEE-A16E-2F9547C814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44AA7B-1733-46A6-89F2-666551969EC7}" type="slidenum">
              <a:rPr kumimoji="1" lang="ja-JP" altLang="en-US" smtClean="0"/>
              <a:t>1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427085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254FEAA-463E-F96F-3123-DF813B0142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 xmlns:a="http://schemas.openxmlformats.org/drawingml/2006/main">
              <a:rPr kumimoji="1" lang="en" altLang="en-US" dirty="0"/>
              <a:t>Announcement content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5B7AF943-C7D7-38B0-E228-4EFB186A73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xmlns:a="http://schemas.openxmlformats.org/drawingml/2006/main" marL="514350" indent="-514350">
              <a:buFont typeface="+mj-lt"/>
              <a:buAutoNum type="arabicPeriod"/>
            </a:pPr>
            <a:r>
              <a:t>Previous work experience and job responsibilities</a:t>
            </a:r>
            <a:br/>
            <a:r>
              <a:t>Research achievements (M.S. thesis, published papers, ongoing survey)</a:t>
            </a:r>
            <a:br/>
            <a:r>
              <a:t>Motivation for pursuing doctoral study</a:t>
            </a:r>
            <a:br/>
            <a:r>
              <a:t>Research plan</a:t>
            </a:r>
            <a:endParaRPr xmlns:a="http://schemas.openxmlformats.org/drawingml/2006/main" kumimoji="1" lang="en-US" altLang="ja-JP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9BB871CD-C4D6-FC9B-4E16-7C3E523C61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44AA7B-1733-46A6-89F2-666551969EC7}" type="slidenum">
              <a:rPr kumimoji="1" lang="ja-JP" altLang="en-US" smtClean="0"/>
              <a:t>2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124616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4AD9FA2-6D5B-94A7-5987-627A3524AE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 xmlns:a="http://schemas.openxmlformats.org/drawingml/2006/main">
              <a:rPr lang="en" altLang="en-US" dirty="0"/>
              <a:t>Work experience</a:t>
            </a:r>
            <a:endParaRPr xmlns:a="http://schemas.openxmlformats.org/drawingml/2006/main" kumimoji="1" lang="ja-JP" altLang="en-US" dirty="0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9D4D416B-C7ED-7D0A-93A2-B70795C9A3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11005457" cy="4351338"/>
          </a:xfrm>
        </p:spPr>
        <p:txBody>
          <a:bodyPr>
            <a:normAutofit/>
          </a:bodyPr>
          <a:lstStyle/>
          <a:p>
            <a:r>
              <a:t>B.Sc. in Computer Science &amp; Engineering, University of Dhaka</a:t>
            </a:r>
            <a:br/>
            <a:r>
              <a:t>M.S. in Computer Science &amp; Engineering, University of Dhaka</a:t>
            </a:r>
            <a:br/>
            <a:r>
              <a:t>　　(Thesis: efficient reversible logic &amp; quantum circuit design)</a:t>
            </a:r>
            <a:br/>
            <a:br/>
            <a:r>
              <a:t>Joint Director (ICT), Bangladesh Bank</a:t>
            </a:r>
            <a:br/>
            <a:r>
              <a:t>　　(Large-scale secure ICT systems, software engineering, audit support)</a:t>
            </a:r>
            <a:br/>
            <a:br/>
            <a:r>
              <a:t>Full-time availability for funded 3–4 year doctoral study</a:t>
            </a: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148B822F-E370-4B82-C599-A096D4852E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44AA7B-1733-46A6-89F2-666551969EC7}" type="slidenum">
              <a:rPr kumimoji="1" lang="ja-JP" altLang="en-US" smtClean="0"/>
              <a:t>3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99874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1A37B26-4C4E-D690-8E9D-E2D739AAEB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 xmlns:a="http://schemas.openxmlformats.org/drawingml/2006/main">
              <a:rPr kumimoji="1" lang="en" altLang="en-US" dirty="0"/>
              <a:t>Business content</a:t>
            </a:r>
          </a:p>
        </p:txBody>
      </p:sp>
      <p:sp>
        <p:nvSpPr>
          <p:cNvPr id="7" name="コンテンツ プレースホルダー 2">
            <a:extLst>
              <a:ext uri="{FF2B5EF4-FFF2-40B4-BE49-F238E27FC236}">
                <a16:creationId xmlns:a16="http://schemas.microsoft.com/office/drawing/2014/main" id="{B9074D70-ADF1-D757-0928-09A31D0BBC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0477" y="1322522"/>
            <a:ext cx="11414431" cy="358436"/>
          </a:xfrm>
        </p:spPr>
        <p:txBody>
          <a:bodyPr>
            <a:normAutofit fontScale="92500" lnSpcReduction="20000"/>
          </a:bodyPr>
          <a:lstStyle/>
          <a:p>
            <a:r>
              <a:t>ICT systems engineering &amp; security R&amp;D</a:t>
            </a:r>
          </a:p>
        </p:txBody>
      </p:sp>
      <p:cxnSp>
        <p:nvCxnSpPr>
          <p:cNvPr id="3" name="直線コネクタ 2">
            <a:extLst>
              <a:ext uri="{FF2B5EF4-FFF2-40B4-BE49-F238E27FC236}">
                <a16:creationId xmlns:a16="http://schemas.microsoft.com/office/drawing/2014/main" id="{F2FF257F-5CA5-3F77-A08F-5D291FB914BC}"/>
              </a:ext>
            </a:extLst>
          </p:cNvPr>
          <p:cNvCxnSpPr>
            <a:cxnSpLocks/>
          </p:cNvCxnSpPr>
          <p:nvPr/>
        </p:nvCxnSpPr>
        <p:spPr>
          <a:xfrm>
            <a:off x="3338918" y="2222373"/>
            <a:ext cx="3091862" cy="0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045FCDCE-5CEA-5D1A-C090-C1186928AB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44AA7B-1733-46A6-89F2-666551969EC7}" type="slidenum">
              <a:rPr kumimoji="1" lang="ja-JP" altLang="en-US" smtClean="0"/>
              <a:t>4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9455607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E526274-CB5F-3F9A-FA48-ED027456EE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 xmlns:a="http://schemas.openxmlformats.org/drawingml/2006/main">
              <a:rPr kumimoji="1" lang="en" altLang="en-US" dirty="0"/>
              <a:t>Responsibilities</a:t>
            </a:r>
          </a:p>
        </p:txBody>
      </p:sp>
      <p:cxnSp>
        <p:nvCxnSpPr>
          <p:cNvPr id="9" name="直線コネクタ 8">
            <a:extLst>
              <a:ext uri="{FF2B5EF4-FFF2-40B4-BE49-F238E27FC236}">
                <a16:creationId xmlns:a16="http://schemas.microsoft.com/office/drawing/2014/main" id="{D1419C22-F3F0-41CC-D04B-7294E5613388}"/>
              </a:ext>
            </a:extLst>
          </p:cNvPr>
          <p:cNvCxnSpPr>
            <a:cxnSpLocks/>
          </p:cNvCxnSpPr>
          <p:nvPr/>
        </p:nvCxnSpPr>
        <p:spPr>
          <a:xfrm>
            <a:off x="2439509" y="6127310"/>
            <a:ext cx="2574267" cy="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線コネクタ 9">
            <a:extLst>
              <a:ext uri="{FF2B5EF4-FFF2-40B4-BE49-F238E27FC236}">
                <a16:creationId xmlns:a16="http://schemas.microsoft.com/office/drawing/2014/main" id="{B6CA8753-1A8B-FF6E-3D9E-954D9BF30069}"/>
              </a:ext>
            </a:extLst>
          </p:cNvPr>
          <p:cNvCxnSpPr>
            <a:cxnSpLocks/>
          </p:cNvCxnSpPr>
          <p:nvPr/>
        </p:nvCxnSpPr>
        <p:spPr>
          <a:xfrm>
            <a:off x="2439509" y="6282389"/>
            <a:ext cx="2030891" cy="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コンテンツ プレースホルダー 2">
            <a:extLst>
              <a:ext uri="{FF2B5EF4-FFF2-40B4-BE49-F238E27FC236}">
                <a16:creationId xmlns:a16="http://schemas.microsoft.com/office/drawing/2014/main" id="{14D1047D-18E6-150F-9B85-CFACC77D32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3954" y="1282256"/>
            <a:ext cx="6501937" cy="359664"/>
          </a:xfrm>
        </p:spPr>
        <p:txBody>
          <a:bodyPr>
            <a:normAutofit lnSpcReduction="10000"/>
          </a:bodyPr>
          <a:lstStyle/>
          <a:p>
            <a:r>
              <a:t>Secure ICT architecture and software engineering leadership</a:t>
            </a:r>
            <a:br/>
            <a:r>
              <a:t>Research on quantum computing, reversible logic, and IoT security analytics</a:t>
            </a:r>
            <a:br/>
            <a:r>
              <a:t>Cross-functional coordination for national-scale financial ICT systems</a:t>
            </a:r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8B5202DB-E58B-C501-7314-EA77390713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44AA7B-1733-46A6-89F2-666551969EC7}" type="slidenum">
              <a:rPr kumimoji="1" lang="ja-JP" altLang="en-US" smtClean="0"/>
              <a:t>5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40352505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BFF17F1-1F19-3374-644C-CA1F66F124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 xmlns:a="http://schemas.openxmlformats.org/drawingml/2006/main">
              <a:rPr kumimoji="1" lang="en" altLang="en-US" dirty="0"/>
              <a:t>Research achievements</a:t>
            </a:r>
          </a:p>
        </p:txBody>
      </p:sp>
      <p:graphicFrame>
        <p:nvGraphicFramePr>
          <p:cNvPr id="8" name="表 8">
            <a:extLst>
              <a:ext uri="{FF2B5EF4-FFF2-40B4-BE49-F238E27FC236}">
                <a16:creationId xmlns:a16="http://schemas.microsoft.com/office/drawing/2014/main" id="{50F80069-E0CD-28F1-0622-820C1B8FE54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79665889"/>
              </p:ext>
            </p:extLst>
          </p:nvPr>
        </p:nvGraphicFramePr>
        <p:xfrm>
          <a:off x="619299" y="2401634"/>
          <a:ext cx="9238487" cy="3379779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945255">
                  <a:extLst>
                    <a:ext uri="{9D8B030D-6E8A-4147-A177-3AD203B41FA5}">
                      <a16:colId xmlns:a16="http://schemas.microsoft.com/office/drawing/2014/main" val="3049446775"/>
                    </a:ext>
                  </a:extLst>
                </a:gridCol>
                <a:gridCol w="1251584">
                  <a:extLst>
                    <a:ext uri="{9D8B030D-6E8A-4147-A177-3AD203B41FA5}">
                      <a16:colId xmlns:a16="http://schemas.microsoft.com/office/drawing/2014/main" val="3652847773"/>
                    </a:ext>
                  </a:extLst>
                </a:gridCol>
                <a:gridCol w="1572768">
                  <a:extLst>
                    <a:ext uri="{9D8B030D-6E8A-4147-A177-3AD203B41FA5}">
                      <a16:colId xmlns:a16="http://schemas.microsoft.com/office/drawing/2014/main" val="3141934279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484646176"/>
                    </a:ext>
                  </a:extLst>
                </a:gridCol>
                <a:gridCol w="1325880">
                  <a:extLst>
                    <a:ext uri="{9D8B030D-6E8A-4147-A177-3AD203B41FA5}">
                      <a16:colId xmlns:a16="http://schemas.microsoft.com/office/drawing/2014/main" val="341259594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endParaRPr kumimoji="1" lang="ja-JP" altLang="en-US" sz="1600" dirty="0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 xmlns:a="http://schemas.openxmlformats.org/drawingml/2006/main">
                        <a:rPr kumimoji="1" lang="en" altLang="en-US" sz="1600" dirty="0"/>
                        <a:t>academic journal</a:t>
                      </a: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 xmlns:a="http://schemas.openxmlformats.org/drawingml/2006/main">
                        <a:rPr kumimoji="1" lang="en" altLang="en-US" sz="1600" dirty="0"/>
                        <a:t>Study group</a:t>
                      </a:r>
                      <a:endParaRPr xmlns:a="http://schemas.openxmlformats.org/drawingml/2006/main" kumimoji="1" lang="en-US" altLang="ja-JP" sz="1600" dirty="0"/>
                    </a:p>
                    <a:p>
                      <a:r xmlns:a="http://schemas.openxmlformats.org/drawingml/2006/main">
                        <a:rPr kumimoji="1" lang="en" altLang="en-US" sz="1600" dirty="0"/>
                        <a:t>Symposium</a:t>
                      </a: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 xmlns:a="http://schemas.openxmlformats.org/drawingml/2006/main">
                        <a:rPr kumimoji="1" lang="en" altLang="en-US" sz="1600" dirty="0"/>
                        <a:t>tournament</a:t>
                      </a: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 xmlns:a="http://schemas.openxmlformats.org/drawingml/2006/main">
                        <a:rPr kumimoji="1" lang="en" altLang="en-US" sz="1600" dirty="0"/>
                        <a:t>Registered Patent</a:t>
                      </a: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857775"/>
                  </a:ext>
                </a:extLst>
              </a:tr>
              <a:tr h="628753">
                <a:tc>
                  <a:txBody>
                    <a:bodyPr/>
                    <a:lstStyle/>
                    <a:p>
                      <a:r>
                        <a:t>Reversible / quantum logic design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IEEE conf.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3+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—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09020108"/>
                  </a:ext>
                </a:extLst>
              </a:tr>
              <a:tr h="628753">
                <a:tc>
                  <a:txBody>
                    <a:bodyPr/>
                    <a:lstStyle/>
                    <a:p>
                      <a:r>
                        <a:t>Quantum circuits &amp; optimization</a:t>
                      </a:r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—</a:t>
                      </a:r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IEEE / ACM</a:t>
                      </a:r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2+</a:t>
                      </a:r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—</a:t>
                      </a:r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37869637"/>
                  </a:ext>
                </a:extLst>
              </a:tr>
              <a:tr h="141918">
                <a:tc>
                  <a:txBody>
                    <a:bodyPr/>
                    <a:lstStyle/>
                    <a:p>
                      <a:r>
                        <a:t>IoT–Quantum AI survey (ongoing)</a:t>
                      </a:r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Survey</a:t>
                      </a:r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—</a:t>
                      </a:r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1</a:t>
                      </a:r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—</a:t>
                      </a:r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61853041"/>
                  </a:ext>
                </a:extLst>
              </a:tr>
              <a:tr h="628753">
                <a:tc>
                  <a:txBody>
                    <a:bodyPr/>
                    <a:lstStyle/>
                    <a:p>
                      <a:r>
                        <a:t>Hybrid edge QML (doctoral target)</a:t>
                      </a:r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Target</a:t>
                      </a:r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IEEE IoT J., FGCS</a:t>
                      </a:r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—</a:t>
                      </a:r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—</a:t>
                      </a:r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31085482"/>
                  </a:ext>
                </a:extLst>
              </a:tr>
              <a:tr h="220741">
                <a:tc>
                  <a:txBody>
                    <a:bodyPr/>
                    <a:lstStyle/>
                    <a:p>
                      <a:r>
                        <a:t>total (selected)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5+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—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33479341"/>
                  </a:ext>
                </a:extLst>
              </a:tr>
            </a:tbl>
          </a:graphicData>
        </a:graphic>
      </p:graphicFrame>
      <p:sp>
        <p:nvSpPr>
          <p:cNvPr id="11" name="吹き出し: 四角形 10">
            <a:extLst>
              <a:ext uri="{FF2B5EF4-FFF2-40B4-BE49-F238E27FC236}">
                <a16:creationId xmlns:a16="http://schemas.microsoft.com/office/drawing/2014/main" id="{E157D96C-8181-04D6-4ECD-62B371F704A2}"/>
              </a:ext>
            </a:extLst>
          </p:cNvPr>
          <p:cNvSpPr/>
          <p:nvPr/>
        </p:nvSpPr>
        <p:spPr>
          <a:xfrm>
            <a:off x="10058953" y="4270173"/>
            <a:ext cx="1782065" cy="526490"/>
          </a:xfrm>
          <a:prstGeom prst="wedgeRectCallout">
            <a:avLst>
              <a:gd name="adj1" fmla="val -59919"/>
              <a:gd name="adj2" fmla="val 23063"/>
            </a:avLst>
          </a:prstGeom>
          <a:solidFill>
            <a:srgbClr val="0070C0"/>
          </a:solidFill>
          <a:ln w="12700"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xmlns:a="http://schemas.openxmlformats.org/drawingml/2006/main" fontAlgn="auto">
              <a:lnSpc>
                <a:spcPct val="110000"/>
              </a:lnSpc>
              <a:spcBef>
                <a:spcPts val="200"/>
              </a:spcBef>
              <a:spcAft>
                <a:spcPts val="200"/>
              </a:spcAft>
            </a:pPr>
            <a:r xmlns:a="http://schemas.openxmlformats.org/drawingml/2006/main">
              <a:rPr kumimoji="1" lang="en" altLang="en-US" sz="11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Past initiatives that seem highly compatible with </a:t>
            </a:r>
            <a:r xmlns:a="http://schemas.openxmlformats.org/drawingml/2006/main">
              <a:rPr lang="en" altLang="en-US" sz="11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current responsibilities</a:t>
            </a:r>
          </a:p>
        </p:txBody>
      </p:sp>
      <p:sp>
        <p:nvSpPr>
          <p:cNvPr id="14" name="コンテンツ プレースホルダー 2">
            <a:extLst>
              <a:ext uri="{FF2B5EF4-FFF2-40B4-BE49-F238E27FC236}">
                <a16:creationId xmlns:a16="http://schemas.microsoft.com/office/drawing/2014/main" id="{61ED2C7B-D10F-E97E-7F59-E83135BBFE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3881" y="1679321"/>
            <a:ext cx="11277137" cy="449644"/>
          </a:xfrm>
        </p:spPr>
        <p:txBody>
          <a:bodyPr>
            <a:normAutofit/>
          </a:bodyPr>
          <a:lstStyle/>
          <a:p>
            <a:r>
              <a:t>Research spans quantum computing, reversible logic, hybrid IoT security, and embedded AI—with publications in IEEE/ACM venues and an ongoing systematic IoT–Quantum AI survey (co-investigator).</a:t>
            </a:r>
          </a:p>
        </p:txBody>
      </p:sp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08D6F8B9-8390-D677-E6B9-473B3F7AC2BD}"/>
              </a:ext>
            </a:extLst>
          </p:cNvPr>
          <p:cNvSpPr txBox="1"/>
          <p:nvPr/>
        </p:nvSpPr>
        <p:spPr>
          <a:xfrm>
            <a:off x="5238542" y="5884805"/>
            <a:ext cx="487222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t>* Counts reflect selected IEEE/ACM and survey outputs.</a:t>
            </a:r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CCE16BBE-0E27-7521-2AA7-D80B578807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44AA7B-1733-46A6-89F2-666551969EC7}" type="slidenum">
              <a:rPr kumimoji="1" lang="ja-JP" altLang="en-US" smtClean="0"/>
              <a:t>6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95659039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D58C5F1-7DA4-CB3B-0FBF-BF16E80A56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8912" y="136525"/>
            <a:ext cx="10914888" cy="1325563"/>
          </a:xfrm>
        </p:spPr>
        <p:txBody>
          <a:bodyPr>
            <a:normAutofit/>
          </a:bodyPr>
          <a:lstStyle/>
          <a:p>
            <a:r>
              <a:t>[ Reference ] Ongoing survey — Quantum AI-powered IoT</a:t>
            </a:r>
            <a:endParaRPr xmlns:a="http://schemas.openxmlformats.org/drawingml/2006/main" kumimoji="1" lang="ja-JP" altLang="en-US" sz="3600" dirty="0"/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E80D5FB8-4A6C-5CA0-650E-C8FBADE9D7E9}"/>
              </a:ext>
            </a:extLst>
          </p:cNvPr>
          <p:cNvSpPr txBox="1"/>
          <p:nvPr/>
        </p:nvSpPr>
        <p:spPr>
          <a:xfrm>
            <a:off x="438912" y="1613067"/>
            <a:ext cx="446284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( Survey manuscript )</a:t>
            </a:r>
            <a:endParaRPr xmlns:a="http://schemas.openxmlformats.org/drawingml/2006/main" lang="ja-JP" altLang="en-US" dirty="0"/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EE738B44-FFF7-E5EE-FDCE-3DBD19D16427}"/>
              </a:ext>
            </a:extLst>
          </p:cNvPr>
          <p:cNvSpPr txBox="1"/>
          <p:nvPr/>
        </p:nvSpPr>
        <p:spPr>
          <a:xfrm>
            <a:off x="395039" y="4271173"/>
            <a:ext cx="577568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( PRISMA corpus n=57: 42 IoT + 15 enabling refs. )</a:t>
            </a:r>
            <a:endParaRPr xmlns:a="http://schemas.openxmlformats.org/drawingml/2006/main" lang="ja-JP" altLang="en-US" dirty="0"/>
          </a:p>
        </p:txBody>
      </p: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2E390741-C0FB-A3CE-48D9-FEFEA349C35C}"/>
              </a:ext>
            </a:extLst>
          </p:cNvPr>
          <p:cNvSpPr txBox="1"/>
          <p:nvPr/>
        </p:nvSpPr>
        <p:spPr>
          <a:xfrm>
            <a:off x="822599" y="5393038"/>
            <a:ext cx="682363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 xmlns:a="http://schemas.openxmlformats.org/drawingml/2006/main">
              <a:rPr lang="en" altLang="en-US" dirty="0">
                <a:latin typeface="+mj-ea"/>
                <a:ea typeface="+mj-ea"/>
              </a:rPr>
              <a:t>- </a:t>
            </a:r>
            <a:r xmlns:a="http://schemas.openxmlformats.org/drawingml/2006/main">
              <a:rPr lang="en" altLang="en-US" dirty="0">
                <a:latin typeface="+mj-ea"/>
                <a:ea typeface="+mj-ea"/>
              </a:rPr>
              <a:t>Users verify the code using </a:t>
            </a:r>
            <a:endParaRPr xmlns:a="http://schemas.openxmlformats.org/drawingml/2006/main" kumimoji="1" lang="en-US" altLang="ja-JP" dirty="0">
              <a:latin typeface="+mj-ea"/>
              <a:ea typeface="+mj-ea"/>
            </a:endParaRPr>
            <a:r xmlns:a="http://schemas.openxmlformats.org/drawingml/2006/main">
              <a:rPr kumimoji="1" lang="en" altLang="en-US" dirty="0">
                <a:latin typeface="+mj-ea"/>
                <a:ea typeface="+mj-ea"/>
              </a:rPr>
              <a:t>a simple verification device.</a:t>
            </a:r>
          </a:p>
          <a:p>
            <a:r xmlns:a="http://schemas.openxmlformats.org/drawingml/2006/main">
              <a:rPr kumimoji="1" lang="en" altLang="en-US" dirty="0">
                <a:latin typeface="+mj-ea"/>
                <a:ea typeface="+mj-ea"/>
              </a:rPr>
              <a:t>- </a:t>
            </a:r>
            <a:r xmlns:a="http://schemas.openxmlformats.org/drawingml/2006/main">
              <a:rPr kumimoji="1" lang="en" altLang="en-US" dirty="0">
                <a:latin typeface="+mj-ea"/>
                <a:ea typeface="+mj-ea"/>
              </a:rPr>
              <a:t>Detects screen spoofing </a:t>
            </a:r>
            <a:endParaRPr xmlns:a="http://schemas.openxmlformats.org/drawingml/2006/main" kumimoji="1" lang="en-US" altLang="ja-JP" dirty="0">
              <a:latin typeface="+mj-ea"/>
              <a:ea typeface="+mj-ea"/>
            </a:endParaRPr>
            <a:r xmlns:a="http://schemas.openxmlformats.org/drawingml/2006/main">
              <a:rPr lang="en" altLang="en-US" dirty="0">
                <a:latin typeface="+mj-ea"/>
                <a:ea typeface="+mj-ea"/>
              </a:rPr>
              <a:t>without relying on a </a:t>
            </a:r>
            <a:r xmlns:a="http://schemas.openxmlformats.org/drawingml/2006/main">
              <a:rPr lang="en" altLang="en-US" dirty="0">
                <a:latin typeface="+mj-ea"/>
                <a:ea typeface="+mj-ea"/>
              </a:rPr>
              <a:t>dedicated </a:t>
            </a:r>
            <a:r xmlns:a="http://schemas.openxmlformats.org/drawingml/2006/main">
              <a:rPr lang="en" altLang="ja-JP" dirty="0">
                <a:latin typeface="+mj-ea"/>
                <a:ea typeface="+mj-ea"/>
              </a:rPr>
              <a:t>UI or confidential information.</a:t>
            </a:r>
          </a:p>
        </p:txBody>
      </p:sp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B3090BAF-9E61-2631-3A8F-12A67331CBE3}"/>
              </a:ext>
            </a:extLst>
          </p:cNvPr>
          <p:cNvSpPr txBox="1"/>
          <p:nvPr/>
        </p:nvSpPr>
        <p:spPr>
          <a:xfrm>
            <a:off x="756744" y="2796106"/>
            <a:ext cx="800404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 xmlns:a="http://schemas.openxmlformats.org/drawingml/2006/main">
              <a:rPr lang="en" altLang="en-US" sz="1600" dirty="0">
                <a:ea typeface="+mj-ea"/>
              </a:rPr>
              <a:t>- Pre-calculate the file identifier and hash value and store them within the boot image.</a:t>
            </a:r>
          </a:p>
          <a:p>
            <a:r xmlns:a="http://schemas.openxmlformats.org/drawingml/2006/main">
              <a:rPr lang="en" altLang="en-US" sz="1600" dirty="0">
                <a:ea typeface="+mj-ea"/>
              </a:rPr>
              <a:t>- After image deployment, the files are verified using hash values to prevent tampered bootables.</a:t>
            </a:r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47A3E070-281C-A5F2-6BD1-879382B577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44AA7B-1733-46A6-89F2-666551969EC7}" type="slidenum">
              <a:rPr kumimoji="1" lang="ja-JP" altLang="en-US" smtClean="0"/>
              <a:t>7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0003169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D58C5F1-7DA4-CB3B-0FBF-BF16E80A56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8912" y="136525"/>
            <a:ext cx="10914888" cy="1325563"/>
          </a:xfrm>
        </p:spPr>
        <p:txBody>
          <a:bodyPr>
            <a:normAutofit/>
          </a:bodyPr>
          <a:lstStyle/>
          <a:p>
            <a:r>
              <a:t>[ Reference ] Past presentations (M.S. thesis, published papers)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8CCEE6C6-CAE4-21B1-3084-A273A26EDACC}"/>
              </a:ext>
            </a:extLst>
          </p:cNvPr>
          <p:cNvSpPr txBox="1"/>
          <p:nvPr/>
        </p:nvSpPr>
        <p:spPr>
          <a:xfrm>
            <a:off x="646729" y="4239817"/>
            <a:ext cx="577568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( IEEE / ACM conferences )</a:t>
            </a:r>
            <a:br/>
            <a:endParaRPr xmlns:a="http://schemas.openxmlformats.org/drawingml/2006/main" lang="ja-JP" altLang="en-US" dirty="0"/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451C2F74-C8DD-7086-C0E7-67A54815A6ED}"/>
              </a:ext>
            </a:extLst>
          </p:cNvPr>
          <p:cNvSpPr txBox="1"/>
          <p:nvPr/>
        </p:nvSpPr>
        <p:spPr>
          <a:xfrm>
            <a:off x="775213" y="5064561"/>
            <a:ext cx="682363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t>• Efficient reversible logic &amp; quantum circuit optimization</a:t>
            </a:r>
            <a:br/>
            <a:r>
              <a:t>• Low-power arithmetic datapaths for embedded quantum-classical co-processors</a:t>
            </a:r>
            <a:endParaRPr xmlns:a="http://schemas.openxmlformats.org/drawingml/2006/main" kumimoji="1" lang="en-US" altLang="ja-JP" dirty="0">
              <a:latin typeface="+mj-ea"/>
              <a:ea typeface="+mj-ea"/>
            </a:endParaRP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65D6EEEE-1FE3-DDAC-9185-F10C4F06ED09}"/>
              </a:ext>
            </a:extLst>
          </p:cNvPr>
          <p:cNvSpPr txBox="1"/>
          <p:nvPr/>
        </p:nvSpPr>
        <p:spPr>
          <a:xfrm>
            <a:off x="662170" y="1612947"/>
            <a:ext cx="577568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( M.S. thesis, University of Dhaka )</a:t>
            </a:r>
            <a:br/>
            <a:endParaRPr xmlns:a="http://schemas.openxmlformats.org/drawingml/2006/main" lang="ja-JP" altLang="en-US" dirty="0"/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BCDD5FF5-1420-B44F-9FA4-A9FC698171E0}"/>
              </a:ext>
            </a:extLst>
          </p:cNvPr>
          <p:cNvSpPr txBox="1"/>
          <p:nvPr/>
        </p:nvSpPr>
        <p:spPr>
          <a:xfrm>
            <a:off x="915161" y="2334531"/>
            <a:ext cx="61328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t>• Published in IEEE and ACM conference proceedings</a:t>
            </a:r>
            <a:endParaRPr xmlns:a="http://schemas.openxmlformats.org/drawingml/2006/main" kumimoji="1" lang="en-US" altLang="ja-JP" dirty="0">
              <a:latin typeface="+mj-ea"/>
              <a:ea typeface="+mj-ea"/>
            </a:endParaRPr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A87E8007-08EC-EDAC-E0D1-34E775346B72}"/>
              </a:ext>
            </a:extLst>
          </p:cNvPr>
          <p:cNvSpPr txBox="1"/>
          <p:nvPr/>
        </p:nvSpPr>
        <p:spPr>
          <a:xfrm>
            <a:off x="1156232" y="3086098"/>
            <a:ext cx="56756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t>( Ongoing: IoT–Quantum AI survey with PRISMA corpus )</a:t>
            </a:r>
            <a:endParaRPr xmlns:a="http://schemas.openxmlformats.org/drawingml/2006/main" kumimoji="1" lang="en-US" altLang="ja-JP" dirty="0">
              <a:latin typeface="+mj-ea"/>
              <a:ea typeface="+mj-ea"/>
            </a:endParaRPr>
          </a:p>
        </p:txBody>
      </p:sp>
      <p:cxnSp>
        <p:nvCxnSpPr>
          <p:cNvPr id="18" name="直線コネクタ 17">
            <a:extLst>
              <a:ext uri="{FF2B5EF4-FFF2-40B4-BE49-F238E27FC236}">
                <a16:creationId xmlns:a16="http://schemas.microsoft.com/office/drawing/2014/main" id="{844A0ED3-C1EE-AF13-82C7-652C823D8DC4}"/>
              </a:ext>
            </a:extLst>
          </p:cNvPr>
          <p:cNvCxnSpPr>
            <a:cxnSpLocks/>
          </p:cNvCxnSpPr>
          <p:nvPr/>
        </p:nvCxnSpPr>
        <p:spPr>
          <a:xfrm flipH="1">
            <a:off x="11172826" y="2090738"/>
            <a:ext cx="214312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線コネクタ 19">
            <a:extLst>
              <a:ext uri="{FF2B5EF4-FFF2-40B4-BE49-F238E27FC236}">
                <a16:creationId xmlns:a16="http://schemas.microsoft.com/office/drawing/2014/main" id="{BCAF6658-14E6-C7D0-E18E-3AEDD061E88C}"/>
              </a:ext>
            </a:extLst>
          </p:cNvPr>
          <p:cNvCxnSpPr>
            <a:cxnSpLocks/>
          </p:cNvCxnSpPr>
          <p:nvPr/>
        </p:nvCxnSpPr>
        <p:spPr>
          <a:xfrm flipV="1">
            <a:off x="11187115" y="2081319"/>
            <a:ext cx="0" cy="38110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線コネクタ 22">
            <a:extLst>
              <a:ext uri="{FF2B5EF4-FFF2-40B4-BE49-F238E27FC236}">
                <a16:creationId xmlns:a16="http://schemas.microsoft.com/office/drawing/2014/main" id="{9F0DAE6F-2522-E418-6F81-322F79D00819}"/>
              </a:ext>
            </a:extLst>
          </p:cNvPr>
          <p:cNvCxnSpPr>
            <a:cxnSpLocks/>
          </p:cNvCxnSpPr>
          <p:nvPr/>
        </p:nvCxnSpPr>
        <p:spPr>
          <a:xfrm flipV="1">
            <a:off x="11187115" y="2603721"/>
            <a:ext cx="0" cy="482379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線コネクタ 25">
            <a:extLst>
              <a:ext uri="{FF2B5EF4-FFF2-40B4-BE49-F238E27FC236}">
                <a16:creationId xmlns:a16="http://schemas.microsoft.com/office/drawing/2014/main" id="{A7E849D4-EE28-3A7C-27FD-BC4CE71C6D48}"/>
              </a:ext>
            </a:extLst>
          </p:cNvPr>
          <p:cNvCxnSpPr>
            <a:cxnSpLocks/>
          </p:cNvCxnSpPr>
          <p:nvPr/>
        </p:nvCxnSpPr>
        <p:spPr>
          <a:xfrm flipV="1">
            <a:off x="10901364" y="2604508"/>
            <a:ext cx="0" cy="482379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線コネクタ 26">
            <a:extLst>
              <a:ext uri="{FF2B5EF4-FFF2-40B4-BE49-F238E27FC236}">
                <a16:creationId xmlns:a16="http://schemas.microsoft.com/office/drawing/2014/main" id="{00A77A61-32D5-3723-8435-22058D64EFEA}"/>
              </a:ext>
            </a:extLst>
          </p:cNvPr>
          <p:cNvCxnSpPr>
            <a:cxnSpLocks/>
          </p:cNvCxnSpPr>
          <p:nvPr/>
        </p:nvCxnSpPr>
        <p:spPr>
          <a:xfrm flipH="1">
            <a:off x="9915525" y="2848305"/>
            <a:ext cx="1257301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直線コネクタ 28">
            <a:extLst>
              <a:ext uri="{FF2B5EF4-FFF2-40B4-BE49-F238E27FC236}">
                <a16:creationId xmlns:a16="http://schemas.microsoft.com/office/drawing/2014/main" id="{55CFC393-E8E4-13FA-F078-3682E9BB9B25}"/>
              </a:ext>
            </a:extLst>
          </p:cNvPr>
          <p:cNvCxnSpPr>
            <a:cxnSpLocks/>
          </p:cNvCxnSpPr>
          <p:nvPr/>
        </p:nvCxnSpPr>
        <p:spPr>
          <a:xfrm flipH="1">
            <a:off x="8520113" y="2353005"/>
            <a:ext cx="2652713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直線コネクタ 30">
            <a:extLst>
              <a:ext uri="{FF2B5EF4-FFF2-40B4-BE49-F238E27FC236}">
                <a16:creationId xmlns:a16="http://schemas.microsoft.com/office/drawing/2014/main" id="{34A45C60-AE4D-DB55-F391-80EBD456E9AE}"/>
              </a:ext>
            </a:extLst>
          </p:cNvPr>
          <p:cNvCxnSpPr>
            <a:cxnSpLocks/>
          </p:cNvCxnSpPr>
          <p:nvPr/>
        </p:nvCxnSpPr>
        <p:spPr>
          <a:xfrm flipH="1">
            <a:off x="9077325" y="2714955"/>
            <a:ext cx="1824039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フリーフォーム: 図形 32">
            <a:extLst>
              <a:ext uri="{FF2B5EF4-FFF2-40B4-BE49-F238E27FC236}">
                <a16:creationId xmlns:a16="http://schemas.microsoft.com/office/drawing/2014/main" id="{A17AE293-602B-D7A3-2F26-296DA86E9B41}"/>
              </a:ext>
            </a:extLst>
          </p:cNvPr>
          <p:cNvSpPr/>
          <p:nvPr/>
        </p:nvSpPr>
        <p:spPr>
          <a:xfrm>
            <a:off x="8520112" y="2338493"/>
            <a:ext cx="152400" cy="752475"/>
          </a:xfrm>
          <a:custGeom>
            <a:avLst/>
            <a:gdLst>
              <a:gd name="connsiteX0" fmla="*/ 0 w 152400"/>
              <a:gd name="connsiteY0" fmla="*/ 0 h 742950"/>
              <a:gd name="connsiteX1" fmla="*/ 0 w 152400"/>
              <a:gd name="connsiteY1" fmla="*/ 609600 h 742950"/>
              <a:gd name="connsiteX2" fmla="*/ 147638 w 152400"/>
              <a:gd name="connsiteY2" fmla="*/ 647700 h 742950"/>
              <a:gd name="connsiteX3" fmla="*/ 152400 w 152400"/>
              <a:gd name="connsiteY3" fmla="*/ 742950 h 742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52400" h="742950">
                <a:moveTo>
                  <a:pt x="0" y="0"/>
                </a:moveTo>
                <a:lnTo>
                  <a:pt x="0" y="609600"/>
                </a:lnTo>
                <a:lnTo>
                  <a:pt x="147638" y="647700"/>
                </a:lnTo>
                <a:lnTo>
                  <a:pt x="152400" y="742950"/>
                </a:lnTo>
              </a:path>
            </a:pathLst>
          </a:cu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5" name="フリーフォーム: 図形 34">
            <a:extLst>
              <a:ext uri="{FF2B5EF4-FFF2-40B4-BE49-F238E27FC236}">
                <a16:creationId xmlns:a16="http://schemas.microsoft.com/office/drawing/2014/main" id="{24FF837A-53C6-E515-490A-161ED4E58F22}"/>
              </a:ext>
            </a:extLst>
          </p:cNvPr>
          <p:cNvSpPr/>
          <p:nvPr/>
        </p:nvSpPr>
        <p:spPr>
          <a:xfrm>
            <a:off x="8524875" y="2709863"/>
            <a:ext cx="561975" cy="376235"/>
          </a:xfrm>
          <a:custGeom>
            <a:avLst/>
            <a:gdLst>
              <a:gd name="connsiteX0" fmla="*/ 0 w 561975"/>
              <a:gd name="connsiteY0" fmla="*/ 0 h 371475"/>
              <a:gd name="connsiteX1" fmla="*/ 419100 w 561975"/>
              <a:gd name="connsiteY1" fmla="*/ 0 h 371475"/>
              <a:gd name="connsiteX2" fmla="*/ 419100 w 561975"/>
              <a:gd name="connsiteY2" fmla="*/ 242887 h 371475"/>
              <a:gd name="connsiteX3" fmla="*/ 561975 w 561975"/>
              <a:gd name="connsiteY3" fmla="*/ 290512 h 371475"/>
              <a:gd name="connsiteX4" fmla="*/ 561975 w 561975"/>
              <a:gd name="connsiteY4" fmla="*/ 371475 h 3714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61975" h="371475">
                <a:moveTo>
                  <a:pt x="0" y="0"/>
                </a:moveTo>
                <a:lnTo>
                  <a:pt x="419100" y="0"/>
                </a:lnTo>
                <a:lnTo>
                  <a:pt x="419100" y="242887"/>
                </a:lnTo>
                <a:lnTo>
                  <a:pt x="561975" y="290512"/>
                </a:lnTo>
                <a:lnTo>
                  <a:pt x="561975" y="371475"/>
                </a:lnTo>
              </a:path>
            </a:pathLst>
          </a:cu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0" name="フリーフォーム: 図形 39">
            <a:extLst>
              <a:ext uri="{FF2B5EF4-FFF2-40B4-BE49-F238E27FC236}">
                <a16:creationId xmlns:a16="http://schemas.microsoft.com/office/drawing/2014/main" id="{A8DF5954-8D4A-8DDA-59DC-C5B4B6B394E0}"/>
              </a:ext>
            </a:extLst>
          </p:cNvPr>
          <p:cNvSpPr/>
          <p:nvPr/>
        </p:nvSpPr>
        <p:spPr>
          <a:xfrm>
            <a:off x="9076530" y="2705098"/>
            <a:ext cx="142875" cy="381000"/>
          </a:xfrm>
          <a:custGeom>
            <a:avLst/>
            <a:gdLst>
              <a:gd name="connsiteX0" fmla="*/ 0 w 142875"/>
              <a:gd name="connsiteY0" fmla="*/ 0 h 381000"/>
              <a:gd name="connsiteX1" fmla="*/ 0 w 142875"/>
              <a:gd name="connsiteY1" fmla="*/ 234950 h 381000"/>
              <a:gd name="connsiteX2" fmla="*/ 142875 w 142875"/>
              <a:gd name="connsiteY2" fmla="*/ 282575 h 381000"/>
              <a:gd name="connsiteX3" fmla="*/ 142875 w 142875"/>
              <a:gd name="connsiteY3" fmla="*/ 381000 h 381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42875" h="381000">
                <a:moveTo>
                  <a:pt x="0" y="0"/>
                </a:moveTo>
                <a:lnTo>
                  <a:pt x="0" y="234950"/>
                </a:lnTo>
                <a:lnTo>
                  <a:pt x="142875" y="282575"/>
                </a:lnTo>
                <a:lnTo>
                  <a:pt x="142875" y="381000"/>
                </a:lnTo>
              </a:path>
            </a:pathLst>
          </a:cu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41" name="直線コネクタ 40">
            <a:extLst>
              <a:ext uri="{FF2B5EF4-FFF2-40B4-BE49-F238E27FC236}">
                <a16:creationId xmlns:a16="http://schemas.microsoft.com/office/drawing/2014/main" id="{5B725681-A108-FC9A-6C73-FEC489360674}"/>
              </a:ext>
            </a:extLst>
          </p:cNvPr>
          <p:cNvCxnSpPr>
            <a:cxnSpLocks/>
          </p:cNvCxnSpPr>
          <p:nvPr/>
        </p:nvCxnSpPr>
        <p:spPr>
          <a:xfrm flipH="1">
            <a:off x="9076530" y="2844910"/>
            <a:ext cx="699295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フリーフォーム: 図形 43">
            <a:extLst>
              <a:ext uri="{FF2B5EF4-FFF2-40B4-BE49-F238E27FC236}">
                <a16:creationId xmlns:a16="http://schemas.microsoft.com/office/drawing/2014/main" id="{82956B19-28BD-539E-0DB3-6AE65EEC2151}"/>
              </a:ext>
            </a:extLst>
          </p:cNvPr>
          <p:cNvSpPr/>
          <p:nvPr/>
        </p:nvSpPr>
        <p:spPr>
          <a:xfrm>
            <a:off x="9775825" y="2832727"/>
            <a:ext cx="142875" cy="259723"/>
          </a:xfrm>
          <a:custGeom>
            <a:avLst/>
            <a:gdLst>
              <a:gd name="connsiteX0" fmla="*/ 0 w 142875"/>
              <a:gd name="connsiteY0" fmla="*/ 0 h 250825"/>
              <a:gd name="connsiteX1" fmla="*/ 0 w 142875"/>
              <a:gd name="connsiteY1" fmla="*/ 104775 h 250825"/>
              <a:gd name="connsiteX2" fmla="*/ 142875 w 142875"/>
              <a:gd name="connsiteY2" fmla="*/ 155575 h 250825"/>
              <a:gd name="connsiteX3" fmla="*/ 142875 w 142875"/>
              <a:gd name="connsiteY3" fmla="*/ 250825 h 2508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42875" h="250825">
                <a:moveTo>
                  <a:pt x="0" y="0"/>
                </a:moveTo>
                <a:lnTo>
                  <a:pt x="0" y="104775"/>
                </a:lnTo>
                <a:lnTo>
                  <a:pt x="142875" y="155575"/>
                </a:lnTo>
                <a:lnTo>
                  <a:pt x="142875" y="250825"/>
                </a:lnTo>
              </a:path>
            </a:pathLst>
          </a:cu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5" name="フリーフォーム: 図形 44">
            <a:extLst>
              <a:ext uri="{FF2B5EF4-FFF2-40B4-BE49-F238E27FC236}">
                <a16:creationId xmlns:a16="http://schemas.microsoft.com/office/drawing/2014/main" id="{56DA9239-D0D7-3BFC-1EBD-7FB92DBF5F59}"/>
              </a:ext>
            </a:extLst>
          </p:cNvPr>
          <p:cNvSpPr/>
          <p:nvPr/>
        </p:nvSpPr>
        <p:spPr>
          <a:xfrm>
            <a:off x="9915525" y="2832727"/>
            <a:ext cx="142875" cy="259723"/>
          </a:xfrm>
          <a:custGeom>
            <a:avLst/>
            <a:gdLst>
              <a:gd name="connsiteX0" fmla="*/ 0 w 142875"/>
              <a:gd name="connsiteY0" fmla="*/ 0 h 250825"/>
              <a:gd name="connsiteX1" fmla="*/ 0 w 142875"/>
              <a:gd name="connsiteY1" fmla="*/ 104775 h 250825"/>
              <a:gd name="connsiteX2" fmla="*/ 142875 w 142875"/>
              <a:gd name="connsiteY2" fmla="*/ 155575 h 250825"/>
              <a:gd name="connsiteX3" fmla="*/ 142875 w 142875"/>
              <a:gd name="connsiteY3" fmla="*/ 250825 h 2508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42875" h="250825">
                <a:moveTo>
                  <a:pt x="0" y="0"/>
                </a:moveTo>
                <a:lnTo>
                  <a:pt x="0" y="104775"/>
                </a:lnTo>
                <a:lnTo>
                  <a:pt x="142875" y="155575"/>
                </a:lnTo>
                <a:lnTo>
                  <a:pt x="142875" y="250825"/>
                </a:lnTo>
              </a:path>
            </a:pathLst>
          </a:cu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6" name="正方形/長方形 45">
            <a:extLst>
              <a:ext uri="{FF2B5EF4-FFF2-40B4-BE49-F238E27FC236}">
                <a16:creationId xmlns:a16="http://schemas.microsoft.com/office/drawing/2014/main" id="{58B49B3F-A3E7-D0BE-1AE9-EEC74E8E36C5}"/>
              </a:ext>
            </a:extLst>
          </p:cNvPr>
          <p:cNvSpPr/>
          <p:nvPr/>
        </p:nvSpPr>
        <p:spPr>
          <a:xfrm>
            <a:off x="10544175" y="2289074"/>
            <a:ext cx="152395" cy="12661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7" name="正方形/長方形 46">
            <a:extLst>
              <a:ext uri="{FF2B5EF4-FFF2-40B4-BE49-F238E27FC236}">
                <a16:creationId xmlns:a16="http://schemas.microsoft.com/office/drawing/2014/main" id="{B74EC79D-24E1-4548-8F66-686B1BBE3BFE}"/>
              </a:ext>
            </a:extLst>
          </p:cNvPr>
          <p:cNvSpPr/>
          <p:nvPr/>
        </p:nvSpPr>
        <p:spPr>
          <a:xfrm>
            <a:off x="10544175" y="2631664"/>
            <a:ext cx="152395" cy="310298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9" name="正方形/長方形 48">
            <a:extLst>
              <a:ext uri="{FF2B5EF4-FFF2-40B4-BE49-F238E27FC236}">
                <a16:creationId xmlns:a16="http://schemas.microsoft.com/office/drawing/2014/main" id="{D9E7CB6A-1715-1A44-19A4-1795603AC6B1}"/>
              </a:ext>
            </a:extLst>
          </p:cNvPr>
          <p:cNvSpPr/>
          <p:nvPr/>
        </p:nvSpPr>
        <p:spPr>
          <a:xfrm>
            <a:off x="10825167" y="3092450"/>
            <a:ext cx="142876" cy="127783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0" name="正方形/長方形 49">
            <a:extLst>
              <a:ext uri="{FF2B5EF4-FFF2-40B4-BE49-F238E27FC236}">
                <a16:creationId xmlns:a16="http://schemas.microsoft.com/office/drawing/2014/main" id="{FBE789E7-66CA-36DE-C3F6-DA7F7904EAD6}"/>
              </a:ext>
            </a:extLst>
          </p:cNvPr>
          <p:cNvSpPr/>
          <p:nvPr/>
        </p:nvSpPr>
        <p:spPr>
          <a:xfrm>
            <a:off x="11115677" y="3086859"/>
            <a:ext cx="142876" cy="127783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1" name="正方形/長方形 50">
            <a:extLst>
              <a:ext uri="{FF2B5EF4-FFF2-40B4-BE49-F238E27FC236}">
                <a16:creationId xmlns:a16="http://schemas.microsoft.com/office/drawing/2014/main" id="{63B6BB9E-A5F0-B187-67AD-FD89695964C5}"/>
              </a:ext>
            </a:extLst>
          </p:cNvPr>
          <p:cNvSpPr/>
          <p:nvPr/>
        </p:nvSpPr>
        <p:spPr>
          <a:xfrm>
            <a:off x="9858375" y="3092450"/>
            <a:ext cx="281630" cy="127783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2" name="正方形/長方形 51">
            <a:extLst>
              <a:ext uri="{FF2B5EF4-FFF2-40B4-BE49-F238E27FC236}">
                <a16:creationId xmlns:a16="http://schemas.microsoft.com/office/drawing/2014/main" id="{A4E92FEA-D3A1-B3CB-2CDF-18824151D439}"/>
              </a:ext>
            </a:extLst>
          </p:cNvPr>
          <p:cNvSpPr/>
          <p:nvPr/>
        </p:nvSpPr>
        <p:spPr>
          <a:xfrm>
            <a:off x="9015411" y="3093362"/>
            <a:ext cx="281630" cy="127783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3" name="正方形/長方形 52">
            <a:extLst>
              <a:ext uri="{FF2B5EF4-FFF2-40B4-BE49-F238E27FC236}">
                <a16:creationId xmlns:a16="http://schemas.microsoft.com/office/drawing/2014/main" id="{752E3E2A-E7E0-2E79-B893-01BE2F7B5126}"/>
              </a:ext>
            </a:extLst>
          </p:cNvPr>
          <p:cNvSpPr/>
          <p:nvPr/>
        </p:nvSpPr>
        <p:spPr>
          <a:xfrm>
            <a:off x="8593929" y="3093362"/>
            <a:ext cx="121748" cy="127783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" name="スライド番号プレースホルダー 7">
            <a:extLst>
              <a:ext uri="{FF2B5EF4-FFF2-40B4-BE49-F238E27FC236}">
                <a16:creationId xmlns:a16="http://schemas.microsoft.com/office/drawing/2014/main" id="{C5FA2B57-5F68-2602-8CB7-D3F948CE32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44AA7B-1733-46A6-89F2-666551969EC7}" type="slidenum">
              <a:rPr kumimoji="1" lang="ja-JP" altLang="en-US" smtClean="0"/>
              <a:t>8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0243177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B8C0CB4-B119-5A5D-7DBC-70D5E36260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 xmlns:a="http://schemas.openxmlformats.org/drawingml/2006/main">
              <a:rPr kumimoji="1" lang="en" altLang="en-US" dirty="0"/>
              <a:t>Motivation for pursuing higher education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32BE3032-6971-0B08-F32C-153ED20B88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6611" y="1611085"/>
            <a:ext cx="11127377" cy="4685211"/>
          </a:xfrm>
        </p:spPr>
        <p:txBody>
          <a:bodyPr>
            <a:normAutofit fontScale="92500"/>
          </a:bodyPr>
          <a:lstStyle/>
          <a:p>
            <a:pPr xmlns:a="http://schemas.openxmlformats.org/drawingml/2006/main">
              <a:spcAft>
                <a:spcPts val="600"/>
              </a:spcAft>
            </a:pPr>
            <a:r>
              <a:t>To lead security &amp; embedded-AI R&amp;D at the intersection of quantum computing and IoT …</a:t>
            </a:r>
            <a:br/>
            <a:r>
              <a:t>Doctoral study will solidify expertise in deployable hybrid edge intelligence.</a:t>
            </a:r>
            <a:br/>
            <a:br/>
            <a:r>
              <a:t>Cultivation goals:</a:t>
            </a:r>
            <a:br/>
            <a:r>
              <a:t>• Research execution ability on hardware-aware QML pipelines</a:t>
            </a:r>
            <a:br/>
            <a:r>
              <a:t>• Technical leadership bridging academic research and national-scale ICT practice</a:t>
            </a:r>
            <a:br/>
            <a:r>
              <a:t>• Bridge academic survey insights and reproducible edge prototypes</a:t>
            </a:r>
            <a:endParaRPr xmlns:a="http://schemas.openxmlformats.org/drawingml/2006/main" kumimoji="1" lang="en-US" altLang="ja-JP" sz="2400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FE7B2C1F-C2FF-F357-0414-1C478344E2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44AA7B-1733-46A6-89F2-666551969EC7}" type="slidenum">
              <a:rPr kumimoji="1" lang="ja-JP" altLang="en-US" smtClean="0"/>
              <a:t>9</a:t>
            </a:fld>
            <a:endParaRPr kumimoji="1" lang="ja-JP" altLang="en-US"/>
          </a:p>
        </p:txBody>
      </p:sp>
      <p:pic>
        <p:nvPicPr>
          <p:cNvPr id="5" name="Picture 4" descr="05_motivation_compos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188720"/>
            <a:ext cx="5303520" cy="33252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309881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FFD4065-61F5-8DB7-058D-D5C2EEB47E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0063" y="2010647"/>
            <a:ext cx="10515600" cy="1325563"/>
          </a:xfrm>
        </p:spPr>
        <p:txBody>
          <a:bodyPr/>
          <a:lstStyle/>
          <a:p>
            <a:pPr xmlns:a="http://schemas.openxmlformats.org/drawingml/2006/main" algn="ctr"/>
            <a:r xmlns:a="http://schemas.openxmlformats.org/drawingml/2006/main">
              <a:rPr kumimoji="1" lang="en" altLang="en-US" dirty="0"/>
              <a:t>Research plan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C6AF4839-4280-6694-E130-A7CE03895E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12513" y="3772727"/>
            <a:ext cx="9750700" cy="1355862"/>
          </a:xfrm>
        </p:spPr>
        <p:txBody>
          <a:bodyPr>
            <a:normAutofit/>
          </a:bodyPr>
          <a:lstStyle/>
          <a:p>
            <a:pPr xmlns:a="http://schemas.openxmlformats.org/drawingml/2006/main" marL="0" indent="0" algn="ctr">
              <a:buNone/>
            </a:pPr>
            <a:r>
              <a:t>Deployable Hybrid Quantum–Classical Edge Intelligence</a:t>
            </a:r>
            <a:br/>
            <a:r>
              <a:t>for Sustainable IoT Security and Anomaly Detection</a:t>
            </a:r>
            <a:endParaRPr xmlns:a="http://schemas.openxmlformats.org/drawingml/2006/main" kumimoji="1" lang="ja-JP" altLang="en-US" dirty="0"/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EDC24520-08F3-666A-B1F6-F04992D3ED25}"/>
              </a:ext>
            </a:extLst>
          </p:cNvPr>
          <p:cNvSpPr/>
          <p:nvPr/>
        </p:nvSpPr>
        <p:spPr>
          <a:xfrm>
            <a:off x="973365" y="3568144"/>
            <a:ext cx="10272298" cy="122251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A01E28C4-D836-D2E3-126D-C4A725D780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44AA7B-1733-46A6-89F2-666551969EC7}" type="slidenum">
              <a:rPr kumimoji="1" lang="ja-JP" altLang="en-US" smtClean="0"/>
              <a:t>10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9057932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矢印: 右 13">
            <a:extLst>
              <a:ext uri="{FF2B5EF4-FFF2-40B4-BE49-F238E27FC236}">
                <a16:creationId xmlns:a16="http://schemas.microsoft.com/office/drawing/2014/main" id="{071CA8AC-05C7-2E23-CF2F-390CB12C95D2}"/>
              </a:ext>
            </a:extLst>
          </p:cNvPr>
          <p:cNvSpPr/>
          <p:nvPr/>
        </p:nvSpPr>
        <p:spPr>
          <a:xfrm>
            <a:off x="4724829" y="2571670"/>
            <a:ext cx="2670865" cy="1177337"/>
          </a:xfrm>
          <a:prstGeom prst="rightArrow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600">
              <a:solidFill>
                <a:schemeClr val="bg1"/>
              </a:solidFill>
            </a:endParaRPr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06EDCA60-8E19-B713-8982-72EF65A964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Background</a:t>
            </a:r>
            <a:endParaRPr xmlns:a="http://schemas.openxmlformats.org/drawingml/2006/main" kumimoji="1" lang="ja-JP" altLang="en-US" dirty="0"/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2E8D4385-E5C8-8F4D-E990-758635CC6D0F}"/>
              </a:ext>
            </a:extLst>
          </p:cNvPr>
          <p:cNvSpPr txBox="1"/>
          <p:nvPr/>
        </p:nvSpPr>
        <p:spPr>
          <a:xfrm>
            <a:off x="7395694" y="1985996"/>
            <a:ext cx="472518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t>Billions of IoT endpoints generate continuous telemetry under strict energy, latency, and trust constraints.</a:t>
            </a:r>
            <a:endParaRPr xmlns:a="http://schemas.openxmlformats.org/drawingml/2006/main" kumimoji="1" lang="en-US" altLang="ja-JP" sz="1400" dirty="0"/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6E49302E-E653-F9B0-A206-AAB190F9BF1D}"/>
              </a:ext>
            </a:extLst>
          </p:cNvPr>
          <p:cNvSpPr txBox="1"/>
          <p:nvPr/>
        </p:nvSpPr>
        <p:spPr>
          <a:xfrm>
            <a:off x="2386200" y="5218470"/>
            <a:ext cx="449379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QML toolchains (PennyLane, Qiskit) enable hybrid quantum–classical learning pipelines.</a:t>
            </a:r>
            <a:endParaRPr xmlns:a="http://schemas.openxmlformats.org/drawingml/2006/main" kumimoji="1" lang="en-US" altLang="ja-JP" sz="1200" dirty="0"/>
          </a:p>
        </p:txBody>
      </p:sp>
      <p:pic>
        <p:nvPicPr>
          <p:cNvPr id="10" name="図 9">
            <a:extLst>
              <a:ext uri="{FF2B5EF4-FFF2-40B4-BE49-F238E27FC236}">
                <a16:creationId xmlns:a16="http://schemas.microsoft.com/office/drawing/2014/main" id="{F5DCC4E4-53C6-81EE-6476-DEA4B97B65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4735" y="5150543"/>
            <a:ext cx="1772131" cy="608343"/>
          </a:xfrm>
          <a:prstGeom prst="rect">
            <a:avLst/>
          </a:prstGeom>
        </p:spPr>
      </p:pic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68E84AA9-08BD-1E83-565E-228BFCB1F4DF}"/>
              </a:ext>
            </a:extLst>
          </p:cNvPr>
          <p:cNvSpPr txBox="1"/>
          <p:nvPr/>
        </p:nvSpPr>
        <p:spPr>
          <a:xfrm>
            <a:off x="454293" y="1711366"/>
            <a:ext cx="52578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Edge AI reduces backhaul and improves responsiveness; adversarial analytics motivate selective Quantum AI in hybrid pipelines.</a:t>
            </a:r>
            <a:endParaRPr xmlns:a="http://schemas.openxmlformats.org/drawingml/2006/main" lang="en-US" altLang="ja-JP" sz="1600" dirty="0"/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5BE75053-928F-0506-0996-7F3C3FB79595}"/>
              </a:ext>
            </a:extLst>
          </p:cNvPr>
          <p:cNvSpPr txBox="1"/>
          <p:nvPr/>
        </p:nvSpPr>
        <p:spPr>
          <a:xfrm>
            <a:off x="4726553" y="2900780"/>
            <a:ext cx="268020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t>Sustainable IoT security analytics must co-design accuracy, circuit depth, and deployability.</a:t>
            </a:r>
          </a:p>
        </p:txBody>
      </p:sp>
      <p:sp>
        <p:nvSpPr>
          <p:cNvPr id="17" name="思考の吹き出し: 雲形 16">
            <a:extLst>
              <a:ext uri="{FF2B5EF4-FFF2-40B4-BE49-F238E27FC236}">
                <a16:creationId xmlns:a16="http://schemas.microsoft.com/office/drawing/2014/main" id="{CE6050D0-6569-A495-467B-78A689BC74A0}"/>
              </a:ext>
            </a:extLst>
          </p:cNvPr>
          <p:cNvSpPr/>
          <p:nvPr/>
        </p:nvSpPr>
        <p:spPr>
          <a:xfrm>
            <a:off x="5647438" y="1222534"/>
            <a:ext cx="2650835" cy="752206"/>
          </a:xfrm>
          <a:prstGeom prst="cloudCallout">
            <a:avLst>
              <a:gd name="adj1" fmla="val -6147"/>
              <a:gd name="adj2" fmla="val 115367"/>
            </a:avLst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xmlns:a="http://schemas.openxmlformats.org/drawingml/2006/main" algn="ctr"/>
            <a:r>
              <a:t>Quantum AI for IoT Security</a:t>
            </a:r>
          </a:p>
        </p:txBody>
      </p:sp>
      <p:sp>
        <p:nvSpPr>
          <p:cNvPr id="18" name="テキスト ボックス 17">
            <a:extLst>
              <a:ext uri="{FF2B5EF4-FFF2-40B4-BE49-F238E27FC236}">
                <a16:creationId xmlns:a16="http://schemas.microsoft.com/office/drawing/2014/main" id="{A086AD4D-9EA0-0C5B-7CB0-DE6282AE1F2D}"/>
              </a:ext>
            </a:extLst>
          </p:cNvPr>
          <p:cNvSpPr txBox="1"/>
          <p:nvPr/>
        </p:nvSpPr>
        <p:spPr>
          <a:xfrm>
            <a:off x="2135780" y="1172956"/>
            <a:ext cx="20412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t>IoT Trends</a:t>
            </a:r>
          </a:p>
        </p:txBody>
      </p:sp>
      <p:sp>
        <p:nvSpPr>
          <p:cNvPr id="19" name="テキスト ボックス 18">
            <a:extLst>
              <a:ext uri="{FF2B5EF4-FFF2-40B4-BE49-F238E27FC236}">
                <a16:creationId xmlns:a16="http://schemas.microsoft.com/office/drawing/2014/main" id="{EFC63552-C238-C9EE-0DDA-44175E10F23A}"/>
              </a:ext>
            </a:extLst>
          </p:cNvPr>
          <p:cNvSpPr txBox="1"/>
          <p:nvPr/>
        </p:nvSpPr>
        <p:spPr>
          <a:xfrm>
            <a:off x="8896798" y="1168144"/>
            <a:ext cx="20412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t>Research Trends</a:t>
            </a:r>
          </a:p>
        </p:txBody>
      </p:sp>
      <p:pic>
        <p:nvPicPr>
          <p:cNvPr id="27" name="図 26">
            <a:extLst>
              <a:ext uri="{FF2B5EF4-FFF2-40B4-BE49-F238E27FC236}">
                <a16:creationId xmlns:a16="http://schemas.microsoft.com/office/drawing/2014/main" id="{1439F080-97D1-5280-5F82-C2C9E597A33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36037" y="2908814"/>
            <a:ext cx="851317" cy="297519"/>
          </a:xfrm>
          <a:prstGeom prst="rect">
            <a:avLst/>
          </a:prstGeom>
        </p:spPr>
      </p:pic>
      <p:pic>
        <p:nvPicPr>
          <p:cNvPr id="29" name="図 28">
            <a:extLst>
              <a:ext uri="{FF2B5EF4-FFF2-40B4-BE49-F238E27FC236}">
                <a16:creationId xmlns:a16="http://schemas.microsoft.com/office/drawing/2014/main" id="{D3C29638-8DD2-BA5B-102C-CBF39EC00E7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42407" y="3224301"/>
            <a:ext cx="636997" cy="317143"/>
          </a:xfrm>
          <a:prstGeom prst="rect">
            <a:avLst/>
          </a:prstGeom>
        </p:spPr>
      </p:pic>
      <p:pic>
        <p:nvPicPr>
          <p:cNvPr id="31" name="図 30">
            <a:extLst>
              <a:ext uri="{FF2B5EF4-FFF2-40B4-BE49-F238E27FC236}">
                <a16:creationId xmlns:a16="http://schemas.microsoft.com/office/drawing/2014/main" id="{36BC693B-F94F-6936-5D22-CBF0E463848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88722" y="3584862"/>
            <a:ext cx="744918" cy="372459"/>
          </a:xfrm>
          <a:prstGeom prst="rect">
            <a:avLst/>
          </a:prstGeom>
        </p:spPr>
      </p:pic>
      <p:pic>
        <p:nvPicPr>
          <p:cNvPr id="33" name="図 32">
            <a:extLst>
              <a:ext uri="{FF2B5EF4-FFF2-40B4-BE49-F238E27FC236}">
                <a16:creationId xmlns:a16="http://schemas.microsoft.com/office/drawing/2014/main" id="{2D92A5DC-5F1F-6000-010F-FBFAE621B10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83355" y="5041868"/>
            <a:ext cx="1360732" cy="415139"/>
          </a:xfrm>
          <a:prstGeom prst="rect">
            <a:avLst/>
          </a:prstGeom>
        </p:spPr>
      </p:pic>
      <p:pic>
        <p:nvPicPr>
          <p:cNvPr id="35" name="図 34">
            <a:extLst>
              <a:ext uri="{FF2B5EF4-FFF2-40B4-BE49-F238E27FC236}">
                <a16:creationId xmlns:a16="http://schemas.microsoft.com/office/drawing/2014/main" id="{D07B3D25-FB21-CE62-AADF-98330938AB0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201972" y="5275789"/>
            <a:ext cx="887049" cy="371844"/>
          </a:xfrm>
          <a:prstGeom prst="rect">
            <a:avLst/>
          </a:prstGeom>
        </p:spPr>
      </p:pic>
      <p:sp>
        <p:nvSpPr>
          <p:cNvPr id="45" name="テキスト ボックス 44">
            <a:extLst>
              <a:ext uri="{FF2B5EF4-FFF2-40B4-BE49-F238E27FC236}">
                <a16:creationId xmlns:a16="http://schemas.microsoft.com/office/drawing/2014/main" id="{31C4BEA7-965E-FC94-9476-A3A2360725CD}"/>
              </a:ext>
            </a:extLst>
          </p:cNvPr>
          <p:cNvSpPr txBox="1"/>
          <p:nvPr/>
        </p:nvSpPr>
        <p:spPr>
          <a:xfrm>
            <a:off x="9469719" y="2872859"/>
            <a:ext cx="150770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t>TinyML</a:t>
            </a:r>
            <a:endParaRPr xmlns:a="http://schemas.openxmlformats.org/drawingml/2006/main" kumimoji="1" lang="ja-JP" altLang="en-US" sz="1600" dirty="0"/>
          </a:p>
        </p:txBody>
      </p:sp>
      <p:sp>
        <p:nvSpPr>
          <p:cNvPr id="46" name="テキスト ボックス 45">
            <a:extLst>
              <a:ext uri="{FF2B5EF4-FFF2-40B4-BE49-F238E27FC236}">
                <a16:creationId xmlns:a16="http://schemas.microsoft.com/office/drawing/2014/main" id="{0990BAE1-40CA-0CB8-843E-52BE76CB447D}"/>
              </a:ext>
            </a:extLst>
          </p:cNvPr>
          <p:cNvSpPr txBox="1"/>
          <p:nvPr/>
        </p:nvSpPr>
        <p:spPr>
          <a:xfrm>
            <a:off x="9469719" y="3245392"/>
            <a:ext cx="150770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t>VQC / Q-kernel</a:t>
            </a:r>
            <a:endParaRPr xmlns:a="http://schemas.openxmlformats.org/drawingml/2006/main" kumimoji="1" lang="ja-JP" altLang="en-US" sz="1600" dirty="0"/>
          </a:p>
        </p:txBody>
      </p:sp>
      <p:sp>
        <p:nvSpPr>
          <p:cNvPr id="47" name="テキスト ボックス 46">
            <a:extLst>
              <a:ext uri="{FF2B5EF4-FFF2-40B4-BE49-F238E27FC236}">
                <a16:creationId xmlns:a16="http://schemas.microsoft.com/office/drawing/2014/main" id="{4FC6D3B0-0E06-9F7E-40B7-8C40D69649C4}"/>
              </a:ext>
            </a:extLst>
          </p:cNvPr>
          <p:cNvSpPr txBox="1"/>
          <p:nvPr/>
        </p:nvSpPr>
        <p:spPr>
          <a:xfrm>
            <a:off x="9468230" y="3635786"/>
            <a:ext cx="210119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t>PennyLane</a:t>
            </a:r>
            <a:endParaRPr xmlns:a="http://schemas.openxmlformats.org/drawingml/2006/main" kumimoji="1" lang="ja-JP" altLang="en-US" sz="1600" dirty="0"/>
          </a:p>
        </p:txBody>
      </p:sp>
      <p:sp>
        <p:nvSpPr>
          <p:cNvPr id="48" name="テキスト ボックス 47">
            <a:extLst>
              <a:ext uri="{FF2B5EF4-FFF2-40B4-BE49-F238E27FC236}">
                <a16:creationId xmlns:a16="http://schemas.microsoft.com/office/drawing/2014/main" id="{9D93A3ED-8D4E-7F91-DDB6-4C771B39B379}"/>
              </a:ext>
            </a:extLst>
          </p:cNvPr>
          <p:cNvSpPr txBox="1"/>
          <p:nvPr/>
        </p:nvSpPr>
        <p:spPr>
          <a:xfrm>
            <a:off x="11159610" y="3653610"/>
            <a:ext cx="4318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 xmlns:a="http://schemas.openxmlformats.org/drawingml/2006/main">
              <a:rPr kumimoji="1" lang="en" altLang="ja-JP" sz="1600" dirty="0"/>
              <a:t>...</a:t>
            </a:r>
            <a:endParaRPr xmlns:a="http://schemas.openxmlformats.org/drawingml/2006/main" kumimoji="1" lang="ja-JP" altLang="en-US" sz="1600" dirty="0"/>
          </a:p>
        </p:txBody>
      </p:sp>
      <p:sp>
        <p:nvSpPr>
          <p:cNvPr id="49" name="正方形/長方形 48">
            <a:extLst>
              <a:ext uri="{FF2B5EF4-FFF2-40B4-BE49-F238E27FC236}">
                <a16:creationId xmlns:a16="http://schemas.microsoft.com/office/drawing/2014/main" id="{0EC5F43D-9387-CCC9-A9C4-5F333BAD02B2}"/>
              </a:ext>
            </a:extLst>
          </p:cNvPr>
          <p:cNvSpPr/>
          <p:nvPr/>
        </p:nvSpPr>
        <p:spPr>
          <a:xfrm>
            <a:off x="7998530" y="2812633"/>
            <a:ext cx="3707180" cy="126254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grpSp>
        <p:nvGrpSpPr>
          <p:cNvPr id="36" name="グループ化 35">
            <a:extLst>
              <a:ext uri="{FF2B5EF4-FFF2-40B4-BE49-F238E27FC236}">
                <a16:creationId xmlns:a16="http://schemas.microsoft.com/office/drawing/2014/main" id="{B4B0C0E1-9FA2-0C23-8903-518C8916F249}"/>
              </a:ext>
            </a:extLst>
          </p:cNvPr>
          <p:cNvGrpSpPr/>
          <p:nvPr/>
        </p:nvGrpSpPr>
        <p:grpSpPr>
          <a:xfrm>
            <a:off x="7648856" y="3081548"/>
            <a:ext cx="618178" cy="523220"/>
            <a:chOff x="4649389" y="2612399"/>
            <a:chExt cx="150019" cy="134772"/>
          </a:xfrm>
          <a:solidFill>
            <a:schemeClr val="tx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cxnSp>
          <p:nvCxnSpPr>
            <p:cNvPr id="37" name="直線コネクタ 36">
              <a:extLst>
                <a:ext uri="{FF2B5EF4-FFF2-40B4-BE49-F238E27FC236}">
                  <a16:creationId xmlns:a16="http://schemas.microsoft.com/office/drawing/2014/main" id="{11C5CFF7-81C2-0A0B-AC76-76EC2B63EA59}"/>
                </a:ext>
              </a:extLst>
            </p:cNvPr>
            <p:cNvCxnSpPr>
              <a:cxnSpLocks/>
            </p:cNvCxnSpPr>
            <p:nvPr/>
          </p:nvCxnSpPr>
          <p:spPr>
            <a:xfrm>
              <a:off x="4724399" y="2612399"/>
              <a:ext cx="0" cy="134772"/>
            </a:xfrm>
            <a:prstGeom prst="line">
              <a:avLst/>
            </a:prstGeom>
            <a:grpFill/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直線コネクタ 37">
              <a:extLst>
                <a:ext uri="{FF2B5EF4-FFF2-40B4-BE49-F238E27FC236}">
                  <a16:creationId xmlns:a16="http://schemas.microsoft.com/office/drawing/2014/main" id="{752994FA-1767-BE8A-6868-6D2F13E6BCA7}"/>
                </a:ext>
              </a:extLst>
            </p:cNvPr>
            <p:cNvCxnSpPr>
              <a:cxnSpLocks/>
            </p:cNvCxnSpPr>
            <p:nvPr/>
          </p:nvCxnSpPr>
          <p:spPr>
            <a:xfrm>
              <a:off x="4681536" y="2612399"/>
              <a:ext cx="0" cy="134772"/>
            </a:xfrm>
            <a:prstGeom prst="line">
              <a:avLst/>
            </a:prstGeom>
            <a:grpFill/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直線コネクタ 38">
              <a:extLst>
                <a:ext uri="{FF2B5EF4-FFF2-40B4-BE49-F238E27FC236}">
                  <a16:creationId xmlns:a16="http://schemas.microsoft.com/office/drawing/2014/main" id="{3B8EE1BD-3D5E-D3CC-CEC8-0ACFCC595A2E}"/>
                </a:ext>
              </a:extLst>
            </p:cNvPr>
            <p:cNvCxnSpPr>
              <a:cxnSpLocks/>
            </p:cNvCxnSpPr>
            <p:nvPr/>
          </p:nvCxnSpPr>
          <p:spPr>
            <a:xfrm>
              <a:off x="4767261" y="2612399"/>
              <a:ext cx="0" cy="134772"/>
            </a:xfrm>
            <a:prstGeom prst="line">
              <a:avLst/>
            </a:prstGeom>
            <a:grpFill/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直線コネクタ 39">
              <a:extLst>
                <a:ext uri="{FF2B5EF4-FFF2-40B4-BE49-F238E27FC236}">
                  <a16:creationId xmlns:a16="http://schemas.microsoft.com/office/drawing/2014/main" id="{05D48926-5D06-71F2-92CA-456690BFD02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649389" y="2680498"/>
              <a:ext cx="150019" cy="0"/>
            </a:xfrm>
            <a:prstGeom prst="line">
              <a:avLst/>
            </a:prstGeom>
            <a:grpFill/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直線コネクタ 40">
              <a:extLst>
                <a:ext uri="{FF2B5EF4-FFF2-40B4-BE49-F238E27FC236}">
                  <a16:creationId xmlns:a16="http://schemas.microsoft.com/office/drawing/2014/main" id="{5978D75F-5CF1-BE40-D902-4758278157A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649389" y="2715424"/>
              <a:ext cx="150019" cy="0"/>
            </a:xfrm>
            <a:prstGeom prst="line">
              <a:avLst/>
            </a:prstGeom>
            <a:grpFill/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直線コネクタ 41">
              <a:extLst>
                <a:ext uri="{FF2B5EF4-FFF2-40B4-BE49-F238E27FC236}">
                  <a16:creationId xmlns:a16="http://schemas.microsoft.com/office/drawing/2014/main" id="{0F467C56-C2EB-9D68-068D-D2EE4BDCF7A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649389" y="2647676"/>
              <a:ext cx="150019" cy="0"/>
            </a:xfrm>
            <a:prstGeom prst="line">
              <a:avLst/>
            </a:prstGeom>
            <a:grpFill/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3" name="四角形: 角を丸くする 42">
              <a:extLst>
                <a:ext uri="{FF2B5EF4-FFF2-40B4-BE49-F238E27FC236}">
                  <a16:creationId xmlns:a16="http://schemas.microsoft.com/office/drawing/2014/main" id="{4D78729F-BD0E-92D3-5ED3-CA2AF24F9D28}"/>
                </a:ext>
              </a:extLst>
            </p:cNvPr>
            <p:cNvSpPr/>
            <p:nvPr/>
          </p:nvSpPr>
          <p:spPr>
            <a:xfrm>
              <a:off x="4671414" y="2631666"/>
              <a:ext cx="105970" cy="97663"/>
            </a:xfrm>
            <a:prstGeom prst="roundRect">
              <a:avLst/>
            </a:prstGeom>
            <a:grpFill/>
            <a:ln w="38100">
              <a:solidFill>
                <a:schemeClr val="tx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pPr algn="ctr" fontAlgn="auto">
                <a:lnSpc>
                  <a:spcPct val="110000"/>
                </a:lnSpc>
                <a:spcBef>
                  <a:spcPts val="200"/>
                </a:spcBef>
                <a:spcAft>
                  <a:spcPts val="200"/>
                </a:spcAft>
              </a:pPr>
              <a:endParaRPr kumimoji="1" lang="ja-JP" altLang="en-US" sz="2000" dirty="0">
                <a:latin typeface="メイリオ" panose="020B0604030504040204" pitchFamily="50" charset="-128"/>
                <a:ea typeface="メイリオ" panose="020B0604030504040204" pitchFamily="50" charset="-128"/>
              </a:endParaRPr>
            </a:p>
          </p:txBody>
        </p:sp>
      </p:grpSp>
      <p:sp>
        <p:nvSpPr>
          <p:cNvPr id="44" name="テキスト ボックス 43">
            <a:extLst>
              <a:ext uri="{FF2B5EF4-FFF2-40B4-BE49-F238E27FC236}">
                <a16:creationId xmlns:a16="http://schemas.microsoft.com/office/drawing/2014/main" id="{2A0976FC-0E75-633B-9BC3-5CAE076760DB}"/>
              </a:ext>
            </a:extLst>
          </p:cNvPr>
          <p:cNvSpPr txBox="1"/>
          <p:nvPr/>
        </p:nvSpPr>
        <p:spPr>
          <a:xfrm>
            <a:off x="7690963" y="3226254"/>
            <a:ext cx="61817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 xmlns:a="http://schemas.openxmlformats.org/drawingml/2006/main">
              <a:rPr kumimoji="1" lang="en" altLang="ja-JP" sz="1200" b="1" dirty="0">
                <a:solidFill>
                  <a:schemeClr val="bg1"/>
                </a:solidFill>
              </a:rPr>
              <a:t>CPU</a:t>
            </a:r>
            <a:endParaRPr xmlns:a="http://schemas.openxmlformats.org/drawingml/2006/main" kumimoji="1" lang="ja-JP" altLang="en-US" sz="1200" b="1" dirty="0">
              <a:solidFill>
                <a:schemeClr val="bg1"/>
              </a:solidFill>
            </a:endParaRPr>
          </a:p>
        </p:txBody>
      </p:sp>
      <p:sp>
        <p:nvSpPr>
          <p:cNvPr id="54" name="テキスト ボックス 53">
            <a:extLst>
              <a:ext uri="{FF2B5EF4-FFF2-40B4-BE49-F238E27FC236}">
                <a16:creationId xmlns:a16="http://schemas.microsoft.com/office/drawing/2014/main" id="{51C48E81-767B-D79F-108D-1E00BA9F7E02}"/>
              </a:ext>
            </a:extLst>
          </p:cNvPr>
          <p:cNvSpPr txBox="1"/>
          <p:nvPr/>
        </p:nvSpPr>
        <p:spPr>
          <a:xfrm>
            <a:off x="7229774" y="6078243"/>
            <a:ext cx="456266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Hybrid Quantum–Classical Edge Intelligence targets train-on-cloud/simulator, infer-on-edge pipelines.</a:t>
            </a:r>
          </a:p>
        </p:txBody>
      </p:sp>
      <p:pic>
        <p:nvPicPr>
          <p:cNvPr id="56" name="図 55">
            <a:extLst>
              <a:ext uri="{FF2B5EF4-FFF2-40B4-BE49-F238E27FC236}">
                <a16:creationId xmlns:a16="http://schemas.microsoft.com/office/drawing/2014/main" id="{5CF727A7-DB7D-7B9C-58BE-CFA775E3C8CC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385536" y="5230135"/>
            <a:ext cx="629203" cy="486849"/>
          </a:xfrm>
          <a:prstGeom prst="rect">
            <a:avLst/>
          </a:prstGeom>
        </p:spPr>
      </p:pic>
      <p:sp>
        <p:nvSpPr>
          <p:cNvPr id="57" name="テキスト ボックス 56">
            <a:extLst>
              <a:ext uri="{FF2B5EF4-FFF2-40B4-BE49-F238E27FC236}">
                <a16:creationId xmlns:a16="http://schemas.microsoft.com/office/drawing/2014/main" id="{319E7EC6-4ABE-3841-9EF0-BEC33F26A98C}"/>
              </a:ext>
            </a:extLst>
          </p:cNvPr>
          <p:cNvSpPr txBox="1"/>
          <p:nvPr/>
        </p:nvSpPr>
        <p:spPr>
          <a:xfrm>
            <a:off x="11191396" y="5321656"/>
            <a:ext cx="5143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 xmlns:a="http://schemas.openxmlformats.org/drawingml/2006/main">
              <a:rPr kumimoji="1" lang="en" altLang="ja-JP" dirty="0"/>
              <a:t>...</a:t>
            </a:r>
            <a:endParaRPr xmlns:a="http://schemas.openxmlformats.org/drawingml/2006/main" kumimoji="1" lang="ja-JP" altLang="en-US" dirty="0"/>
          </a:p>
        </p:txBody>
      </p:sp>
      <p:pic>
        <p:nvPicPr>
          <p:cNvPr id="59" name="図 58">
            <a:extLst>
              <a:ext uri="{FF2B5EF4-FFF2-40B4-BE49-F238E27FC236}">
                <a16:creationId xmlns:a16="http://schemas.microsoft.com/office/drawing/2014/main" id="{87B8539B-0122-BF61-11D6-6CCE6A8F8507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923287" y="5611877"/>
            <a:ext cx="1324906" cy="382751"/>
          </a:xfrm>
          <a:prstGeom prst="rect">
            <a:avLst/>
          </a:prstGeom>
        </p:spPr>
      </p:pic>
      <p:pic>
        <p:nvPicPr>
          <p:cNvPr id="1042" name="Picture 18" descr="ネットワークで繋がる人々のイラスト">
            <a:extLst>
              <a:ext uri="{FF2B5EF4-FFF2-40B4-BE49-F238E27FC236}">
                <a16:creationId xmlns:a16="http://schemas.microsoft.com/office/drawing/2014/main" id="{48873E7F-F5D1-B614-5334-F208D3991CB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7822" y="2460696"/>
            <a:ext cx="2444514" cy="17289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8" name="Picture 14" descr="企業の合併・M&amp;Aのイラスト">
            <a:extLst>
              <a:ext uri="{FF2B5EF4-FFF2-40B4-BE49-F238E27FC236}">
                <a16:creationId xmlns:a16="http://schemas.microsoft.com/office/drawing/2014/main" id="{5C886B7D-059E-BD16-64B7-0071708620D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89520" y="3173532"/>
            <a:ext cx="1692574" cy="11509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024" name="直線コネクタ 1023">
            <a:extLst>
              <a:ext uri="{FF2B5EF4-FFF2-40B4-BE49-F238E27FC236}">
                <a16:creationId xmlns:a16="http://schemas.microsoft.com/office/drawing/2014/main" id="{42CB7EF2-B207-27B5-AEAF-200B93546648}"/>
              </a:ext>
            </a:extLst>
          </p:cNvPr>
          <p:cNvCxnSpPr/>
          <p:nvPr/>
        </p:nvCxnSpPr>
        <p:spPr>
          <a:xfrm>
            <a:off x="591127" y="4710262"/>
            <a:ext cx="11504380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27" name="フローチャート: 組合せ 1026">
            <a:extLst>
              <a:ext uri="{FF2B5EF4-FFF2-40B4-BE49-F238E27FC236}">
                <a16:creationId xmlns:a16="http://schemas.microsoft.com/office/drawing/2014/main" id="{271B5A1E-E1AB-BA38-C7D8-AF7F1FBABD7A}"/>
              </a:ext>
            </a:extLst>
          </p:cNvPr>
          <p:cNvSpPr/>
          <p:nvPr/>
        </p:nvSpPr>
        <p:spPr>
          <a:xfrm>
            <a:off x="8634488" y="4391272"/>
            <a:ext cx="2334634" cy="637980"/>
          </a:xfrm>
          <a:prstGeom prst="flowChartMerge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29" name="フローチャート: 組合せ 1028">
            <a:extLst>
              <a:ext uri="{FF2B5EF4-FFF2-40B4-BE49-F238E27FC236}">
                <a16:creationId xmlns:a16="http://schemas.microsoft.com/office/drawing/2014/main" id="{BBA8827C-3E77-D92A-2A3E-9AAE987BA0E8}"/>
              </a:ext>
            </a:extLst>
          </p:cNvPr>
          <p:cNvSpPr/>
          <p:nvPr/>
        </p:nvSpPr>
        <p:spPr>
          <a:xfrm>
            <a:off x="1744160" y="4475900"/>
            <a:ext cx="2334634" cy="637980"/>
          </a:xfrm>
          <a:prstGeom prst="flowChartMerge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1F340FD7-8CB5-67BD-181D-D3AD267872E9}"/>
              </a:ext>
            </a:extLst>
          </p:cNvPr>
          <p:cNvSpPr txBox="1"/>
          <p:nvPr/>
        </p:nvSpPr>
        <p:spPr>
          <a:xfrm>
            <a:off x="9019166" y="4401256"/>
            <a:ext cx="233463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t>Rapid QML progress for IoT</a:t>
            </a:r>
          </a:p>
        </p:txBody>
      </p:sp>
      <p:sp>
        <p:nvSpPr>
          <p:cNvPr id="1031" name="テキスト ボックス 1030">
            <a:extLst>
              <a:ext uri="{FF2B5EF4-FFF2-40B4-BE49-F238E27FC236}">
                <a16:creationId xmlns:a16="http://schemas.microsoft.com/office/drawing/2014/main" id="{8D8D64F6-FF63-B0A5-0CE3-D6265E32EE11}"/>
              </a:ext>
            </a:extLst>
          </p:cNvPr>
          <p:cNvSpPr txBox="1"/>
          <p:nvPr/>
        </p:nvSpPr>
        <p:spPr>
          <a:xfrm>
            <a:off x="2390196" y="4540985"/>
            <a:ext cx="233463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t>2020–2026</a:t>
            </a:r>
          </a:p>
        </p:txBody>
      </p:sp>
      <p:pic>
        <p:nvPicPr>
          <p:cNvPr id="1035" name="図 1034">
            <a:extLst>
              <a:ext uri="{FF2B5EF4-FFF2-40B4-BE49-F238E27FC236}">
                <a16:creationId xmlns:a16="http://schemas.microsoft.com/office/drawing/2014/main" id="{9A8579F5-3C59-8B4B-928B-1E0A53B50FC6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70309" y="6076208"/>
            <a:ext cx="1369425" cy="283329"/>
          </a:xfrm>
          <a:prstGeom prst="rect">
            <a:avLst/>
          </a:prstGeom>
        </p:spPr>
      </p:pic>
      <p:pic>
        <p:nvPicPr>
          <p:cNvPr id="1039" name="図 1038">
            <a:extLst>
              <a:ext uri="{FF2B5EF4-FFF2-40B4-BE49-F238E27FC236}">
                <a16:creationId xmlns:a16="http://schemas.microsoft.com/office/drawing/2014/main" id="{B822C8EE-D701-A0E4-A311-082EB471BF0C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539734" y="5928143"/>
            <a:ext cx="695024" cy="723147"/>
          </a:xfrm>
          <a:prstGeom prst="rect">
            <a:avLst/>
          </a:prstGeom>
        </p:spPr>
      </p:pic>
      <p:sp>
        <p:nvSpPr>
          <p:cNvPr id="1041" name="テキスト ボックス 1040">
            <a:extLst>
              <a:ext uri="{FF2B5EF4-FFF2-40B4-BE49-F238E27FC236}">
                <a16:creationId xmlns:a16="http://schemas.microsoft.com/office/drawing/2014/main" id="{6D72CEA1-B853-D5F2-DA2F-2F34EF061468}"/>
              </a:ext>
            </a:extLst>
          </p:cNvPr>
          <p:cNvSpPr txBox="1"/>
          <p:nvPr/>
        </p:nvSpPr>
        <p:spPr>
          <a:xfrm>
            <a:off x="2386200" y="6031476"/>
            <a:ext cx="449379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IEEE / ACM IoT &amp; QCE venues show accelerating hybrid QML research.</a:t>
            </a:r>
            <a:endParaRPr xmlns:a="http://schemas.openxmlformats.org/drawingml/2006/main" lang="en-US" altLang="ja-JP" sz="1200" dirty="0"/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6DA7853E-1AAC-4FAF-37A1-6BA5A97111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44AA7B-1733-46A6-89F2-666551969EC7}" type="slidenum">
              <a:rPr kumimoji="1" lang="ja-JP" altLang="en-US" smtClean="0"/>
              <a:t>11</a:t>
            </a:fld>
            <a:endParaRPr kumimoji="1" lang="ja-JP" altLang="en-US"/>
          </a:p>
        </p:txBody>
      </p:sp>
      <p:pic>
        <p:nvPicPr>
          <p:cNvPr id="1043" name="Picture 1042" descr="01_iot_quantum_landscap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65760" y="2286000"/>
            <a:ext cx="4114800" cy="23284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356608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正方形/長方形 134">
            <a:extLst>
              <a:ext uri="{FF2B5EF4-FFF2-40B4-BE49-F238E27FC236}">
                <a16:creationId xmlns:a16="http://schemas.microsoft.com/office/drawing/2014/main" id="{5B057D79-0A05-8CEB-4342-7C58533408B1}"/>
              </a:ext>
            </a:extLst>
          </p:cNvPr>
          <p:cNvSpPr/>
          <p:nvPr/>
        </p:nvSpPr>
        <p:spPr>
          <a:xfrm>
            <a:off x="10215647" y="4727281"/>
            <a:ext cx="641260" cy="416484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38100">
            <a:solidFill>
              <a:schemeClr val="bg1">
                <a:lumMod val="5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134" name="正方形/長方形 133">
            <a:extLst>
              <a:ext uri="{FF2B5EF4-FFF2-40B4-BE49-F238E27FC236}">
                <a16:creationId xmlns:a16="http://schemas.microsoft.com/office/drawing/2014/main" id="{2E2F7AF0-AFE4-4D8D-7907-D6E73620EA38}"/>
              </a:ext>
            </a:extLst>
          </p:cNvPr>
          <p:cNvSpPr/>
          <p:nvPr/>
        </p:nvSpPr>
        <p:spPr>
          <a:xfrm>
            <a:off x="9429107" y="4736238"/>
            <a:ext cx="641260" cy="416484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38100">
            <a:solidFill>
              <a:schemeClr val="bg1">
                <a:lumMod val="5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133" name="正方形/長方形 132">
            <a:extLst>
              <a:ext uri="{FF2B5EF4-FFF2-40B4-BE49-F238E27FC236}">
                <a16:creationId xmlns:a16="http://schemas.microsoft.com/office/drawing/2014/main" id="{6A298802-C648-695E-DC04-E3D3728C7832}"/>
              </a:ext>
            </a:extLst>
          </p:cNvPr>
          <p:cNvSpPr/>
          <p:nvPr/>
        </p:nvSpPr>
        <p:spPr>
          <a:xfrm>
            <a:off x="8661125" y="4744938"/>
            <a:ext cx="641260" cy="416484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38100">
            <a:solidFill>
              <a:schemeClr val="bg1">
                <a:lumMod val="5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132" name="正方形/長方形 131">
            <a:extLst>
              <a:ext uri="{FF2B5EF4-FFF2-40B4-BE49-F238E27FC236}">
                <a16:creationId xmlns:a16="http://schemas.microsoft.com/office/drawing/2014/main" id="{A854DDE5-5024-9961-4B98-9FFAADCC788A}"/>
              </a:ext>
            </a:extLst>
          </p:cNvPr>
          <p:cNvSpPr/>
          <p:nvPr/>
        </p:nvSpPr>
        <p:spPr>
          <a:xfrm>
            <a:off x="7903776" y="4744198"/>
            <a:ext cx="641260" cy="416484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38100">
            <a:solidFill>
              <a:schemeClr val="bg1">
                <a:lumMod val="5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90" name="雲 89">
            <a:extLst>
              <a:ext uri="{FF2B5EF4-FFF2-40B4-BE49-F238E27FC236}">
                <a16:creationId xmlns:a16="http://schemas.microsoft.com/office/drawing/2014/main" id="{73166E94-D2B9-B9CB-3F40-90BEDB6131D8}"/>
              </a:ext>
            </a:extLst>
          </p:cNvPr>
          <p:cNvSpPr/>
          <p:nvPr/>
        </p:nvSpPr>
        <p:spPr>
          <a:xfrm>
            <a:off x="7135433" y="3823923"/>
            <a:ext cx="4481387" cy="1095918"/>
          </a:xfrm>
          <a:prstGeom prst="cloud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rgbClr val="00B05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5" name="正方形/長方形 94">
            <a:extLst>
              <a:ext uri="{FF2B5EF4-FFF2-40B4-BE49-F238E27FC236}">
                <a16:creationId xmlns:a16="http://schemas.microsoft.com/office/drawing/2014/main" id="{5AB53315-412B-531E-C83B-D7B0097FCDA2}"/>
              </a:ext>
            </a:extLst>
          </p:cNvPr>
          <p:cNvSpPr/>
          <p:nvPr/>
        </p:nvSpPr>
        <p:spPr>
          <a:xfrm>
            <a:off x="9513453" y="3515970"/>
            <a:ext cx="732915" cy="642295"/>
          </a:xfrm>
          <a:prstGeom prst="rect">
            <a:avLst/>
          </a:prstGeom>
          <a:solidFill>
            <a:schemeClr val="bg1"/>
          </a:solidFill>
          <a:ln w="38100">
            <a:solidFill>
              <a:schemeClr val="accent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94" name="正方形/長方形 93">
            <a:extLst>
              <a:ext uri="{FF2B5EF4-FFF2-40B4-BE49-F238E27FC236}">
                <a16:creationId xmlns:a16="http://schemas.microsoft.com/office/drawing/2014/main" id="{73167784-86CD-DB47-8C8A-D0DBF268D1A7}"/>
              </a:ext>
            </a:extLst>
          </p:cNvPr>
          <p:cNvSpPr/>
          <p:nvPr/>
        </p:nvSpPr>
        <p:spPr>
          <a:xfrm>
            <a:off x="9375982" y="3389311"/>
            <a:ext cx="732915" cy="642295"/>
          </a:xfrm>
          <a:prstGeom prst="rect">
            <a:avLst/>
          </a:prstGeom>
          <a:solidFill>
            <a:schemeClr val="bg1"/>
          </a:solidFill>
          <a:ln w="38100">
            <a:solidFill>
              <a:schemeClr val="accent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93" name="正方形/長方形 92">
            <a:extLst>
              <a:ext uri="{FF2B5EF4-FFF2-40B4-BE49-F238E27FC236}">
                <a16:creationId xmlns:a16="http://schemas.microsoft.com/office/drawing/2014/main" id="{034D1D6B-94D5-957B-1511-5500DCD57F82}"/>
              </a:ext>
            </a:extLst>
          </p:cNvPr>
          <p:cNvSpPr/>
          <p:nvPr/>
        </p:nvSpPr>
        <p:spPr>
          <a:xfrm>
            <a:off x="8219655" y="3435725"/>
            <a:ext cx="798702" cy="642295"/>
          </a:xfrm>
          <a:prstGeom prst="rect">
            <a:avLst/>
          </a:prstGeom>
          <a:solidFill>
            <a:schemeClr val="bg1"/>
          </a:solidFill>
          <a:ln w="38100">
            <a:solidFill>
              <a:schemeClr val="accent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92" name="正方形/長方形 91">
            <a:extLst>
              <a:ext uri="{FF2B5EF4-FFF2-40B4-BE49-F238E27FC236}">
                <a16:creationId xmlns:a16="http://schemas.microsoft.com/office/drawing/2014/main" id="{FDBE516B-4712-200A-FD16-A3138DEA74DF}"/>
              </a:ext>
            </a:extLst>
          </p:cNvPr>
          <p:cNvSpPr/>
          <p:nvPr/>
        </p:nvSpPr>
        <p:spPr>
          <a:xfrm>
            <a:off x="8088076" y="3309972"/>
            <a:ext cx="798702" cy="642295"/>
          </a:xfrm>
          <a:prstGeom prst="rect">
            <a:avLst/>
          </a:prstGeom>
          <a:solidFill>
            <a:schemeClr val="bg1"/>
          </a:solidFill>
          <a:ln w="38100">
            <a:solidFill>
              <a:schemeClr val="accent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30" name="正方形/長方形 29">
            <a:extLst>
              <a:ext uri="{FF2B5EF4-FFF2-40B4-BE49-F238E27FC236}">
                <a16:creationId xmlns:a16="http://schemas.microsoft.com/office/drawing/2014/main" id="{F7B0C90F-795A-A48C-C7AF-79DC9E9CF5D8}"/>
              </a:ext>
            </a:extLst>
          </p:cNvPr>
          <p:cNvSpPr/>
          <p:nvPr/>
        </p:nvSpPr>
        <p:spPr>
          <a:xfrm>
            <a:off x="1558162" y="4816715"/>
            <a:ext cx="1467352" cy="208816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xmlns:a="http://schemas.openxmlformats.org/drawingml/2006/main" algn="ctr"/>
            <a:r xmlns:a="http://schemas.openxmlformats.org/drawingml/2006/main">
              <a:rPr kumimoji="1" lang="en" altLang="ja-JP" sz="1400" dirty="0"/>
              <a:t>OS</a:t>
            </a:r>
            <a:endParaRPr xmlns:a="http://schemas.openxmlformats.org/drawingml/2006/main" kumimoji="1" lang="ja-JP" altLang="en-US" sz="1400" dirty="0"/>
          </a:p>
        </p:txBody>
      </p:sp>
      <p:sp>
        <p:nvSpPr>
          <p:cNvPr id="31" name="正方形/長方形 30">
            <a:extLst>
              <a:ext uri="{FF2B5EF4-FFF2-40B4-BE49-F238E27FC236}">
                <a16:creationId xmlns:a16="http://schemas.microsoft.com/office/drawing/2014/main" id="{ED12492F-F3AC-45F7-6F57-B3FE58E517B0}"/>
              </a:ext>
            </a:extLst>
          </p:cNvPr>
          <p:cNvSpPr/>
          <p:nvPr/>
        </p:nvSpPr>
        <p:spPr>
          <a:xfrm>
            <a:off x="1558161" y="4487478"/>
            <a:ext cx="1467352" cy="208816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xmlns:a="http://schemas.openxmlformats.org/drawingml/2006/main" algn="ctr"/>
            <a:r xmlns:a="http://schemas.openxmlformats.org/drawingml/2006/main">
              <a:rPr kumimoji="1" lang="en" altLang="ja-JP" sz="1400" dirty="0"/>
              <a:t>Hypervisor</a:t>
            </a:r>
            <a:endParaRPr xmlns:a="http://schemas.openxmlformats.org/drawingml/2006/main" kumimoji="1" lang="ja-JP" altLang="en-US" sz="1400" dirty="0"/>
          </a:p>
        </p:txBody>
      </p:sp>
      <p:sp>
        <p:nvSpPr>
          <p:cNvPr id="33" name="正方形/長方形 32">
            <a:extLst>
              <a:ext uri="{FF2B5EF4-FFF2-40B4-BE49-F238E27FC236}">
                <a16:creationId xmlns:a16="http://schemas.microsoft.com/office/drawing/2014/main" id="{04F88293-33A6-B04D-AC8A-3EE59958FD3C}"/>
              </a:ext>
            </a:extLst>
          </p:cNvPr>
          <p:cNvSpPr/>
          <p:nvPr/>
        </p:nvSpPr>
        <p:spPr>
          <a:xfrm>
            <a:off x="1558160" y="5103115"/>
            <a:ext cx="1467353" cy="208816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xmlns:a="http://schemas.openxmlformats.org/drawingml/2006/main" algn="ctr"/>
            <a:r xmlns:a="http://schemas.openxmlformats.org/drawingml/2006/main">
              <a:rPr kumimoji="1" lang="en" altLang="ja-JP" sz="1400" dirty="0"/>
              <a:t>Firmware</a:t>
            </a:r>
            <a:endParaRPr xmlns:a="http://schemas.openxmlformats.org/drawingml/2006/main" kumimoji="1" lang="ja-JP" altLang="en-US" sz="1400" dirty="0"/>
          </a:p>
        </p:txBody>
      </p:sp>
      <p:sp>
        <p:nvSpPr>
          <p:cNvPr id="19" name="正方形/長方形 18">
            <a:extLst>
              <a:ext uri="{FF2B5EF4-FFF2-40B4-BE49-F238E27FC236}">
                <a16:creationId xmlns:a16="http://schemas.microsoft.com/office/drawing/2014/main" id="{80FCCB21-8D03-0E4A-1CD5-64C1DB1101A2}"/>
              </a:ext>
            </a:extLst>
          </p:cNvPr>
          <p:cNvSpPr/>
          <p:nvPr/>
        </p:nvSpPr>
        <p:spPr>
          <a:xfrm>
            <a:off x="1441198" y="5440182"/>
            <a:ext cx="1774420" cy="327269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38100">
            <a:solidFill>
              <a:schemeClr val="accent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xmlns:a="http://schemas.openxmlformats.org/drawingml/2006/main" algn="ctr"/>
            <a:r>
              <a:t>Training phase</a:t>
            </a:r>
            <a:br/>
            <a:r>
              <a:t>(Qiskit / PennyLane)</a:t>
            </a:r>
            <a:endParaRPr xmlns:a="http://schemas.openxmlformats.org/drawingml/2006/main" kumimoji="1" lang="ja-JP" altLang="en-US" b="1" u="sng" dirty="0">
              <a:solidFill>
                <a:schemeClr val="tx1"/>
              </a:solidFill>
            </a:endParaRPr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6976BAAB-B6DF-B4C3-288E-EFE92533E4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Research area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94F9062D-A502-3306-177E-3174EF5E7A54}"/>
              </a:ext>
            </a:extLst>
          </p:cNvPr>
          <p:cNvSpPr txBox="1"/>
          <p:nvPr/>
        </p:nvSpPr>
        <p:spPr>
          <a:xfrm>
            <a:off x="1210983" y="1199096"/>
            <a:ext cx="339513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t>Hybrid QML</a:t>
            </a:r>
            <a:br/>
            <a:r>
              <a:t>(Edge Intelligence)</a:t>
            </a:r>
            <a:endParaRPr xmlns:a="http://schemas.openxmlformats.org/drawingml/2006/main" kumimoji="1" lang="ja-JP" altLang="en-US" sz="2000" dirty="0"/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8E2481FF-7C05-2101-6AA6-E2F6DED6DA44}"/>
              </a:ext>
            </a:extLst>
          </p:cNvPr>
          <p:cNvSpPr txBox="1"/>
          <p:nvPr/>
        </p:nvSpPr>
        <p:spPr>
          <a:xfrm>
            <a:off x="7585886" y="1240215"/>
            <a:ext cx="271779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t>IoT Security</a:t>
            </a:r>
            <a:br/>
            <a:r>
              <a:t>(Anomaly Detection)</a:t>
            </a:r>
            <a:endParaRPr xmlns:a="http://schemas.openxmlformats.org/drawingml/2006/main" kumimoji="1" lang="ja-JP" altLang="en-US" sz="2000" dirty="0"/>
          </a:p>
        </p:txBody>
      </p:sp>
      <p:grpSp>
        <p:nvGrpSpPr>
          <p:cNvPr id="8" name="グループ化 7">
            <a:extLst>
              <a:ext uri="{FF2B5EF4-FFF2-40B4-BE49-F238E27FC236}">
                <a16:creationId xmlns:a16="http://schemas.microsoft.com/office/drawing/2014/main" id="{1844668B-86D5-5C23-FC5A-6CBD0575D55A}"/>
              </a:ext>
            </a:extLst>
          </p:cNvPr>
          <p:cNvGrpSpPr/>
          <p:nvPr/>
        </p:nvGrpSpPr>
        <p:grpSpPr>
          <a:xfrm>
            <a:off x="1104712" y="5597003"/>
            <a:ext cx="472576" cy="299384"/>
            <a:chOff x="4649389" y="2612399"/>
            <a:chExt cx="150019" cy="134772"/>
          </a:xfrm>
          <a:solidFill>
            <a:srgbClr val="0070C0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cxnSp>
          <p:nvCxnSpPr>
            <p:cNvPr id="9" name="直線コネクタ 8">
              <a:extLst>
                <a:ext uri="{FF2B5EF4-FFF2-40B4-BE49-F238E27FC236}">
                  <a16:creationId xmlns:a16="http://schemas.microsoft.com/office/drawing/2014/main" id="{F8074C95-3B99-50DC-E5B9-0C14FD396FB1}"/>
                </a:ext>
              </a:extLst>
            </p:cNvPr>
            <p:cNvCxnSpPr>
              <a:cxnSpLocks/>
            </p:cNvCxnSpPr>
            <p:nvPr/>
          </p:nvCxnSpPr>
          <p:spPr>
            <a:xfrm>
              <a:off x="4724399" y="2612399"/>
              <a:ext cx="0" cy="134772"/>
            </a:xfrm>
            <a:prstGeom prst="line">
              <a:avLst/>
            </a:prstGeom>
            <a:grpFill/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直線コネクタ 9">
              <a:extLst>
                <a:ext uri="{FF2B5EF4-FFF2-40B4-BE49-F238E27FC236}">
                  <a16:creationId xmlns:a16="http://schemas.microsoft.com/office/drawing/2014/main" id="{B95163AE-C7B4-3B3F-A95F-141F5CFB31CB}"/>
                </a:ext>
              </a:extLst>
            </p:cNvPr>
            <p:cNvCxnSpPr>
              <a:cxnSpLocks/>
            </p:cNvCxnSpPr>
            <p:nvPr/>
          </p:nvCxnSpPr>
          <p:spPr>
            <a:xfrm>
              <a:off x="4681536" y="2612399"/>
              <a:ext cx="0" cy="134772"/>
            </a:xfrm>
            <a:prstGeom prst="line">
              <a:avLst/>
            </a:prstGeom>
            <a:grpFill/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直線コネクタ 10">
              <a:extLst>
                <a:ext uri="{FF2B5EF4-FFF2-40B4-BE49-F238E27FC236}">
                  <a16:creationId xmlns:a16="http://schemas.microsoft.com/office/drawing/2014/main" id="{9C3F3477-63D1-A2DF-4178-BD2A62A7F87C}"/>
                </a:ext>
              </a:extLst>
            </p:cNvPr>
            <p:cNvCxnSpPr>
              <a:cxnSpLocks/>
            </p:cNvCxnSpPr>
            <p:nvPr/>
          </p:nvCxnSpPr>
          <p:spPr>
            <a:xfrm>
              <a:off x="4767261" y="2612399"/>
              <a:ext cx="0" cy="134772"/>
            </a:xfrm>
            <a:prstGeom prst="line">
              <a:avLst/>
            </a:prstGeom>
            <a:grpFill/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直線コネクタ 11">
              <a:extLst>
                <a:ext uri="{FF2B5EF4-FFF2-40B4-BE49-F238E27FC236}">
                  <a16:creationId xmlns:a16="http://schemas.microsoft.com/office/drawing/2014/main" id="{7F97D356-EE2C-B708-0386-85395E4EF0A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649389" y="2680498"/>
              <a:ext cx="150019" cy="0"/>
            </a:xfrm>
            <a:prstGeom prst="line">
              <a:avLst/>
            </a:prstGeom>
            <a:grpFill/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直線コネクタ 12">
              <a:extLst>
                <a:ext uri="{FF2B5EF4-FFF2-40B4-BE49-F238E27FC236}">
                  <a16:creationId xmlns:a16="http://schemas.microsoft.com/office/drawing/2014/main" id="{E4CBB920-B537-1E7D-76EA-145722AC49A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649389" y="2715424"/>
              <a:ext cx="150019" cy="0"/>
            </a:xfrm>
            <a:prstGeom prst="line">
              <a:avLst/>
            </a:prstGeom>
            <a:grpFill/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直線コネクタ 13">
              <a:extLst>
                <a:ext uri="{FF2B5EF4-FFF2-40B4-BE49-F238E27FC236}">
                  <a16:creationId xmlns:a16="http://schemas.microsoft.com/office/drawing/2014/main" id="{B9AD03D4-0D10-90FC-2C00-DD502F09F78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649389" y="2647676"/>
              <a:ext cx="150019" cy="0"/>
            </a:xfrm>
            <a:prstGeom prst="line">
              <a:avLst/>
            </a:prstGeom>
            <a:grpFill/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四角形: 角を丸くする 14">
              <a:extLst>
                <a:ext uri="{FF2B5EF4-FFF2-40B4-BE49-F238E27FC236}">
                  <a16:creationId xmlns:a16="http://schemas.microsoft.com/office/drawing/2014/main" id="{AB7FD4C3-EADB-3A7A-6DFB-BD56C24FBD03}"/>
                </a:ext>
              </a:extLst>
            </p:cNvPr>
            <p:cNvSpPr/>
            <p:nvPr/>
          </p:nvSpPr>
          <p:spPr>
            <a:xfrm>
              <a:off x="4671414" y="2631666"/>
              <a:ext cx="105970" cy="97663"/>
            </a:xfrm>
            <a:prstGeom prst="roundRect">
              <a:avLst/>
            </a:prstGeom>
            <a:grpFill/>
            <a:ln w="38100">
              <a:solidFill>
                <a:schemeClr val="tx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pPr algn="ctr" fontAlgn="auto">
                <a:lnSpc>
                  <a:spcPct val="110000"/>
                </a:lnSpc>
                <a:spcBef>
                  <a:spcPts val="200"/>
                </a:spcBef>
                <a:spcAft>
                  <a:spcPts val="200"/>
                </a:spcAft>
              </a:pPr>
              <a:endParaRPr kumimoji="1" lang="ja-JP" altLang="en-US" sz="2000" dirty="0">
                <a:latin typeface="メイリオ" panose="020B0604030504040204" pitchFamily="50" charset="-128"/>
                <a:ea typeface="メイリオ" panose="020B0604030504040204" pitchFamily="50" charset="-128"/>
              </a:endParaRPr>
            </a:p>
          </p:txBody>
        </p:sp>
      </p:grpSp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6A7C9E9D-F332-EFAF-57F0-D45FD1749BB5}"/>
              </a:ext>
            </a:extLst>
          </p:cNvPr>
          <p:cNvSpPr txBox="1"/>
          <p:nvPr/>
        </p:nvSpPr>
        <p:spPr>
          <a:xfrm>
            <a:off x="1127275" y="5624801"/>
            <a:ext cx="618178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 xmlns:a="http://schemas.openxmlformats.org/drawingml/2006/main">
              <a:rPr kumimoji="1" lang="en" altLang="ja-JP" sz="900" b="1" dirty="0">
                <a:solidFill>
                  <a:schemeClr val="bg1"/>
                </a:solidFill>
              </a:rPr>
              <a:t>CPU</a:t>
            </a:r>
            <a:endParaRPr xmlns:a="http://schemas.openxmlformats.org/drawingml/2006/main" kumimoji="1" lang="ja-JP" altLang="en-US" sz="900" b="1" dirty="0">
              <a:solidFill>
                <a:schemeClr val="bg1"/>
              </a:solidFill>
            </a:endParaRPr>
          </a:p>
        </p:txBody>
      </p:sp>
      <p:cxnSp>
        <p:nvCxnSpPr>
          <p:cNvPr id="21" name="直線コネクタ 20">
            <a:extLst>
              <a:ext uri="{FF2B5EF4-FFF2-40B4-BE49-F238E27FC236}">
                <a16:creationId xmlns:a16="http://schemas.microsoft.com/office/drawing/2014/main" id="{FC35F17E-87E5-8846-D453-5672A6BDD666}"/>
              </a:ext>
            </a:extLst>
          </p:cNvPr>
          <p:cNvCxnSpPr>
            <a:cxnSpLocks/>
          </p:cNvCxnSpPr>
          <p:nvPr/>
        </p:nvCxnSpPr>
        <p:spPr>
          <a:xfrm flipV="1">
            <a:off x="2733674" y="4032018"/>
            <a:ext cx="0" cy="1408165"/>
          </a:xfrm>
          <a:prstGeom prst="line">
            <a:avLst/>
          </a:prstGeom>
          <a:ln w="57150">
            <a:solidFill>
              <a:schemeClr val="accent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正方形/長方形 22">
            <a:extLst>
              <a:ext uri="{FF2B5EF4-FFF2-40B4-BE49-F238E27FC236}">
                <a16:creationId xmlns:a16="http://schemas.microsoft.com/office/drawing/2014/main" id="{B386EDA5-3F5E-3B14-F515-7B9463FAD523}"/>
              </a:ext>
            </a:extLst>
          </p:cNvPr>
          <p:cNvSpPr/>
          <p:nvPr/>
        </p:nvSpPr>
        <p:spPr>
          <a:xfrm>
            <a:off x="1137131" y="2670693"/>
            <a:ext cx="1942781" cy="1361325"/>
          </a:xfrm>
          <a:prstGeom prst="rect">
            <a:avLst/>
          </a:prstGeom>
          <a:solidFill>
            <a:schemeClr val="bg1"/>
          </a:solidFill>
          <a:ln w="38100">
            <a:solidFill>
              <a:schemeClr val="accent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5" name="正方形/長方形 24">
            <a:extLst>
              <a:ext uri="{FF2B5EF4-FFF2-40B4-BE49-F238E27FC236}">
                <a16:creationId xmlns:a16="http://schemas.microsoft.com/office/drawing/2014/main" id="{24577511-4813-6C25-2D47-23EF43E9951E}"/>
              </a:ext>
            </a:extLst>
          </p:cNvPr>
          <p:cNvSpPr/>
          <p:nvPr/>
        </p:nvSpPr>
        <p:spPr>
          <a:xfrm>
            <a:off x="1099860" y="2702494"/>
            <a:ext cx="1467352" cy="261610"/>
          </a:xfrm>
          <a:prstGeom prst="rect">
            <a:avLst/>
          </a:prstGeom>
          <a:noFill/>
          <a:ln w="381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xmlns:a="http://schemas.openxmlformats.org/drawingml/2006/main" algn="ctr"/>
            <a:r>
              <a:t>Compressed VQC inference</a:t>
            </a:r>
            <a:endParaRPr xmlns:a="http://schemas.openxmlformats.org/drawingml/2006/main" kumimoji="1" lang="ja-JP" altLang="en-US" sz="1600" b="1" u="sng" dirty="0">
              <a:solidFill>
                <a:schemeClr val="tx1"/>
              </a:solidFill>
            </a:endParaRPr>
          </a:p>
        </p:txBody>
      </p:sp>
      <p:sp>
        <p:nvSpPr>
          <p:cNvPr id="26" name="テキスト ボックス 25">
            <a:extLst>
              <a:ext uri="{FF2B5EF4-FFF2-40B4-BE49-F238E27FC236}">
                <a16:creationId xmlns:a16="http://schemas.microsoft.com/office/drawing/2014/main" id="{6E6CCD27-03B0-E3F0-34CF-A3C4273A1B33}"/>
              </a:ext>
            </a:extLst>
          </p:cNvPr>
          <p:cNvSpPr txBox="1"/>
          <p:nvPr/>
        </p:nvSpPr>
        <p:spPr>
          <a:xfrm>
            <a:off x="1052815" y="4095437"/>
            <a:ext cx="241040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t>Benchmark harness</a:t>
            </a:r>
            <a:endParaRPr xmlns:a="http://schemas.openxmlformats.org/drawingml/2006/main" kumimoji="1" lang="ja-JP" altLang="en-US" sz="1600" b="1" dirty="0"/>
          </a:p>
        </p:txBody>
      </p:sp>
      <p:sp>
        <p:nvSpPr>
          <p:cNvPr id="37" name="正方形/長方形 36">
            <a:extLst>
              <a:ext uri="{FF2B5EF4-FFF2-40B4-BE49-F238E27FC236}">
                <a16:creationId xmlns:a16="http://schemas.microsoft.com/office/drawing/2014/main" id="{3B897CCE-F659-2A9B-8ABC-AD5DAA9F560E}"/>
              </a:ext>
            </a:extLst>
          </p:cNvPr>
          <p:cNvSpPr/>
          <p:nvPr/>
        </p:nvSpPr>
        <p:spPr>
          <a:xfrm>
            <a:off x="1469483" y="3427187"/>
            <a:ext cx="1302719" cy="30954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xmlns:a="http://schemas.openxmlformats.org/drawingml/2006/main" algn="ctr"/>
            <a:r>
              <a:t>Streaming IoT features</a:t>
            </a:r>
            <a:endParaRPr xmlns:a="http://schemas.openxmlformats.org/drawingml/2006/main" kumimoji="1" lang="en-US" altLang="ja-JP" sz="1100" dirty="0">
              <a:solidFill>
                <a:schemeClr val="tx1"/>
              </a:solidFill>
            </a:endParaRPr>
          </a:p>
        </p:txBody>
      </p:sp>
      <p:sp>
        <p:nvSpPr>
          <p:cNvPr id="38" name="吹き出し: 角を丸めた四角形 37">
            <a:extLst>
              <a:ext uri="{FF2B5EF4-FFF2-40B4-BE49-F238E27FC236}">
                <a16:creationId xmlns:a16="http://schemas.microsoft.com/office/drawing/2014/main" id="{1C97B5DF-4C28-A1FB-BAA6-B7CE8D63AF29}"/>
              </a:ext>
            </a:extLst>
          </p:cNvPr>
          <p:cNvSpPr/>
          <p:nvPr/>
        </p:nvSpPr>
        <p:spPr>
          <a:xfrm>
            <a:off x="300845" y="5440182"/>
            <a:ext cx="618179" cy="399241"/>
          </a:xfrm>
          <a:prstGeom prst="wedgeRoundRectCallout">
            <a:avLst>
              <a:gd name="adj1" fmla="val 71444"/>
              <a:gd name="adj2" fmla="val 25106"/>
              <a:gd name="adj3" fmla="val 16667"/>
            </a:avLst>
          </a:prstGeom>
          <a:noFill/>
          <a:ln w="1905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36" name="Graphic 81">
            <a:extLst>
              <a:ext uri="{FF2B5EF4-FFF2-40B4-BE49-F238E27FC236}">
                <a16:creationId xmlns:a16="http://schemas.microsoft.com/office/drawing/2014/main" id="{4B0CA535-F676-4625-548E-C0490545853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79126" y="5524188"/>
            <a:ext cx="434227" cy="201227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39" name="テキスト ボックス 38">
            <a:extLst>
              <a:ext uri="{FF2B5EF4-FFF2-40B4-BE49-F238E27FC236}">
                <a16:creationId xmlns:a16="http://schemas.microsoft.com/office/drawing/2014/main" id="{115C3077-05A7-D68D-4A7E-25AA257AC3AB}"/>
              </a:ext>
            </a:extLst>
          </p:cNvPr>
          <p:cNvSpPr txBox="1"/>
          <p:nvPr/>
        </p:nvSpPr>
        <p:spPr>
          <a:xfrm>
            <a:off x="193138" y="5974595"/>
            <a:ext cx="159265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t>Qiskit, PennyLane, FPGA offload</a:t>
            </a:r>
            <a:endParaRPr xmlns:a="http://schemas.openxmlformats.org/drawingml/2006/main" kumimoji="1" lang="ja-JP" altLang="en-US" sz="1000" b="1" dirty="0"/>
          </a:p>
        </p:txBody>
      </p:sp>
      <p:sp>
        <p:nvSpPr>
          <p:cNvPr id="40" name="楕円 39">
            <a:extLst>
              <a:ext uri="{FF2B5EF4-FFF2-40B4-BE49-F238E27FC236}">
                <a16:creationId xmlns:a16="http://schemas.microsoft.com/office/drawing/2014/main" id="{9F92FE99-88F2-0ED6-FC43-6757F25D091B}"/>
              </a:ext>
            </a:extLst>
          </p:cNvPr>
          <p:cNvSpPr/>
          <p:nvPr/>
        </p:nvSpPr>
        <p:spPr>
          <a:xfrm>
            <a:off x="4562755" y="2885687"/>
            <a:ext cx="279400" cy="236897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1" name="二等辺三角形 40">
            <a:extLst>
              <a:ext uri="{FF2B5EF4-FFF2-40B4-BE49-F238E27FC236}">
                <a16:creationId xmlns:a16="http://schemas.microsoft.com/office/drawing/2014/main" id="{A17897D6-160C-A464-6106-9DB690943499}"/>
              </a:ext>
            </a:extLst>
          </p:cNvPr>
          <p:cNvSpPr/>
          <p:nvPr/>
        </p:nvSpPr>
        <p:spPr>
          <a:xfrm>
            <a:off x="4545821" y="3034104"/>
            <a:ext cx="313262" cy="250605"/>
          </a:xfrm>
          <a:prstGeom prst="triangl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2" name="二等辺三角形 41">
            <a:extLst>
              <a:ext uri="{FF2B5EF4-FFF2-40B4-BE49-F238E27FC236}">
                <a16:creationId xmlns:a16="http://schemas.microsoft.com/office/drawing/2014/main" id="{3708BCB5-4C6C-8D79-DE61-B884FF793F22}"/>
              </a:ext>
            </a:extLst>
          </p:cNvPr>
          <p:cNvSpPr/>
          <p:nvPr/>
        </p:nvSpPr>
        <p:spPr>
          <a:xfrm rot="1371790" flipV="1">
            <a:off x="4500268" y="2933884"/>
            <a:ext cx="194373" cy="88952"/>
          </a:xfrm>
          <a:prstGeom prst="triangle">
            <a:avLst>
              <a:gd name="adj" fmla="val 50000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00"/>
          </a:p>
        </p:txBody>
      </p:sp>
      <p:cxnSp>
        <p:nvCxnSpPr>
          <p:cNvPr id="46" name="直線矢印コネクタ 45">
            <a:extLst>
              <a:ext uri="{FF2B5EF4-FFF2-40B4-BE49-F238E27FC236}">
                <a16:creationId xmlns:a16="http://schemas.microsoft.com/office/drawing/2014/main" id="{DD345D0F-6FCC-29BA-40C0-4400770075C8}"/>
              </a:ext>
            </a:extLst>
          </p:cNvPr>
          <p:cNvCxnSpPr>
            <a:cxnSpLocks/>
          </p:cNvCxnSpPr>
          <p:nvPr/>
        </p:nvCxnSpPr>
        <p:spPr>
          <a:xfrm flipH="1">
            <a:off x="3318200" y="3112620"/>
            <a:ext cx="1009712" cy="0"/>
          </a:xfrm>
          <a:prstGeom prst="straightConnector1">
            <a:avLst/>
          </a:prstGeom>
          <a:ln w="190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二等辺三角形 48">
            <a:extLst>
              <a:ext uri="{FF2B5EF4-FFF2-40B4-BE49-F238E27FC236}">
                <a16:creationId xmlns:a16="http://schemas.microsoft.com/office/drawing/2014/main" id="{89F6EFC8-7EAD-8D64-1B46-132389F1EABC}"/>
              </a:ext>
            </a:extLst>
          </p:cNvPr>
          <p:cNvSpPr/>
          <p:nvPr/>
        </p:nvSpPr>
        <p:spPr>
          <a:xfrm rot="20130143" flipV="1">
            <a:off x="4710214" y="2933884"/>
            <a:ext cx="194373" cy="88952"/>
          </a:xfrm>
          <a:prstGeom prst="triangle">
            <a:avLst>
              <a:gd name="adj" fmla="val 50000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00"/>
          </a:p>
        </p:txBody>
      </p:sp>
      <p:sp>
        <p:nvSpPr>
          <p:cNvPr id="54" name="フローチャート: 複数書類 53">
            <a:extLst>
              <a:ext uri="{FF2B5EF4-FFF2-40B4-BE49-F238E27FC236}">
                <a16:creationId xmlns:a16="http://schemas.microsoft.com/office/drawing/2014/main" id="{2EEBFB7B-B873-5F31-E4BF-225F5616D0DA}"/>
              </a:ext>
            </a:extLst>
          </p:cNvPr>
          <p:cNvSpPr/>
          <p:nvPr/>
        </p:nvSpPr>
        <p:spPr>
          <a:xfrm>
            <a:off x="1579575" y="3094747"/>
            <a:ext cx="477270" cy="355657"/>
          </a:xfrm>
          <a:prstGeom prst="flowChartMultidocumen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55" name="テキスト ボックス 54">
            <a:extLst>
              <a:ext uri="{FF2B5EF4-FFF2-40B4-BE49-F238E27FC236}">
                <a16:creationId xmlns:a16="http://schemas.microsoft.com/office/drawing/2014/main" id="{5EC8CA8C-6C52-B55E-FB36-5B256EA7E26E}"/>
              </a:ext>
            </a:extLst>
          </p:cNvPr>
          <p:cNvSpPr txBox="1"/>
          <p:nvPr/>
        </p:nvSpPr>
        <p:spPr>
          <a:xfrm>
            <a:off x="2024539" y="3142174"/>
            <a:ext cx="86455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 xmlns:a="http://schemas.openxmlformats.org/drawingml/2006/main">
              <a:rPr lang="en" altLang="en-US" sz="1000" b="1" dirty="0"/>
              <a:t>Sensitive data</a:t>
            </a:r>
            <a:endParaRPr xmlns:a="http://schemas.openxmlformats.org/drawingml/2006/main" kumimoji="1" lang="ja-JP" altLang="en-US" sz="1000" b="1" dirty="0"/>
          </a:p>
        </p:txBody>
      </p:sp>
      <p:sp>
        <p:nvSpPr>
          <p:cNvPr id="59" name="テキスト ボックス 58">
            <a:extLst>
              <a:ext uri="{FF2B5EF4-FFF2-40B4-BE49-F238E27FC236}">
                <a16:creationId xmlns:a16="http://schemas.microsoft.com/office/drawing/2014/main" id="{FEE5D6AA-E491-7A57-721F-DAFDDA54A5B4}"/>
              </a:ext>
            </a:extLst>
          </p:cNvPr>
          <p:cNvSpPr txBox="1"/>
          <p:nvPr/>
        </p:nvSpPr>
        <p:spPr>
          <a:xfrm>
            <a:off x="3707052" y="3377831"/>
            <a:ext cx="2514600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t>Circuit depth, qubit budget,</a:t>
            </a:r>
            <a:br/>
            <a:r>
              <a:t>latency &amp; energy caps</a:t>
            </a:r>
            <a:endParaRPr xmlns:a="http://schemas.openxmlformats.org/drawingml/2006/main" lang="en-US" altLang="ja-JP" sz="1100" dirty="0"/>
          </a:p>
        </p:txBody>
      </p:sp>
      <p:cxnSp>
        <p:nvCxnSpPr>
          <p:cNvPr id="65" name="直線矢印コネクタ 64">
            <a:extLst>
              <a:ext uri="{FF2B5EF4-FFF2-40B4-BE49-F238E27FC236}">
                <a16:creationId xmlns:a16="http://schemas.microsoft.com/office/drawing/2014/main" id="{BCFA45CA-A071-5D93-6965-FBACF5B48948}"/>
              </a:ext>
            </a:extLst>
          </p:cNvPr>
          <p:cNvCxnSpPr>
            <a:cxnSpLocks/>
          </p:cNvCxnSpPr>
          <p:nvPr/>
        </p:nvCxnSpPr>
        <p:spPr>
          <a:xfrm>
            <a:off x="3278832" y="5593930"/>
            <a:ext cx="1109604" cy="0"/>
          </a:xfrm>
          <a:prstGeom prst="straightConnector1">
            <a:avLst/>
          </a:prstGeom>
          <a:ln w="28575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直線コネクタ 68">
            <a:extLst>
              <a:ext uri="{FF2B5EF4-FFF2-40B4-BE49-F238E27FC236}">
                <a16:creationId xmlns:a16="http://schemas.microsoft.com/office/drawing/2014/main" id="{A42A95B1-815F-97C8-A97A-FE6F8BCF5023}"/>
              </a:ext>
            </a:extLst>
          </p:cNvPr>
          <p:cNvCxnSpPr/>
          <p:nvPr/>
        </p:nvCxnSpPr>
        <p:spPr>
          <a:xfrm>
            <a:off x="3608245" y="2578284"/>
            <a:ext cx="0" cy="3505200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2" name="楕円 71">
            <a:extLst>
              <a:ext uri="{FF2B5EF4-FFF2-40B4-BE49-F238E27FC236}">
                <a16:creationId xmlns:a16="http://schemas.microsoft.com/office/drawing/2014/main" id="{A5EB5E8D-DB0F-7D16-EFFA-C5AFD0F9534A}"/>
              </a:ext>
            </a:extLst>
          </p:cNvPr>
          <p:cNvSpPr/>
          <p:nvPr/>
        </p:nvSpPr>
        <p:spPr>
          <a:xfrm>
            <a:off x="4522027" y="5380969"/>
            <a:ext cx="279400" cy="236897"/>
          </a:xfrm>
          <a:prstGeom prst="ellipse">
            <a:avLst/>
          </a:prstGeom>
          <a:solidFill>
            <a:schemeClr val="accent5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3" name="二等辺三角形 72">
            <a:extLst>
              <a:ext uri="{FF2B5EF4-FFF2-40B4-BE49-F238E27FC236}">
                <a16:creationId xmlns:a16="http://schemas.microsoft.com/office/drawing/2014/main" id="{752B669F-5C6D-0F65-98CB-6C3A3B098B5A}"/>
              </a:ext>
            </a:extLst>
          </p:cNvPr>
          <p:cNvSpPr/>
          <p:nvPr/>
        </p:nvSpPr>
        <p:spPr>
          <a:xfrm>
            <a:off x="4505093" y="5529386"/>
            <a:ext cx="313262" cy="250605"/>
          </a:xfrm>
          <a:prstGeom prst="triangle">
            <a:avLst/>
          </a:prstGeom>
          <a:solidFill>
            <a:schemeClr val="accent5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4" name="スクロール: 縦 73">
            <a:extLst>
              <a:ext uri="{FF2B5EF4-FFF2-40B4-BE49-F238E27FC236}">
                <a16:creationId xmlns:a16="http://schemas.microsoft.com/office/drawing/2014/main" id="{E180922C-3108-A3F6-590D-10F90739BB93}"/>
              </a:ext>
            </a:extLst>
          </p:cNvPr>
          <p:cNvSpPr/>
          <p:nvPr/>
        </p:nvSpPr>
        <p:spPr>
          <a:xfrm>
            <a:off x="3813948" y="5001003"/>
            <a:ext cx="525743" cy="430887"/>
          </a:xfrm>
          <a:prstGeom prst="verticalScroll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5" name="テキスト ボックス 74">
            <a:extLst>
              <a:ext uri="{FF2B5EF4-FFF2-40B4-BE49-F238E27FC236}">
                <a16:creationId xmlns:a16="http://schemas.microsoft.com/office/drawing/2014/main" id="{C03A7ECA-464D-D439-38FC-81194750BF2A}"/>
              </a:ext>
            </a:extLst>
          </p:cNvPr>
          <p:cNvSpPr txBox="1"/>
          <p:nvPr/>
        </p:nvSpPr>
        <p:spPr>
          <a:xfrm>
            <a:off x="3824392" y="5062686"/>
            <a:ext cx="8382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 xmlns:a="http://schemas.openxmlformats.org/drawingml/2006/main">
              <a:rPr kumimoji="1" lang="en" altLang="ja-JP" sz="1200" b="1" dirty="0">
                <a:solidFill>
                  <a:srgbClr val="7030A0"/>
                </a:solidFill>
              </a:rPr>
              <a:t>Sign</a:t>
            </a:r>
            <a:endParaRPr xmlns:a="http://schemas.openxmlformats.org/drawingml/2006/main" kumimoji="1" lang="ja-JP" altLang="en-US" sz="1200" b="1" dirty="0">
              <a:solidFill>
                <a:srgbClr val="7030A0"/>
              </a:solidFill>
            </a:endParaRPr>
          </a:p>
        </p:txBody>
      </p:sp>
      <p:sp>
        <p:nvSpPr>
          <p:cNvPr id="76" name="テキスト ボックス 75">
            <a:extLst>
              <a:ext uri="{FF2B5EF4-FFF2-40B4-BE49-F238E27FC236}">
                <a16:creationId xmlns:a16="http://schemas.microsoft.com/office/drawing/2014/main" id="{8087A256-542D-4019-2302-B205DAC0D2F0}"/>
              </a:ext>
            </a:extLst>
          </p:cNvPr>
          <p:cNvSpPr txBox="1"/>
          <p:nvPr/>
        </p:nvSpPr>
        <p:spPr>
          <a:xfrm>
            <a:off x="3620410" y="5966392"/>
            <a:ext cx="225545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t>Local anomaly scoring with compressed quantum–classical models</a:t>
            </a:r>
            <a:endParaRPr xmlns:a="http://schemas.openxmlformats.org/drawingml/2006/main" kumimoji="1" lang="ja-JP" altLang="en-US" sz="1100" dirty="0"/>
          </a:p>
        </p:txBody>
      </p:sp>
      <p:sp>
        <p:nvSpPr>
          <p:cNvPr id="77" name="テキスト ボックス 76">
            <a:extLst>
              <a:ext uri="{FF2B5EF4-FFF2-40B4-BE49-F238E27FC236}">
                <a16:creationId xmlns:a16="http://schemas.microsoft.com/office/drawing/2014/main" id="{C2FEF765-7FC4-231D-8D74-C8022435A580}"/>
              </a:ext>
            </a:extLst>
          </p:cNvPr>
          <p:cNvSpPr txBox="1"/>
          <p:nvPr/>
        </p:nvSpPr>
        <p:spPr>
          <a:xfrm>
            <a:off x="4340568" y="2533417"/>
            <a:ext cx="105766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 xmlns:a="http://schemas.openxmlformats.org/drawingml/2006/main">
              <a:rPr kumimoji="1" lang="en" altLang="en-US" sz="1400" dirty="0"/>
              <a:t>Attacker</a:t>
            </a:r>
          </a:p>
        </p:txBody>
      </p:sp>
      <p:sp>
        <p:nvSpPr>
          <p:cNvPr id="78" name="テキスト ボックス 77">
            <a:extLst>
              <a:ext uri="{FF2B5EF4-FFF2-40B4-BE49-F238E27FC236}">
                <a16:creationId xmlns:a16="http://schemas.microsoft.com/office/drawing/2014/main" id="{B7C22F19-FD0E-8933-EBCB-3FC932CDDC1E}"/>
              </a:ext>
            </a:extLst>
          </p:cNvPr>
          <p:cNvSpPr txBox="1"/>
          <p:nvPr/>
        </p:nvSpPr>
        <p:spPr>
          <a:xfrm>
            <a:off x="4407894" y="5006184"/>
            <a:ext cx="105766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 xmlns:a="http://schemas.openxmlformats.org/drawingml/2006/main">
              <a:rPr kumimoji="1" lang="en" altLang="en-US" sz="1400" dirty="0"/>
              <a:t>User</a:t>
            </a:r>
          </a:p>
        </p:txBody>
      </p:sp>
      <p:sp>
        <p:nvSpPr>
          <p:cNvPr id="79" name="テキスト ボックス 78">
            <a:extLst>
              <a:ext uri="{FF2B5EF4-FFF2-40B4-BE49-F238E27FC236}">
                <a16:creationId xmlns:a16="http://schemas.microsoft.com/office/drawing/2014/main" id="{3AF3CCB3-BC56-FDCB-E62D-F8A959FA7340}"/>
              </a:ext>
            </a:extLst>
          </p:cNvPr>
          <p:cNvSpPr txBox="1"/>
          <p:nvPr/>
        </p:nvSpPr>
        <p:spPr>
          <a:xfrm>
            <a:off x="2547553" y="5804779"/>
            <a:ext cx="78281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 xmlns:a="http://schemas.openxmlformats.org/drawingml/2006/main">
              <a:rPr kumimoji="1" lang="en" altLang="ja-JP" sz="1200" b="1" u="sng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Trusted</a:t>
            </a:r>
          </a:p>
        </p:txBody>
      </p:sp>
      <p:sp>
        <p:nvSpPr>
          <p:cNvPr id="81" name="正方形/長方形 80">
            <a:extLst>
              <a:ext uri="{FF2B5EF4-FFF2-40B4-BE49-F238E27FC236}">
                <a16:creationId xmlns:a16="http://schemas.microsoft.com/office/drawing/2014/main" id="{9898DEF8-DC9A-2124-F9BC-19124DD14A50}"/>
              </a:ext>
            </a:extLst>
          </p:cNvPr>
          <p:cNvSpPr/>
          <p:nvPr/>
        </p:nvSpPr>
        <p:spPr>
          <a:xfrm>
            <a:off x="7956166" y="3184219"/>
            <a:ext cx="798702" cy="642295"/>
          </a:xfrm>
          <a:prstGeom prst="rect">
            <a:avLst/>
          </a:prstGeom>
          <a:solidFill>
            <a:schemeClr val="bg1"/>
          </a:solidFill>
          <a:ln w="38100">
            <a:solidFill>
              <a:schemeClr val="accent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82" name="正方形/長方形 81">
            <a:extLst>
              <a:ext uri="{FF2B5EF4-FFF2-40B4-BE49-F238E27FC236}">
                <a16:creationId xmlns:a16="http://schemas.microsoft.com/office/drawing/2014/main" id="{631E6F48-B211-FC3F-B320-EC9A5E5ED578}"/>
              </a:ext>
            </a:extLst>
          </p:cNvPr>
          <p:cNvSpPr/>
          <p:nvPr/>
        </p:nvSpPr>
        <p:spPr>
          <a:xfrm>
            <a:off x="7906704" y="3247217"/>
            <a:ext cx="980074" cy="261610"/>
          </a:xfrm>
          <a:prstGeom prst="rect">
            <a:avLst/>
          </a:prstGeom>
          <a:noFill/>
          <a:ln w="381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Sensor</a:t>
            </a:r>
            <a:br/>
            <a:r>
              <a:t>nodes</a:t>
            </a:r>
            <a:endParaRPr xmlns:a="http://schemas.openxmlformats.org/drawingml/2006/main" kumimoji="1" lang="en-US" altLang="ja-JP" sz="1100" b="1" u="sng" dirty="0">
              <a:solidFill>
                <a:schemeClr val="tx1"/>
              </a:solidFill>
            </a:endParaRPr>
          </a:p>
        </p:txBody>
      </p:sp>
      <p:sp>
        <p:nvSpPr>
          <p:cNvPr id="83" name="正方形/長方形 82">
            <a:extLst>
              <a:ext uri="{FF2B5EF4-FFF2-40B4-BE49-F238E27FC236}">
                <a16:creationId xmlns:a16="http://schemas.microsoft.com/office/drawing/2014/main" id="{48EDC16A-8556-FDCB-1D20-908DC7CBBD39}"/>
              </a:ext>
            </a:extLst>
          </p:cNvPr>
          <p:cNvSpPr/>
          <p:nvPr/>
        </p:nvSpPr>
        <p:spPr>
          <a:xfrm>
            <a:off x="9238511" y="3275193"/>
            <a:ext cx="732915" cy="642295"/>
          </a:xfrm>
          <a:prstGeom prst="rect">
            <a:avLst/>
          </a:prstGeom>
          <a:solidFill>
            <a:schemeClr val="bg1"/>
          </a:solidFill>
          <a:ln w="38100">
            <a:solidFill>
              <a:schemeClr val="accent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84" name="正方形/長方形 83">
            <a:extLst>
              <a:ext uri="{FF2B5EF4-FFF2-40B4-BE49-F238E27FC236}">
                <a16:creationId xmlns:a16="http://schemas.microsoft.com/office/drawing/2014/main" id="{117F8016-2AA5-ED1D-5DE6-8296DCF99A85}"/>
              </a:ext>
            </a:extLst>
          </p:cNvPr>
          <p:cNvSpPr/>
          <p:nvPr/>
        </p:nvSpPr>
        <p:spPr>
          <a:xfrm>
            <a:off x="9225052" y="3347099"/>
            <a:ext cx="532157" cy="261610"/>
          </a:xfrm>
          <a:prstGeom prst="rect">
            <a:avLst/>
          </a:prstGeom>
          <a:noFill/>
          <a:ln w="381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Edge</a:t>
            </a:r>
            <a:br/>
            <a:r>
              <a:t>gateway</a:t>
            </a:r>
            <a:endParaRPr xmlns:a="http://schemas.openxmlformats.org/drawingml/2006/main" kumimoji="1" lang="en-US" altLang="ja-JP" sz="1100" b="1" u="sng" dirty="0">
              <a:solidFill>
                <a:schemeClr val="tx1"/>
              </a:solidFill>
            </a:endParaRPr>
          </a:p>
        </p:txBody>
      </p:sp>
      <p:sp>
        <p:nvSpPr>
          <p:cNvPr id="91" name="テキスト ボックス 90">
            <a:extLst>
              <a:ext uri="{FF2B5EF4-FFF2-40B4-BE49-F238E27FC236}">
                <a16:creationId xmlns:a16="http://schemas.microsoft.com/office/drawing/2014/main" id="{6A4A1DC0-4E70-3338-2BB7-AC0F6F403A08}"/>
              </a:ext>
            </a:extLst>
          </p:cNvPr>
          <p:cNvSpPr txBox="1"/>
          <p:nvPr/>
        </p:nvSpPr>
        <p:spPr>
          <a:xfrm>
            <a:off x="8634884" y="4308664"/>
            <a:ext cx="2630483" cy="5001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 xmlns:a="http://schemas.openxmlformats.org/drawingml/2006/main">
              <a:rPr kumimoji="1" lang="en" altLang="ja-JP" sz="1600" dirty="0"/>
              <a:t>Cloud Service</a:t>
            </a:r>
          </a:p>
          <a:p>
            <a:r xmlns:a="http://schemas.openxmlformats.org/drawingml/2006/main">
              <a:rPr lang="en" altLang="ja-JP" sz="1050" dirty="0"/>
              <a:t>(Azure, AWS, GCP…)</a:t>
            </a:r>
            <a:endParaRPr xmlns:a="http://schemas.openxmlformats.org/drawingml/2006/main" kumimoji="1" lang="ja-JP" altLang="en-US" sz="1050" dirty="0"/>
          </a:p>
        </p:txBody>
      </p:sp>
      <p:grpSp>
        <p:nvGrpSpPr>
          <p:cNvPr id="137" name="グループ化 136">
            <a:extLst>
              <a:ext uri="{FF2B5EF4-FFF2-40B4-BE49-F238E27FC236}">
                <a16:creationId xmlns:a16="http://schemas.microsoft.com/office/drawing/2014/main" id="{1FDED831-B994-5DC3-763C-8B3E27A3CF7A}"/>
              </a:ext>
            </a:extLst>
          </p:cNvPr>
          <p:cNvGrpSpPr/>
          <p:nvPr/>
        </p:nvGrpSpPr>
        <p:grpSpPr>
          <a:xfrm>
            <a:off x="7946342" y="4910402"/>
            <a:ext cx="219530" cy="195787"/>
            <a:chOff x="4649389" y="2612399"/>
            <a:chExt cx="150019" cy="134772"/>
          </a:xfrm>
          <a:solidFill>
            <a:schemeClr val="tx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cxnSp>
          <p:nvCxnSpPr>
            <p:cNvPr id="138" name="直線コネクタ 137">
              <a:extLst>
                <a:ext uri="{FF2B5EF4-FFF2-40B4-BE49-F238E27FC236}">
                  <a16:creationId xmlns:a16="http://schemas.microsoft.com/office/drawing/2014/main" id="{2E0EA3E4-B978-6C5A-A5AC-7736F0505FBC}"/>
                </a:ext>
              </a:extLst>
            </p:cNvPr>
            <p:cNvCxnSpPr>
              <a:cxnSpLocks/>
            </p:cNvCxnSpPr>
            <p:nvPr/>
          </p:nvCxnSpPr>
          <p:spPr>
            <a:xfrm>
              <a:off x="4724399" y="2612399"/>
              <a:ext cx="0" cy="134772"/>
            </a:xfrm>
            <a:prstGeom prst="line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9" name="直線コネクタ 138">
              <a:extLst>
                <a:ext uri="{FF2B5EF4-FFF2-40B4-BE49-F238E27FC236}">
                  <a16:creationId xmlns:a16="http://schemas.microsoft.com/office/drawing/2014/main" id="{BDD938C7-4AAB-11AE-9D7B-9B3D8A82A790}"/>
                </a:ext>
              </a:extLst>
            </p:cNvPr>
            <p:cNvCxnSpPr>
              <a:cxnSpLocks/>
            </p:cNvCxnSpPr>
            <p:nvPr/>
          </p:nvCxnSpPr>
          <p:spPr>
            <a:xfrm>
              <a:off x="4681536" y="2612399"/>
              <a:ext cx="0" cy="134772"/>
            </a:xfrm>
            <a:prstGeom prst="line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0" name="直線コネクタ 139">
              <a:extLst>
                <a:ext uri="{FF2B5EF4-FFF2-40B4-BE49-F238E27FC236}">
                  <a16:creationId xmlns:a16="http://schemas.microsoft.com/office/drawing/2014/main" id="{FFEA4120-BBFA-5330-48B8-C11148E18D9C}"/>
                </a:ext>
              </a:extLst>
            </p:cNvPr>
            <p:cNvCxnSpPr>
              <a:cxnSpLocks/>
            </p:cNvCxnSpPr>
            <p:nvPr/>
          </p:nvCxnSpPr>
          <p:spPr>
            <a:xfrm>
              <a:off x="4767261" y="2612399"/>
              <a:ext cx="0" cy="134772"/>
            </a:xfrm>
            <a:prstGeom prst="line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1" name="直線コネクタ 140">
              <a:extLst>
                <a:ext uri="{FF2B5EF4-FFF2-40B4-BE49-F238E27FC236}">
                  <a16:creationId xmlns:a16="http://schemas.microsoft.com/office/drawing/2014/main" id="{8B09972D-41DA-482C-5C1F-826189A7A99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649389" y="2680498"/>
              <a:ext cx="150019" cy="0"/>
            </a:xfrm>
            <a:prstGeom prst="line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2" name="直線コネクタ 141">
              <a:extLst>
                <a:ext uri="{FF2B5EF4-FFF2-40B4-BE49-F238E27FC236}">
                  <a16:creationId xmlns:a16="http://schemas.microsoft.com/office/drawing/2014/main" id="{CEDDDFD9-6B71-04FB-1E7F-D6EF553C76B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649389" y="2715424"/>
              <a:ext cx="150019" cy="0"/>
            </a:xfrm>
            <a:prstGeom prst="line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3" name="直線コネクタ 142">
              <a:extLst>
                <a:ext uri="{FF2B5EF4-FFF2-40B4-BE49-F238E27FC236}">
                  <a16:creationId xmlns:a16="http://schemas.microsoft.com/office/drawing/2014/main" id="{214B14A5-D02B-4E80-DCB6-CD5C4D6CEF9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649389" y="2647676"/>
              <a:ext cx="150019" cy="0"/>
            </a:xfrm>
            <a:prstGeom prst="line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4" name="四角形: 角を丸くする 143">
              <a:extLst>
                <a:ext uri="{FF2B5EF4-FFF2-40B4-BE49-F238E27FC236}">
                  <a16:creationId xmlns:a16="http://schemas.microsoft.com/office/drawing/2014/main" id="{3C0D1700-9359-87AD-64C3-F73504CC4701}"/>
                </a:ext>
              </a:extLst>
            </p:cNvPr>
            <p:cNvSpPr/>
            <p:nvPr/>
          </p:nvSpPr>
          <p:spPr>
            <a:xfrm>
              <a:off x="4671414" y="2631666"/>
              <a:ext cx="105970" cy="97663"/>
            </a:xfrm>
            <a:prstGeom prst="roundRect">
              <a:avLst/>
            </a:prstGeom>
            <a:grpFill/>
            <a:ln w="12700">
              <a:solidFill>
                <a:schemeClr val="tx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pPr algn="ctr" fontAlgn="auto">
                <a:lnSpc>
                  <a:spcPct val="110000"/>
                </a:lnSpc>
                <a:spcBef>
                  <a:spcPts val="200"/>
                </a:spcBef>
                <a:spcAft>
                  <a:spcPts val="200"/>
                </a:spcAft>
              </a:pPr>
              <a:endParaRPr kumimoji="1" lang="ja-JP" altLang="en-US" sz="2000" dirty="0">
                <a:latin typeface="メイリオ" panose="020B0604030504040204" pitchFamily="50" charset="-128"/>
                <a:ea typeface="メイリオ" panose="020B0604030504040204" pitchFamily="50" charset="-128"/>
              </a:endParaRPr>
            </a:p>
          </p:txBody>
        </p:sp>
      </p:grpSp>
      <p:grpSp>
        <p:nvGrpSpPr>
          <p:cNvPr id="145" name="グループ化 144">
            <a:extLst>
              <a:ext uri="{FF2B5EF4-FFF2-40B4-BE49-F238E27FC236}">
                <a16:creationId xmlns:a16="http://schemas.microsoft.com/office/drawing/2014/main" id="{04C9E9A6-EF2D-0268-076A-B30720E1EEFF}"/>
              </a:ext>
            </a:extLst>
          </p:cNvPr>
          <p:cNvGrpSpPr/>
          <p:nvPr/>
        </p:nvGrpSpPr>
        <p:grpSpPr>
          <a:xfrm>
            <a:off x="8718266" y="4918483"/>
            <a:ext cx="219530" cy="195787"/>
            <a:chOff x="4649389" y="2612399"/>
            <a:chExt cx="150019" cy="134772"/>
          </a:xfrm>
          <a:solidFill>
            <a:schemeClr val="tx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cxnSp>
          <p:nvCxnSpPr>
            <p:cNvPr id="146" name="直線コネクタ 145">
              <a:extLst>
                <a:ext uri="{FF2B5EF4-FFF2-40B4-BE49-F238E27FC236}">
                  <a16:creationId xmlns:a16="http://schemas.microsoft.com/office/drawing/2014/main" id="{21B37AB6-5743-2EC4-C029-2697F87F12D4}"/>
                </a:ext>
              </a:extLst>
            </p:cNvPr>
            <p:cNvCxnSpPr>
              <a:cxnSpLocks/>
            </p:cNvCxnSpPr>
            <p:nvPr/>
          </p:nvCxnSpPr>
          <p:spPr>
            <a:xfrm>
              <a:off x="4724399" y="2612399"/>
              <a:ext cx="0" cy="134772"/>
            </a:xfrm>
            <a:prstGeom prst="line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7" name="直線コネクタ 146">
              <a:extLst>
                <a:ext uri="{FF2B5EF4-FFF2-40B4-BE49-F238E27FC236}">
                  <a16:creationId xmlns:a16="http://schemas.microsoft.com/office/drawing/2014/main" id="{EECF0332-2A0D-97EA-1F32-AEEC81D07A4A}"/>
                </a:ext>
              </a:extLst>
            </p:cNvPr>
            <p:cNvCxnSpPr>
              <a:cxnSpLocks/>
            </p:cNvCxnSpPr>
            <p:nvPr/>
          </p:nvCxnSpPr>
          <p:spPr>
            <a:xfrm>
              <a:off x="4681536" y="2612399"/>
              <a:ext cx="0" cy="134772"/>
            </a:xfrm>
            <a:prstGeom prst="line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8" name="直線コネクタ 147">
              <a:extLst>
                <a:ext uri="{FF2B5EF4-FFF2-40B4-BE49-F238E27FC236}">
                  <a16:creationId xmlns:a16="http://schemas.microsoft.com/office/drawing/2014/main" id="{C50953EC-3864-5085-3FBC-D47254A369B6}"/>
                </a:ext>
              </a:extLst>
            </p:cNvPr>
            <p:cNvCxnSpPr>
              <a:cxnSpLocks/>
            </p:cNvCxnSpPr>
            <p:nvPr/>
          </p:nvCxnSpPr>
          <p:spPr>
            <a:xfrm>
              <a:off x="4767261" y="2612399"/>
              <a:ext cx="0" cy="134772"/>
            </a:xfrm>
            <a:prstGeom prst="line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9" name="直線コネクタ 148">
              <a:extLst>
                <a:ext uri="{FF2B5EF4-FFF2-40B4-BE49-F238E27FC236}">
                  <a16:creationId xmlns:a16="http://schemas.microsoft.com/office/drawing/2014/main" id="{54B319B3-4C4C-730B-C044-D6A126D59E4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649389" y="2680498"/>
              <a:ext cx="150019" cy="0"/>
            </a:xfrm>
            <a:prstGeom prst="line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0" name="直線コネクタ 149">
              <a:extLst>
                <a:ext uri="{FF2B5EF4-FFF2-40B4-BE49-F238E27FC236}">
                  <a16:creationId xmlns:a16="http://schemas.microsoft.com/office/drawing/2014/main" id="{B3B23539-97DA-0385-14BF-501CB54DADE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649389" y="2715424"/>
              <a:ext cx="150019" cy="0"/>
            </a:xfrm>
            <a:prstGeom prst="line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1" name="直線コネクタ 150">
              <a:extLst>
                <a:ext uri="{FF2B5EF4-FFF2-40B4-BE49-F238E27FC236}">
                  <a16:creationId xmlns:a16="http://schemas.microsoft.com/office/drawing/2014/main" id="{3A6F3634-1AE4-C245-7D28-BE582B79D24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649389" y="2647676"/>
              <a:ext cx="150019" cy="0"/>
            </a:xfrm>
            <a:prstGeom prst="line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2" name="四角形: 角を丸くする 151">
              <a:extLst>
                <a:ext uri="{FF2B5EF4-FFF2-40B4-BE49-F238E27FC236}">
                  <a16:creationId xmlns:a16="http://schemas.microsoft.com/office/drawing/2014/main" id="{34897FB5-B669-B319-8387-97828009BFBE}"/>
                </a:ext>
              </a:extLst>
            </p:cNvPr>
            <p:cNvSpPr/>
            <p:nvPr/>
          </p:nvSpPr>
          <p:spPr>
            <a:xfrm>
              <a:off x="4671414" y="2631666"/>
              <a:ext cx="105970" cy="97663"/>
            </a:xfrm>
            <a:prstGeom prst="roundRect">
              <a:avLst/>
            </a:prstGeom>
            <a:grpFill/>
            <a:ln w="12700">
              <a:solidFill>
                <a:schemeClr val="tx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pPr algn="ctr" fontAlgn="auto">
                <a:lnSpc>
                  <a:spcPct val="110000"/>
                </a:lnSpc>
                <a:spcBef>
                  <a:spcPts val="200"/>
                </a:spcBef>
                <a:spcAft>
                  <a:spcPts val="200"/>
                </a:spcAft>
              </a:pPr>
              <a:endParaRPr kumimoji="1" lang="ja-JP" altLang="en-US" sz="2000" dirty="0">
                <a:latin typeface="メイリオ" panose="020B0604030504040204" pitchFamily="50" charset="-128"/>
                <a:ea typeface="メイリオ" panose="020B0604030504040204" pitchFamily="50" charset="-128"/>
              </a:endParaRPr>
            </a:p>
          </p:txBody>
        </p:sp>
      </p:grpSp>
      <p:grpSp>
        <p:nvGrpSpPr>
          <p:cNvPr id="153" name="グループ化 152">
            <a:extLst>
              <a:ext uri="{FF2B5EF4-FFF2-40B4-BE49-F238E27FC236}">
                <a16:creationId xmlns:a16="http://schemas.microsoft.com/office/drawing/2014/main" id="{6CF444F0-3917-3DFB-1D63-7A6D47CED748}"/>
              </a:ext>
            </a:extLst>
          </p:cNvPr>
          <p:cNvGrpSpPr/>
          <p:nvPr/>
        </p:nvGrpSpPr>
        <p:grpSpPr>
          <a:xfrm>
            <a:off x="9495203" y="4919840"/>
            <a:ext cx="219530" cy="195787"/>
            <a:chOff x="4649389" y="2612399"/>
            <a:chExt cx="150019" cy="134772"/>
          </a:xfrm>
          <a:solidFill>
            <a:schemeClr val="tx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cxnSp>
          <p:nvCxnSpPr>
            <p:cNvPr id="154" name="直線コネクタ 153">
              <a:extLst>
                <a:ext uri="{FF2B5EF4-FFF2-40B4-BE49-F238E27FC236}">
                  <a16:creationId xmlns:a16="http://schemas.microsoft.com/office/drawing/2014/main" id="{10B4FEBD-068A-AE77-ABBD-3832C3E367B6}"/>
                </a:ext>
              </a:extLst>
            </p:cNvPr>
            <p:cNvCxnSpPr>
              <a:cxnSpLocks/>
            </p:cNvCxnSpPr>
            <p:nvPr/>
          </p:nvCxnSpPr>
          <p:spPr>
            <a:xfrm>
              <a:off x="4724399" y="2612399"/>
              <a:ext cx="0" cy="134772"/>
            </a:xfrm>
            <a:prstGeom prst="line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5" name="直線コネクタ 154">
              <a:extLst>
                <a:ext uri="{FF2B5EF4-FFF2-40B4-BE49-F238E27FC236}">
                  <a16:creationId xmlns:a16="http://schemas.microsoft.com/office/drawing/2014/main" id="{E2D7F27A-D291-2D03-AC2D-FBD046DB7272}"/>
                </a:ext>
              </a:extLst>
            </p:cNvPr>
            <p:cNvCxnSpPr>
              <a:cxnSpLocks/>
            </p:cNvCxnSpPr>
            <p:nvPr/>
          </p:nvCxnSpPr>
          <p:spPr>
            <a:xfrm>
              <a:off x="4681536" y="2612399"/>
              <a:ext cx="0" cy="134772"/>
            </a:xfrm>
            <a:prstGeom prst="line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6" name="直線コネクタ 155">
              <a:extLst>
                <a:ext uri="{FF2B5EF4-FFF2-40B4-BE49-F238E27FC236}">
                  <a16:creationId xmlns:a16="http://schemas.microsoft.com/office/drawing/2014/main" id="{55B9E491-BE6F-12EF-0329-CA29E3ECB43E}"/>
                </a:ext>
              </a:extLst>
            </p:cNvPr>
            <p:cNvCxnSpPr>
              <a:cxnSpLocks/>
            </p:cNvCxnSpPr>
            <p:nvPr/>
          </p:nvCxnSpPr>
          <p:spPr>
            <a:xfrm>
              <a:off x="4767261" y="2612399"/>
              <a:ext cx="0" cy="134772"/>
            </a:xfrm>
            <a:prstGeom prst="line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7" name="直線コネクタ 156">
              <a:extLst>
                <a:ext uri="{FF2B5EF4-FFF2-40B4-BE49-F238E27FC236}">
                  <a16:creationId xmlns:a16="http://schemas.microsoft.com/office/drawing/2014/main" id="{1734DF22-47BB-BDE7-56F6-63EAEF7A153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649389" y="2680498"/>
              <a:ext cx="150019" cy="0"/>
            </a:xfrm>
            <a:prstGeom prst="line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8" name="直線コネクタ 157">
              <a:extLst>
                <a:ext uri="{FF2B5EF4-FFF2-40B4-BE49-F238E27FC236}">
                  <a16:creationId xmlns:a16="http://schemas.microsoft.com/office/drawing/2014/main" id="{D71E3E08-AE54-85BB-75F5-AB0E0F4C82A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649389" y="2715424"/>
              <a:ext cx="150019" cy="0"/>
            </a:xfrm>
            <a:prstGeom prst="line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9" name="直線コネクタ 158">
              <a:extLst>
                <a:ext uri="{FF2B5EF4-FFF2-40B4-BE49-F238E27FC236}">
                  <a16:creationId xmlns:a16="http://schemas.microsoft.com/office/drawing/2014/main" id="{28D56B9F-6BEA-45DD-7E7D-F6E527DCCE5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649389" y="2647676"/>
              <a:ext cx="150019" cy="0"/>
            </a:xfrm>
            <a:prstGeom prst="line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0" name="四角形: 角を丸くする 159">
              <a:extLst>
                <a:ext uri="{FF2B5EF4-FFF2-40B4-BE49-F238E27FC236}">
                  <a16:creationId xmlns:a16="http://schemas.microsoft.com/office/drawing/2014/main" id="{57D3DAD5-DB14-5FE3-8106-0EB59715030A}"/>
                </a:ext>
              </a:extLst>
            </p:cNvPr>
            <p:cNvSpPr/>
            <p:nvPr/>
          </p:nvSpPr>
          <p:spPr>
            <a:xfrm>
              <a:off x="4671414" y="2631666"/>
              <a:ext cx="105970" cy="97663"/>
            </a:xfrm>
            <a:prstGeom prst="roundRect">
              <a:avLst/>
            </a:prstGeom>
            <a:grpFill/>
            <a:ln w="12700">
              <a:solidFill>
                <a:schemeClr val="tx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pPr algn="ctr" fontAlgn="auto">
                <a:lnSpc>
                  <a:spcPct val="110000"/>
                </a:lnSpc>
                <a:spcBef>
                  <a:spcPts val="200"/>
                </a:spcBef>
                <a:spcAft>
                  <a:spcPts val="200"/>
                </a:spcAft>
              </a:pPr>
              <a:endParaRPr kumimoji="1" lang="ja-JP" altLang="en-US" sz="2000" dirty="0">
                <a:latin typeface="メイリオ" panose="020B0604030504040204" pitchFamily="50" charset="-128"/>
                <a:ea typeface="メイリオ" panose="020B0604030504040204" pitchFamily="50" charset="-128"/>
              </a:endParaRPr>
            </a:p>
          </p:txBody>
        </p:sp>
      </p:grpSp>
      <p:grpSp>
        <p:nvGrpSpPr>
          <p:cNvPr id="161" name="グループ化 160">
            <a:extLst>
              <a:ext uri="{FF2B5EF4-FFF2-40B4-BE49-F238E27FC236}">
                <a16:creationId xmlns:a16="http://schemas.microsoft.com/office/drawing/2014/main" id="{7D781BB8-3E32-EB35-2798-013765455F5F}"/>
              </a:ext>
            </a:extLst>
          </p:cNvPr>
          <p:cNvGrpSpPr/>
          <p:nvPr/>
        </p:nvGrpSpPr>
        <p:grpSpPr>
          <a:xfrm>
            <a:off x="10228028" y="4808801"/>
            <a:ext cx="415315" cy="313037"/>
            <a:chOff x="4649389" y="2612399"/>
            <a:chExt cx="150019" cy="134772"/>
          </a:xfrm>
          <a:solidFill>
            <a:schemeClr val="accent6">
              <a:lumMod val="60000"/>
              <a:lumOff val="4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cxnSp>
          <p:nvCxnSpPr>
            <p:cNvPr id="162" name="直線コネクタ 161">
              <a:extLst>
                <a:ext uri="{FF2B5EF4-FFF2-40B4-BE49-F238E27FC236}">
                  <a16:creationId xmlns:a16="http://schemas.microsoft.com/office/drawing/2014/main" id="{A6259F75-365A-682A-0D27-31E1A76ECE60}"/>
                </a:ext>
              </a:extLst>
            </p:cNvPr>
            <p:cNvCxnSpPr>
              <a:cxnSpLocks/>
            </p:cNvCxnSpPr>
            <p:nvPr/>
          </p:nvCxnSpPr>
          <p:spPr>
            <a:xfrm>
              <a:off x="4724399" y="2612399"/>
              <a:ext cx="0" cy="134772"/>
            </a:xfrm>
            <a:prstGeom prst="line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3" name="直線コネクタ 162">
              <a:extLst>
                <a:ext uri="{FF2B5EF4-FFF2-40B4-BE49-F238E27FC236}">
                  <a16:creationId xmlns:a16="http://schemas.microsoft.com/office/drawing/2014/main" id="{873007E0-3D10-5073-AD4C-10E07CFFD407}"/>
                </a:ext>
              </a:extLst>
            </p:cNvPr>
            <p:cNvCxnSpPr>
              <a:cxnSpLocks/>
            </p:cNvCxnSpPr>
            <p:nvPr/>
          </p:nvCxnSpPr>
          <p:spPr>
            <a:xfrm>
              <a:off x="4681536" y="2612399"/>
              <a:ext cx="0" cy="134772"/>
            </a:xfrm>
            <a:prstGeom prst="line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4" name="直線コネクタ 163">
              <a:extLst>
                <a:ext uri="{FF2B5EF4-FFF2-40B4-BE49-F238E27FC236}">
                  <a16:creationId xmlns:a16="http://schemas.microsoft.com/office/drawing/2014/main" id="{6868A8FD-D45F-9DC5-C579-19E7562B2EAB}"/>
                </a:ext>
              </a:extLst>
            </p:cNvPr>
            <p:cNvCxnSpPr>
              <a:cxnSpLocks/>
            </p:cNvCxnSpPr>
            <p:nvPr/>
          </p:nvCxnSpPr>
          <p:spPr>
            <a:xfrm>
              <a:off x="4767261" y="2612399"/>
              <a:ext cx="0" cy="134772"/>
            </a:xfrm>
            <a:prstGeom prst="line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5" name="直線コネクタ 164">
              <a:extLst>
                <a:ext uri="{FF2B5EF4-FFF2-40B4-BE49-F238E27FC236}">
                  <a16:creationId xmlns:a16="http://schemas.microsoft.com/office/drawing/2014/main" id="{27ACB3AD-3EB0-8A18-611A-F6FF3F6851C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649389" y="2680498"/>
              <a:ext cx="150019" cy="0"/>
            </a:xfrm>
            <a:prstGeom prst="line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6" name="直線コネクタ 165">
              <a:extLst>
                <a:ext uri="{FF2B5EF4-FFF2-40B4-BE49-F238E27FC236}">
                  <a16:creationId xmlns:a16="http://schemas.microsoft.com/office/drawing/2014/main" id="{7A9E6165-C9FF-E18F-7600-468AE4C9930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649389" y="2715424"/>
              <a:ext cx="150019" cy="0"/>
            </a:xfrm>
            <a:prstGeom prst="line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7" name="直線コネクタ 166">
              <a:extLst>
                <a:ext uri="{FF2B5EF4-FFF2-40B4-BE49-F238E27FC236}">
                  <a16:creationId xmlns:a16="http://schemas.microsoft.com/office/drawing/2014/main" id="{E86661D4-F161-903F-C5A7-39FE09D3F8A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649389" y="2647676"/>
              <a:ext cx="150019" cy="0"/>
            </a:xfrm>
            <a:prstGeom prst="line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8" name="四角形: 角を丸くする 167">
              <a:extLst>
                <a:ext uri="{FF2B5EF4-FFF2-40B4-BE49-F238E27FC236}">
                  <a16:creationId xmlns:a16="http://schemas.microsoft.com/office/drawing/2014/main" id="{F7A4D60D-7F41-BA6D-108A-0FE89C0BC5F3}"/>
                </a:ext>
              </a:extLst>
            </p:cNvPr>
            <p:cNvSpPr/>
            <p:nvPr/>
          </p:nvSpPr>
          <p:spPr>
            <a:xfrm>
              <a:off x="4671414" y="2631666"/>
              <a:ext cx="105970" cy="97663"/>
            </a:xfrm>
            <a:prstGeom prst="roundRect">
              <a:avLst/>
            </a:prstGeom>
            <a:grpFill/>
            <a:ln w="12700">
              <a:solidFill>
                <a:schemeClr val="tx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pPr algn="ctr" fontAlgn="auto">
                <a:lnSpc>
                  <a:spcPct val="110000"/>
                </a:lnSpc>
                <a:spcBef>
                  <a:spcPts val="200"/>
                </a:spcBef>
                <a:spcAft>
                  <a:spcPts val="200"/>
                </a:spcAft>
              </a:pPr>
              <a:endParaRPr kumimoji="1" lang="ja-JP" altLang="en-US" sz="2000" dirty="0">
                <a:latin typeface="メイリオ" panose="020B0604030504040204" pitchFamily="50" charset="-128"/>
                <a:ea typeface="メイリオ" panose="020B0604030504040204" pitchFamily="50" charset="-128"/>
              </a:endParaRPr>
            </a:p>
          </p:txBody>
        </p:sp>
      </p:grpSp>
      <p:sp>
        <p:nvSpPr>
          <p:cNvPr id="169" name="テキスト ボックス 168">
            <a:extLst>
              <a:ext uri="{FF2B5EF4-FFF2-40B4-BE49-F238E27FC236}">
                <a16:creationId xmlns:a16="http://schemas.microsoft.com/office/drawing/2014/main" id="{1862ADB5-78A9-FF6E-E64F-E04E799618D0}"/>
              </a:ext>
            </a:extLst>
          </p:cNvPr>
          <p:cNvSpPr txBox="1"/>
          <p:nvPr/>
        </p:nvSpPr>
        <p:spPr>
          <a:xfrm>
            <a:off x="7891138" y="4923353"/>
            <a:ext cx="618178" cy="1692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 xmlns:a="http://schemas.openxmlformats.org/drawingml/2006/main">
              <a:rPr kumimoji="1" lang="en" altLang="ja-JP" sz="500" b="1" dirty="0">
                <a:solidFill>
                  <a:schemeClr val="bg1"/>
                </a:solidFill>
              </a:rPr>
              <a:t>CPU</a:t>
            </a:r>
            <a:endParaRPr xmlns:a="http://schemas.openxmlformats.org/drawingml/2006/main" kumimoji="1" lang="ja-JP" altLang="en-US" sz="500" b="1" dirty="0">
              <a:solidFill>
                <a:schemeClr val="bg1"/>
              </a:solidFill>
            </a:endParaRPr>
          </a:p>
        </p:txBody>
      </p:sp>
      <p:sp>
        <p:nvSpPr>
          <p:cNvPr id="170" name="テキスト ボックス 169">
            <a:extLst>
              <a:ext uri="{FF2B5EF4-FFF2-40B4-BE49-F238E27FC236}">
                <a16:creationId xmlns:a16="http://schemas.microsoft.com/office/drawing/2014/main" id="{C16BAEF8-DB4C-3D07-8FC3-9C8C8BDBDD99}"/>
              </a:ext>
            </a:extLst>
          </p:cNvPr>
          <p:cNvSpPr txBox="1"/>
          <p:nvPr/>
        </p:nvSpPr>
        <p:spPr>
          <a:xfrm>
            <a:off x="8653828" y="4941998"/>
            <a:ext cx="618178" cy="1692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 xmlns:a="http://schemas.openxmlformats.org/drawingml/2006/main">
              <a:rPr kumimoji="1" lang="en" altLang="ja-JP" sz="500" b="1" dirty="0">
                <a:solidFill>
                  <a:schemeClr val="bg1"/>
                </a:solidFill>
              </a:rPr>
              <a:t>CPU</a:t>
            </a:r>
            <a:endParaRPr xmlns:a="http://schemas.openxmlformats.org/drawingml/2006/main" kumimoji="1" lang="ja-JP" altLang="en-US" sz="500" b="1" dirty="0">
              <a:solidFill>
                <a:schemeClr val="bg1"/>
              </a:solidFill>
            </a:endParaRPr>
          </a:p>
        </p:txBody>
      </p:sp>
      <p:sp>
        <p:nvSpPr>
          <p:cNvPr id="171" name="テキスト ボックス 170">
            <a:extLst>
              <a:ext uri="{FF2B5EF4-FFF2-40B4-BE49-F238E27FC236}">
                <a16:creationId xmlns:a16="http://schemas.microsoft.com/office/drawing/2014/main" id="{7BB326F4-F9A1-7B52-49BD-E7A3BBF0EB5C}"/>
              </a:ext>
            </a:extLst>
          </p:cNvPr>
          <p:cNvSpPr txBox="1"/>
          <p:nvPr/>
        </p:nvSpPr>
        <p:spPr>
          <a:xfrm>
            <a:off x="9440368" y="4941998"/>
            <a:ext cx="618178" cy="1692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 xmlns:a="http://schemas.openxmlformats.org/drawingml/2006/main">
              <a:rPr kumimoji="1" lang="en" altLang="ja-JP" sz="500" b="1" dirty="0">
                <a:solidFill>
                  <a:schemeClr val="bg1"/>
                </a:solidFill>
              </a:rPr>
              <a:t>CPU</a:t>
            </a:r>
            <a:endParaRPr xmlns:a="http://schemas.openxmlformats.org/drawingml/2006/main" kumimoji="1" lang="ja-JP" altLang="en-US" sz="500" b="1" dirty="0">
              <a:solidFill>
                <a:schemeClr val="bg1"/>
              </a:solidFill>
            </a:endParaRPr>
          </a:p>
        </p:txBody>
      </p:sp>
      <p:sp>
        <p:nvSpPr>
          <p:cNvPr id="172" name="テキスト ボックス 171">
            <a:extLst>
              <a:ext uri="{FF2B5EF4-FFF2-40B4-BE49-F238E27FC236}">
                <a16:creationId xmlns:a16="http://schemas.microsoft.com/office/drawing/2014/main" id="{01C953BB-E29E-CD6F-ED46-47A1C0B0934A}"/>
              </a:ext>
            </a:extLst>
          </p:cNvPr>
          <p:cNvSpPr txBox="1"/>
          <p:nvPr/>
        </p:nvSpPr>
        <p:spPr>
          <a:xfrm>
            <a:off x="10213559" y="4868554"/>
            <a:ext cx="618178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 xmlns:a="http://schemas.openxmlformats.org/drawingml/2006/main">
              <a:rPr lang="en" altLang="ja-JP" sz="9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GPU</a:t>
            </a:r>
            <a:r xmlns:a="http://schemas.openxmlformats.org/drawingml/2006/main">
              <a:rPr kumimoji="1" lang="en" altLang="ja-JP" sz="9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​</a:t>
            </a:r>
            <a:endParaRPr xmlns:a="http://schemas.openxmlformats.org/drawingml/2006/main" kumimoji="1" lang="ja-JP" altLang="en-US" sz="900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73" name="正方形/長方形 172">
            <a:extLst>
              <a:ext uri="{FF2B5EF4-FFF2-40B4-BE49-F238E27FC236}">
                <a16:creationId xmlns:a16="http://schemas.microsoft.com/office/drawing/2014/main" id="{C34DED16-459D-5DE5-B459-A273AC2321E6}"/>
              </a:ext>
            </a:extLst>
          </p:cNvPr>
          <p:cNvSpPr/>
          <p:nvPr/>
        </p:nvSpPr>
        <p:spPr>
          <a:xfrm>
            <a:off x="10476134" y="3862537"/>
            <a:ext cx="788664" cy="445279"/>
          </a:xfrm>
          <a:prstGeom prst="rect">
            <a:avLst/>
          </a:prstGeom>
          <a:solidFill>
            <a:schemeClr val="bg1"/>
          </a:solidFill>
          <a:ln w="38100">
            <a:solidFill>
              <a:schemeClr val="accent6">
                <a:lumMod val="5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xmlns:a="http://schemas.openxmlformats.org/drawingml/2006/main" algn="ctr"/>
            <a:r>
              <a:t>FPGA accelerator</a:t>
            </a:r>
            <a:endParaRPr xmlns:a="http://schemas.openxmlformats.org/drawingml/2006/main" kumimoji="1" lang="ja-JP" altLang="en-US" sz="1050" b="1" u="sng" dirty="0">
              <a:solidFill>
                <a:schemeClr val="tx1"/>
              </a:solidFill>
            </a:endParaRPr>
          </a:p>
        </p:txBody>
      </p:sp>
      <p:sp>
        <p:nvSpPr>
          <p:cNvPr id="174" name="テキスト ボックス 173">
            <a:extLst>
              <a:ext uri="{FF2B5EF4-FFF2-40B4-BE49-F238E27FC236}">
                <a16:creationId xmlns:a16="http://schemas.microsoft.com/office/drawing/2014/main" id="{AC4BB584-B4AC-DAD8-4254-5C658BA6FF97}"/>
              </a:ext>
            </a:extLst>
          </p:cNvPr>
          <p:cNvSpPr txBox="1"/>
          <p:nvPr/>
        </p:nvSpPr>
        <p:spPr>
          <a:xfrm>
            <a:off x="10317024" y="5180466"/>
            <a:ext cx="129979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t>Zynq / Artix-class</a:t>
            </a:r>
          </a:p>
        </p:txBody>
      </p:sp>
      <p:sp>
        <p:nvSpPr>
          <p:cNvPr id="175" name="テキスト ボックス 174">
            <a:extLst>
              <a:ext uri="{FF2B5EF4-FFF2-40B4-BE49-F238E27FC236}">
                <a16:creationId xmlns:a16="http://schemas.microsoft.com/office/drawing/2014/main" id="{F7AD5B35-B7DC-7EA2-A25F-DEC2603367F1}"/>
              </a:ext>
            </a:extLst>
          </p:cNvPr>
          <p:cNvSpPr txBox="1"/>
          <p:nvPr/>
        </p:nvSpPr>
        <p:spPr>
          <a:xfrm>
            <a:off x="8443455" y="5198660"/>
            <a:ext cx="129979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t>ARM IoT gateway</a:t>
            </a:r>
          </a:p>
        </p:txBody>
      </p:sp>
      <p:sp>
        <p:nvSpPr>
          <p:cNvPr id="176" name="正方形/長方形 175">
            <a:extLst>
              <a:ext uri="{FF2B5EF4-FFF2-40B4-BE49-F238E27FC236}">
                <a16:creationId xmlns:a16="http://schemas.microsoft.com/office/drawing/2014/main" id="{A0292F90-E22B-0FA6-FDC8-D35E215CC88D}"/>
              </a:ext>
            </a:extLst>
          </p:cNvPr>
          <p:cNvSpPr/>
          <p:nvPr/>
        </p:nvSpPr>
        <p:spPr>
          <a:xfrm>
            <a:off x="7193940" y="4197921"/>
            <a:ext cx="1147998" cy="333974"/>
          </a:xfrm>
          <a:prstGeom prst="rect">
            <a:avLst/>
          </a:prstGeom>
          <a:solidFill>
            <a:schemeClr val="bg1"/>
          </a:solidFill>
          <a:ln w="38100">
            <a:solidFill>
              <a:schemeClr val="accent6">
                <a:lumMod val="5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050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24EB5817-0CBB-9117-A6D3-22C58946667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79380" y="4238020"/>
            <a:ext cx="977117" cy="2369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79" name="楕円 178">
            <a:extLst>
              <a:ext uri="{FF2B5EF4-FFF2-40B4-BE49-F238E27FC236}">
                <a16:creationId xmlns:a16="http://schemas.microsoft.com/office/drawing/2014/main" id="{8D7783B3-AB29-320E-4659-7260B7EBA5BC}"/>
              </a:ext>
            </a:extLst>
          </p:cNvPr>
          <p:cNvSpPr/>
          <p:nvPr/>
        </p:nvSpPr>
        <p:spPr>
          <a:xfrm>
            <a:off x="8894756" y="2085152"/>
            <a:ext cx="279400" cy="236897"/>
          </a:xfrm>
          <a:prstGeom prst="ellipse">
            <a:avLst/>
          </a:prstGeom>
          <a:solidFill>
            <a:schemeClr val="accent5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80" name="二等辺三角形 179">
            <a:extLst>
              <a:ext uri="{FF2B5EF4-FFF2-40B4-BE49-F238E27FC236}">
                <a16:creationId xmlns:a16="http://schemas.microsoft.com/office/drawing/2014/main" id="{B28524E2-98D6-E14E-E119-65224E16141B}"/>
              </a:ext>
            </a:extLst>
          </p:cNvPr>
          <p:cNvSpPr/>
          <p:nvPr/>
        </p:nvSpPr>
        <p:spPr>
          <a:xfrm>
            <a:off x="8877822" y="2233569"/>
            <a:ext cx="313262" cy="250605"/>
          </a:xfrm>
          <a:prstGeom prst="triangle">
            <a:avLst/>
          </a:prstGeom>
          <a:solidFill>
            <a:schemeClr val="accent5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181" name="直線矢印コネクタ 180">
            <a:extLst>
              <a:ext uri="{FF2B5EF4-FFF2-40B4-BE49-F238E27FC236}">
                <a16:creationId xmlns:a16="http://schemas.microsoft.com/office/drawing/2014/main" id="{6D559740-C58E-C5E1-3981-D1A11E49BDA3}"/>
              </a:ext>
            </a:extLst>
          </p:cNvPr>
          <p:cNvCxnSpPr>
            <a:cxnSpLocks/>
          </p:cNvCxnSpPr>
          <p:nvPr/>
        </p:nvCxnSpPr>
        <p:spPr>
          <a:xfrm>
            <a:off x="9028830" y="2595702"/>
            <a:ext cx="0" cy="478491"/>
          </a:xfrm>
          <a:prstGeom prst="straightConnector1">
            <a:avLst/>
          </a:prstGeom>
          <a:ln w="28575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3" name="テキスト ボックス 182">
            <a:extLst>
              <a:ext uri="{FF2B5EF4-FFF2-40B4-BE49-F238E27FC236}">
                <a16:creationId xmlns:a16="http://schemas.microsoft.com/office/drawing/2014/main" id="{D6777AF8-CACB-D31D-FC59-BCD1739D225B}"/>
              </a:ext>
            </a:extLst>
          </p:cNvPr>
          <p:cNvSpPr txBox="1"/>
          <p:nvPr/>
        </p:nvSpPr>
        <p:spPr>
          <a:xfrm>
            <a:off x="9041533" y="2709505"/>
            <a:ext cx="257528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t>Using hybrid QML pipelines on constrained edge hardware</a:t>
            </a:r>
            <a:endParaRPr xmlns:a="http://schemas.openxmlformats.org/drawingml/2006/main" lang="en-US" altLang="ja-JP" sz="1100" b="1" dirty="0"/>
          </a:p>
        </p:txBody>
      </p:sp>
      <p:sp>
        <p:nvSpPr>
          <p:cNvPr id="184" name="テキスト ボックス 183">
            <a:extLst>
              <a:ext uri="{FF2B5EF4-FFF2-40B4-BE49-F238E27FC236}">
                <a16:creationId xmlns:a16="http://schemas.microsoft.com/office/drawing/2014/main" id="{0F9DB139-63D0-CC30-1ADB-21E902877C91}"/>
              </a:ext>
            </a:extLst>
          </p:cNvPr>
          <p:cNvSpPr txBox="1"/>
          <p:nvPr/>
        </p:nvSpPr>
        <p:spPr>
          <a:xfrm>
            <a:off x="9225052" y="2023617"/>
            <a:ext cx="105766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 xmlns:a="http://schemas.openxmlformats.org/drawingml/2006/main">
              <a:rPr kumimoji="1" lang="en" altLang="en-US" sz="1400" dirty="0"/>
              <a:t>User</a:t>
            </a:r>
          </a:p>
        </p:txBody>
      </p:sp>
      <p:sp>
        <p:nvSpPr>
          <p:cNvPr id="185" name="楕円 184">
            <a:extLst>
              <a:ext uri="{FF2B5EF4-FFF2-40B4-BE49-F238E27FC236}">
                <a16:creationId xmlns:a16="http://schemas.microsoft.com/office/drawing/2014/main" id="{839CF0A2-DD69-3DA7-1C9F-90B8FFB7EFD7}"/>
              </a:ext>
            </a:extLst>
          </p:cNvPr>
          <p:cNvSpPr/>
          <p:nvPr/>
        </p:nvSpPr>
        <p:spPr>
          <a:xfrm>
            <a:off x="8878660" y="6133950"/>
            <a:ext cx="279400" cy="236897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86" name="二等辺三角形 185">
            <a:extLst>
              <a:ext uri="{FF2B5EF4-FFF2-40B4-BE49-F238E27FC236}">
                <a16:creationId xmlns:a16="http://schemas.microsoft.com/office/drawing/2014/main" id="{E89CD8E2-57CD-70B1-1907-C6ECBA76E6A3}"/>
              </a:ext>
            </a:extLst>
          </p:cNvPr>
          <p:cNvSpPr/>
          <p:nvPr/>
        </p:nvSpPr>
        <p:spPr>
          <a:xfrm>
            <a:off x="8861726" y="6282367"/>
            <a:ext cx="313262" cy="250605"/>
          </a:xfrm>
          <a:prstGeom prst="triangle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188" name="直線矢印コネクタ 187">
            <a:extLst>
              <a:ext uri="{FF2B5EF4-FFF2-40B4-BE49-F238E27FC236}">
                <a16:creationId xmlns:a16="http://schemas.microsoft.com/office/drawing/2014/main" id="{AB7ABC3F-9B80-6A65-4CAD-6A951ACBB01F}"/>
              </a:ext>
            </a:extLst>
          </p:cNvPr>
          <p:cNvCxnSpPr>
            <a:cxnSpLocks/>
          </p:cNvCxnSpPr>
          <p:nvPr/>
        </p:nvCxnSpPr>
        <p:spPr>
          <a:xfrm flipV="1">
            <a:off x="9018357" y="5524188"/>
            <a:ext cx="0" cy="530455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0" name="テキスト ボックス 189">
            <a:extLst>
              <a:ext uri="{FF2B5EF4-FFF2-40B4-BE49-F238E27FC236}">
                <a16:creationId xmlns:a16="http://schemas.microsoft.com/office/drawing/2014/main" id="{68B26FC0-A764-D46A-7A25-0DF18C9EE86C}"/>
              </a:ext>
            </a:extLst>
          </p:cNvPr>
          <p:cNvSpPr txBox="1"/>
          <p:nvPr/>
        </p:nvSpPr>
        <p:spPr>
          <a:xfrm>
            <a:off x="9272006" y="6312722"/>
            <a:ext cx="186207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t>Edge platform operators</a:t>
            </a:r>
          </a:p>
        </p:txBody>
      </p:sp>
      <p:sp>
        <p:nvSpPr>
          <p:cNvPr id="191" name="テキスト ボックス 190">
            <a:extLst>
              <a:ext uri="{FF2B5EF4-FFF2-40B4-BE49-F238E27FC236}">
                <a16:creationId xmlns:a16="http://schemas.microsoft.com/office/drawing/2014/main" id="{754C2886-2F40-3DBF-A85F-8EC0542106B6}"/>
              </a:ext>
            </a:extLst>
          </p:cNvPr>
          <p:cNvSpPr txBox="1"/>
          <p:nvPr/>
        </p:nvSpPr>
        <p:spPr>
          <a:xfrm>
            <a:off x="9093353" y="5633003"/>
            <a:ext cx="2575287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t>Trains on simulator/cloud; deploys compressed inference on a single embedded platform.</a:t>
            </a:r>
            <a:endParaRPr xmlns:a="http://schemas.openxmlformats.org/drawingml/2006/main" lang="en-US" altLang="ja-JP" sz="1100" b="1" dirty="0"/>
          </a:p>
        </p:txBody>
      </p:sp>
      <p:cxnSp>
        <p:nvCxnSpPr>
          <p:cNvPr id="1032" name="直線矢印コネクタ 1031">
            <a:extLst>
              <a:ext uri="{FF2B5EF4-FFF2-40B4-BE49-F238E27FC236}">
                <a16:creationId xmlns:a16="http://schemas.microsoft.com/office/drawing/2014/main" id="{5BB7FB2F-3AE0-0094-AF50-7F02E6C35DFE}"/>
              </a:ext>
            </a:extLst>
          </p:cNvPr>
          <p:cNvCxnSpPr>
            <a:cxnSpLocks/>
          </p:cNvCxnSpPr>
          <p:nvPr/>
        </p:nvCxnSpPr>
        <p:spPr>
          <a:xfrm>
            <a:off x="7334933" y="2846868"/>
            <a:ext cx="286048" cy="202457"/>
          </a:xfrm>
          <a:prstGeom prst="straightConnector1">
            <a:avLst/>
          </a:prstGeom>
          <a:ln w="190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" name="十字形 63">
            <a:extLst>
              <a:ext uri="{FF2B5EF4-FFF2-40B4-BE49-F238E27FC236}">
                <a16:creationId xmlns:a16="http://schemas.microsoft.com/office/drawing/2014/main" id="{1F3C8778-E884-3A7B-51D0-2AAF4CCC3373}"/>
              </a:ext>
            </a:extLst>
          </p:cNvPr>
          <p:cNvSpPr/>
          <p:nvPr/>
        </p:nvSpPr>
        <p:spPr>
          <a:xfrm rot="2725944">
            <a:off x="7660409" y="2980838"/>
            <a:ext cx="335114" cy="341641"/>
          </a:xfrm>
          <a:prstGeom prst="plus">
            <a:avLst>
              <a:gd name="adj" fmla="val 40720"/>
            </a:avLst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39" name="楕円 1038">
            <a:extLst>
              <a:ext uri="{FF2B5EF4-FFF2-40B4-BE49-F238E27FC236}">
                <a16:creationId xmlns:a16="http://schemas.microsoft.com/office/drawing/2014/main" id="{25F630FB-4C79-36B9-B9C1-F38A1CF36F58}"/>
              </a:ext>
            </a:extLst>
          </p:cNvPr>
          <p:cNvSpPr/>
          <p:nvPr/>
        </p:nvSpPr>
        <p:spPr>
          <a:xfrm>
            <a:off x="7090817" y="2373249"/>
            <a:ext cx="279400" cy="236897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40" name="二等辺三角形 1039">
            <a:extLst>
              <a:ext uri="{FF2B5EF4-FFF2-40B4-BE49-F238E27FC236}">
                <a16:creationId xmlns:a16="http://schemas.microsoft.com/office/drawing/2014/main" id="{887CB736-2102-AA57-B093-346E136E19A9}"/>
              </a:ext>
            </a:extLst>
          </p:cNvPr>
          <p:cNvSpPr/>
          <p:nvPr/>
        </p:nvSpPr>
        <p:spPr>
          <a:xfrm>
            <a:off x="7073883" y="2521666"/>
            <a:ext cx="313262" cy="250605"/>
          </a:xfrm>
          <a:prstGeom prst="triangl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41" name="二等辺三角形 1040">
            <a:extLst>
              <a:ext uri="{FF2B5EF4-FFF2-40B4-BE49-F238E27FC236}">
                <a16:creationId xmlns:a16="http://schemas.microsoft.com/office/drawing/2014/main" id="{264918BF-533F-9C93-36CF-E157B8295B29}"/>
              </a:ext>
            </a:extLst>
          </p:cNvPr>
          <p:cNvSpPr/>
          <p:nvPr/>
        </p:nvSpPr>
        <p:spPr>
          <a:xfrm rot="1371790" flipV="1">
            <a:off x="7028330" y="2421446"/>
            <a:ext cx="194373" cy="88952"/>
          </a:xfrm>
          <a:prstGeom prst="triangle">
            <a:avLst>
              <a:gd name="adj" fmla="val 50000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00"/>
          </a:p>
        </p:txBody>
      </p:sp>
      <p:sp>
        <p:nvSpPr>
          <p:cNvPr id="1042" name="二等辺三角形 1041">
            <a:extLst>
              <a:ext uri="{FF2B5EF4-FFF2-40B4-BE49-F238E27FC236}">
                <a16:creationId xmlns:a16="http://schemas.microsoft.com/office/drawing/2014/main" id="{5371437C-AF72-CA8D-88A0-D1EBD662FD54}"/>
              </a:ext>
            </a:extLst>
          </p:cNvPr>
          <p:cNvSpPr/>
          <p:nvPr/>
        </p:nvSpPr>
        <p:spPr>
          <a:xfrm rot="20130143" flipV="1">
            <a:off x="7238276" y="2421446"/>
            <a:ext cx="194373" cy="88952"/>
          </a:xfrm>
          <a:prstGeom prst="triangle">
            <a:avLst>
              <a:gd name="adj" fmla="val 50000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00"/>
          </a:p>
        </p:txBody>
      </p:sp>
      <p:sp>
        <p:nvSpPr>
          <p:cNvPr id="1043" name="テキスト ボックス 1042">
            <a:extLst>
              <a:ext uri="{FF2B5EF4-FFF2-40B4-BE49-F238E27FC236}">
                <a16:creationId xmlns:a16="http://schemas.microsoft.com/office/drawing/2014/main" id="{BBD567F6-4D70-A233-E8B0-FF8D1F5DDF15}"/>
              </a:ext>
            </a:extLst>
          </p:cNvPr>
          <p:cNvSpPr txBox="1"/>
          <p:nvPr/>
        </p:nvSpPr>
        <p:spPr>
          <a:xfrm>
            <a:off x="7400433" y="2461008"/>
            <a:ext cx="105766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 xmlns:a="http://schemas.openxmlformats.org/drawingml/2006/main">
              <a:rPr kumimoji="1" lang="en" altLang="en-US" sz="1400" dirty="0"/>
              <a:t>Attacker</a:t>
            </a:r>
          </a:p>
        </p:txBody>
      </p:sp>
      <p:sp>
        <p:nvSpPr>
          <p:cNvPr id="1044" name="思考の吹き出し: 雲形 1043">
            <a:extLst>
              <a:ext uri="{FF2B5EF4-FFF2-40B4-BE49-F238E27FC236}">
                <a16:creationId xmlns:a16="http://schemas.microsoft.com/office/drawing/2014/main" id="{2E40A374-6F3D-B500-06A0-368DB840D2E2}"/>
              </a:ext>
            </a:extLst>
          </p:cNvPr>
          <p:cNvSpPr/>
          <p:nvPr/>
        </p:nvSpPr>
        <p:spPr>
          <a:xfrm>
            <a:off x="10146676" y="1884341"/>
            <a:ext cx="1640492" cy="653712"/>
          </a:xfrm>
          <a:prstGeom prst="cloudCallout">
            <a:avLst>
              <a:gd name="adj1" fmla="val -64022"/>
              <a:gd name="adj2" fmla="val 10360"/>
            </a:avLst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bg1"/>
              </a:solidFill>
            </a:endParaRPr>
          </a:p>
        </p:txBody>
      </p:sp>
      <p:sp>
        <p:nvSpPr>
          <p:cNvPr id="1045" name="テキスト ボックス 1044">
            <a:extLst>
              <a:ext uri="{FF2B5EF4-FFF2-40B4-BE49-F238E27FC236}">
                <a16:creationId xmlns:a16="http://schemas.microsoft.com/office/drawing/2014/main" id="{90277E43-A5DB-406A-2D7B-F59F3EBBDBD6}"/>
              </a:ext>
            </a:extLst>
          </p:cNvPr>
          <p:cNvSpPr txBox="1"/>
          <p:nvPr/>
        </p:nvSpPr>
        <p:spPr>
          <a:xfrm>
            <a:off x="10380996" y="1967668"/>
            <a:ext cx="1476439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 xmlns:a="http://schemas.openxmlformats.org/drawingml/2006/main">
              <a:rPr kumimoji="1" lang="en" altLang="en-US" sz="1000" dirty="0">
                <a:solidFill>
                  <a:schemeClr val="bg1"/>
                </a:solidFill>
              </a:rPr>
              <a:t>Service providers and </a:t>
            </a:r>
            <a:br xmlns:a="http://schemas.openxmlformats.org/drawingml/2006/main">
              <a:rPr kumimoji="1" lang="en-US" altLang="ja-JP" sz="1000" dirty="0">
                <a:solidFill>
                  <a:schemeClr val="bg1"/>
                </a:solidFill>
              </a:rPr>
            </a:br>
            <a:r xmlns:a="http://schemas.openxmlformats.org/drawingml/2006/main">
              <a:rPr kumimoji="1" lang="en" altLang="en-US" sz="1000" dirty="0">
                <a:solidFill>
                  <a:schemeClr val="bg1"/>
                </a:solidFill>
              </a:rPr>
              <a:t>data providers, etc.</a:t>
            </a:r>
            <a:endParaRPr xmlns:a="http://schemas.openxmlformats.org/drawingml/2006/main" kumimoji="1" lang="en-US" altLang="ja-JP" sz="1000" dirty="0">
              <a:solidFill>
                <a:schemeClr val="bg1"/>
              </a:solidFill>
            </a:endParaRPr>
          </a:p>
          <a:p>
            <a:r xmlns:a="http://schemas.openxmlformats.org/drawingml/2006/main">
              <a:rPr kumimoji="1" lang="en" altLang="en-US" sz="1000" dirty="0">
                <a:solidFill>
                  <a:schemeClr val="bg1"/>
                </a:solidFill>
              </a:rPr>
              <a:t>Diverse</a:t>
            </a:r>
          </a:p>
        </p:txBody>
      </p:sp>
      <p:sp>
        <p:nvSpPr>
          <p:cNvPr id="1046" name="矢印: 五方向 1045">
            <a:extLst>
              <a:ext uri="{FF2B5EF4-FFF2-40B4-BE49-F238E27FC236}">
                <a16:creationId xmlns:a16="http://schemas.microsoft.com/office/drawing/2014/main" id="{60785A3B-F756-6291-550E-398184BFA76C}"/>
              </a:ext>
            </a:extLst>
          </p:cNvPr>
          <p:cNvSpPr/>
          <p:nvPr/>
        </p:nvSpPr>
        <p:spPr>
          <a:xfrm>
            <a:off x="5791584" y="2523362"/>
            <a:ext cx="575268" cy="3380506"/>
          </a:xfrm>
          <a:prstGeom prst="homePlate">
            <a:avLst>
              <a:gd name="adj" fmla="val 36532"/>
            </a:avLst>
          </a:prstGeom>
          <a:solidFill>
            <a:schemeClr val="accent3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eaVert" rtlCol="0" anchor="ctr"/>
          <a:lstStyle/>
          <a:p>
            <a:pPr xmlns:a="http://schemas.openxmlformats.org/drawingml/2006/main" algn="ctr"/>
            <a:r>
              <a:t>Edge deployment paths remain the critical gap.</a:t>
            </a:r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D29D6AFD-F1CD-3A3E-A85B-261E6CE315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44AA7B-1733-46A6-89F2-666551969EC7}" type="slidenum">
              <a:rPr kumimoji="1" lang="ja-JP" altLang="en-US" smtClean="0"/>
              <a:t>12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71869954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思考の吹き出し: 雲形 222">
            <a:extLst>
              <a:ext uri="{FF2B5EF4-FFF2-40B4-BE49-F238E27FC236}">
                <a16:creationId xmlns:a16="http://schemas.microsoft.com/office/drawing/2014/main" id="{5E580795-5D6D-FEE4-E29C-7CB88B5BC8CF}"/>
              </a:ext>
            </a:extLst>
          </p:cNvPr>
          <p:cNvSpPr/>
          <p:nvPr/>
        </p:nvSpPr>
        <p:spPr>
          <a:xfrm>
            <a:off x="8110699" y="3116149"/>
            <a:ext cx="3999251" cy="1645598"/>
          </a:xfrm>
          <a:prstGeom prst="cloudCallout">
            <a:avLst>
              <a:gd name="adj1" fmla="val -7483"/>
              <a:gd name="adj2" fmla="val -76043"/>
            </a:avLst>
          </a:prstGeom>
          <a:solidFill>
            <a:schemeClr val="accent5">
              <a:lumMod val="20000"/>
              <a:lumOff val="80000"/>
            </a:schemeClr>
          </a:solidFill>
          <a:ln w="1905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6" name="正方形/長方形 35">
            <a:extLst>
              <a:ext uri="{FF2B5EF4-FFF2-40B4-BE49-F238E27FC236}">
                <a16:creationId xmlns:a16="http://schemas.microsoft.com/office/drawing/2014/main" id="{6E84B41A-48F3-56F6-B005-05235BC3C530}"/>
              </a:ext>
            </a:extLst>
          </p:cNvPr>
          <p:cNvSpPr/>
          <p:nvPr/>
        </p:nvSpPr>
        <p:spPr>
          <a:xfrm>
            <a:off x="5815108" y="5289935"/>
            <a:ext cx="641260" cy="416484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38100">
            <a:solidFill>
              <a:schemeClr val="bg1">
                <a:lumMod val="5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39" name="正方形/長方形 38">
            <a:extLst>
              <a:ext uri="{FF2B5EF4-FFF2-40B4-BE49-F238E27FC236}">
                <a16:creationId xmlns:a16="http://schemas.microsoft.com/office/drawing/2014/main" id="{17663355-1A8A-BFF6-94D4-DDA398931438}"/>
              </a:ext>
            </a:extLst>
          </p:cNvPr>
          <p:cNvSpPr/>
          <p:nvPr/>
        </p:nvSpPr>
        <p:spPr>
          <a:xfrm>
            <a:off x="2821097" y="5466232"/>
            <a:ext cx="946531" cy="336072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38100">
            <a:solidFill>
              <a:srgbClr val="0070C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grpSp>
        <p:nvGrpSpPr>
          <p:cNvPr id="40" name="グループ化 39">
            <a:extLst>
              <a:ext uri="{FF2B5EF4-FFF2-40B4-BE49-F238E27FC236}">
                <a16:creationId xmlns:a16="http://schemas.microsoft.com/office/drawing/2014/main" id="{0728AD24-C14F-D4E7-304D-9902BC7C980D}"/>
              </a:ext>
            </a:extLst>
          </p:cNvPr>
          <p:cNvGrpSpPr/>
          <p:nvPr/>
        </p:nvGrpSpPr>
        <p:grpSpPr>
          <a:xfrm>
            <a:off x="2853986" y="5530125"/>
            <a:ext cx="219530" cy="195787"/>
            <a:chOff x="4649389" y="2612399"/>
            <a:chExt cx="150019" cy="134772"/>
          </a:xfrm>
          <a:solidFill>
            <a:schemeClr val="tx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cxnSp>
          <p:nvCxnSpPr>
            <p:cNvPr id="41" name="直線コネクタ 40">
              <a:extLst>
                <a:ext uri="{FF2B5EF4-FFF2-40B4-BE49-F238E27FC236}">
                  <a16:creationId xmlns:a16="http://schemas.microsoft.com/office/drawing/2014/main" id="{83E41698-5904-57CE-EC44-0246E55DD195}"/>
                </a:ext>
              </a:extLst>
            </p:cNvPr>
            <p:cNvCxnSpPr>
              <a:cxnSpLocks/>
            </p:cNvCxnSpPr>
            <p:nvPr/>
          </p:nvCxnSpPr>
          <p:spPr>
            <a:xfrm>
              <a:off x="4724399" y="2612399"/>
              <a:ext cx="0" cy="134772"/>
            </a:xfrm>
            <a:prstGeom prst="line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直線コネクタ 41">
              <a:extLst>
                <a:ext uri="{FF2B5EF4-FFF2-40B4-BE49-F238E27FC236}">
                  <a16:creationId xmlns:a16="http://schemas.microsoft.com/office/drawing/2014/main" id="{CD51F443-9143-7C93-4B5D-4B0B116D7E06}"/>
                </a:ext>
              </a:extLst>
            </p:cNvPr>
            <p:cNvCxnSpPr>
              <a:cxnSpLocks/>
            </p:cNvCxnSpPr>
            <p:nvPr/>
          </p:nvCxnSpPr>
          <p:spPr>
            <a:xfrm>
              <a:off x="4681536" y="2612399"/>
              <a:ext cx="0" cy="134772"/>
            </a:xfrm>
            <a:prstGeom prst="line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直線コネクタ 42">
              <a:extLst>
                <a:ext uri="{FF2B5EF4-FFF2-40B4-BE49-F238E27FC236}">
                  <a16:creationId xmlns:a16="http://schemas.microsoft.com/office/drawing/2014/main" id="{FA20F0B5-006B-BE17-30DC-1BA231A99007}"/>
                </a:ext>
              </a:extLst>
            </p:cNvPr>
            <p:cNvCxnSpPr>
              <a:cxnSpLocks/>
            </p:cNvCxnSpPr>
            <p:nvPr/>
          </p:nvCxnSpPr>
          <p:spPr>
            <a:xfrm>
              <a:off x="4767261" y="2612399"/>
              <a:ext cx="0" cy="134772"/>
            </a:xfrm>
            <a:prstGeom prst="line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直線コネクタ 43">
              <a:extLst>
                <a:ext uri="{FF2B5EF4-FFF2-40B4-BE49-F238E27FC236}">
                  <a16:creationId xmlns:a16="http://schemas.microsoft.com/office/drawing/2014/main" id="{A33A83CF-CC7E-DA51-B527-E102ADB2593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649389" y="2680498"/>
              <a:ext cx="150019" cy="0"/>
            </a:xfrm>
            <a:prstGeom prst="line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直線コネクタ 44">
              <a:extLst>
                <a:ext uri="{FF2B5EF4-FFF2-40B4-BE49-F238E27FC236}">
                  <a16:creationId xmlns:a16="http://schemas.microsoft.com/office/drawing/2014/main" id="{17D25625-292A-E21A-820F-7B5C86826D7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649389" y="2715424"/>
              <a:ext cx="150019" cy="0"/>
            </a:xfrm>
            <a:prstGeom prst="line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直線コネクタ 45">
              <a:extLst>
                <a:ext uri="{FF2B5EF4-FFF2-40B4-BE49-F238E27FC236}">
                  <a16:creationId xmlns:a16="http://schemas.microsoft.com/office/drawing/2014/main" id="{D48F4205-983E-1E64-6362-C7E64F145AA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649389" y="2647676"/>
              <a:ext cx="150019" cy="0"/>
            </a:xfrm>
            <a:prstGeom prst="line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7" name="四角形: 角を丸くする 46">
              <a:extLst>
                <a:ext uri="{FF2B5EF4-FFF2-40B4-BE49-F238E27FC236}">
                  <a16:creationId xmlns:a16="http://schemas.microsoft.com/office/drawing/2014/main" id="{81968DD2-7954-787A-9D37-4474B0B29041}"/>
                </a:ext>
              </a:extLst>
            </p:cNvPr>
            <p:cNvSpPr/>
            <p:nvPr/>
          </p:nvSpPr>
          <p:spPr>
            <a:xfrm>
              <a:off x="4671414" y="2631666"/>
              <a:ext cx="105970" cy="97663"/>
            </a:xfrm>
            <a:prstGeom prst="roundRect">
              <a:avLst/>
            </a:prstGeom>
            <a:grpFill/>
            <a:ln w="12700">
              <a:solidFill>
                <a:schemeClr val="tx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pPr algn="ctr" fontAlgn="auto">
                <a:lnSpc>
                  <a:spcPct val="110000"/>
                </a:lnSpc>
                <a:spcBef>
                  <a:spcPts val="200"/>
                </a:spcBef>
                <a:spcAft>
                  <a:spcPts val="200"/>
                </a:spcAft>
              </a:pPr>
              <a:endParaRPr kumimoji="1" lang="ja-JP" altLang="en-US" sz="2000" dirty="0">
                <a:latin typeface="メイリオ" panose="020B0604030504040204" pitchFamily="50" charset="-128"/>
                <a:ea typeface="メイリオ" panose="020B0604030504040204" pitchFamily="50" charset="-128"/>
              </a:endParaRPr>
            </a:p>
          </p:txBody>
        </p:sp>
      </p:grpSp>
      <p:grpSp>
        <p:nvGrpSpPr>
          <p:cNvPr id="64" name="グループ化 63">
            <a:extLst>
              <a:ext uri="{FF2B5EF4-FFF2-40B4-BE49-F238E27FC236}">
                <a16:creationId xmlns:a16="http://schemas.microsoft.com/office/drawing/2014/main" id="{F71F6B5C-88CA-3265-45F3-BA189AD5F923}"/>
              </a:ext>
            </a:extLst>
          </p:cNvPr>
          <p:cNvGrpSpPr/>
          <p:nvPr/>
        </p:nvGrpSpPr>
        <p:grpSpPr>
          <a:xfrm>
            <a:off x="5827489" y="5371455"/>
            <a:ext cx="415315" cy="313037"/>
            <a:chOff x="4649389" y="2612399"/>
            <a:chExt cx="150019" cy="134772"/>
          </a:xfrm>
          <a:solidFill>
            <a:schemeClr val="accent6">
              <a:lumMod val="60000"/>
              <a:lumOff val="4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cxnSp>
          <p:nvCxnSpPr>
            <p:cNvPr id="65" name="直線コネクタ 64">
              <a:extLst>
                <a:ext uri="{FF2B5EF4-FFF2-40B4-BE49-F238E27FC236}">
                  <a16:creationId xmlns:a16="http://schemas.microsoft.com/office/drawing/2014/main" id="{80AF0A46-CEA8-A061-B9B7-1491FE779167}"/>
                </a:ext>
              </a:extLst>
            </p:cNvPr>
            <p:cNvCxnSpPr>
              <a:cxnSpLocks/>
            </p:cNvCxnSpPr>
            <p:nvPr/>
          </p:nvCxnSpPr>
          <p:spPr>
            <a:xfrm>
              <a:off x="4724399" y="2612399"/>
              <a:ext cx="0" cy="134772"/>
            </a:xfrm>
            <a:prstGeom prst="line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直線コネクタ 65">
              <a:extLst>
                <a:ext uri="{FF2B5EF4-FFF2-40B4-BE49-F238E27FC236}">
                  <a16:creationId xmlns:a16="http://schemas.microsoft.com/office/drawing/2014/main" id="{8F683C3C-8BBE-229A-2E8D-620A9BFDF332}"/>
                </a:ext>
              </a:extLst>
            </p:cNvPr>
            <p:cNvCxnSpPr>
              <a:cxnSpLocks/>
            </p:cNvCxnSpPr>
            <p:nvPr/>
          </p:nvCxnSpPr>
          <p:spPr>
            <a:xfrm>
              <a:off x="4681536" y="2612399"/>
              <a:ext cx="0" cy="134772"/>
            </a:xfrm>
            <a:prstGeom prst="line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直線コネクタ 66">
              <a:extLst>
                <a:ext uri="{FF2B5EF4-FFF2-40B4-BE49-F238E27FC236}">
                  <a16:creationId xmlns:a16="http://schemas.microsoft.com/office/drawing/2014/main" id="{CB176443-F9EE-CF02-5769-A550D7BC85A8}"/>
                </a:ext>
              </a:extLst>
            </p:cNvPr>
            <p:cNvCxnSpPr>
              <a:cxnSpLocks/>
            </p:cNvCxnSpPr>
            <p:nvPr/>
          </p:nvCxnSpPr>
          <p:spPr>
            <a:xfrm>
              <a:off x="4767261" y="2612399"/>
              <a:ext cx="0" cy="134772"/>
            </a:xfrm>
            <a:prstGeom prst="line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直線コネクタ 67">
              <a:extLst>
                <a:ext uri="{FF2B5EF4-FFF2-40B4-BE49-F238E27FC236}">
                  <a16:creationId xmlns:a16="http://schemas.microsoft.com/office/drawing/2014/main" id="{3165B8D8-58E0-22B1-11C8-1A66B4EEF3E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649389" y="2680498"/>
              <a:ext cx="150019" cy="0"/>
            </a:xfrm>
            <a:prstGeom prst="line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直線コネクタ 68">
              <a:extLst>
                <a:ext uri="{FF2B5EF4-FFF2-40B4-BE49-F238E27FC236}">
                  <a16:creationId xmlns:a16="http://schemas.microsoft.com/office/drawing/2014/main" id="{10BE521E-4AD8-61EF-0527-8ED3BECC69E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649389" y="2715424"/>
              <a:ext cx="150019" cy="0"/>
            </a:xfrm>
            <a:prstGeom prst="line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直線コネクタ 69">
              <a:extLst>
                <a:ext uri="{FF2B5EF4-FFF2-40B4-BE49-F238E27FC236}">
                  <a16:creationId xmlns:a16="http://schemas.microsoft.com/office/drawing/2014/main" id="{F4D3A2FE-1E9D-35A9-1EF9-E922B09956F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649389" y="2647676"/>
              <a:ext cx="150019" cy="0"/>
            </a:xfrm>
            <a:prstGeom prst="line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1" name="四角形: 角を丸くする 70">
              <a:extLst>
                <a:ext uri="{FF2B5EF4-FFF2-40B4-BE49-F238E27FC236}">
                  <a16:creationId xmlns:a16="http://schemas.microsoft.com/office/drawing/2014/main" id="{B32C6632-82C8-A887-231D-0DB8A28C8D4A}"/>
                </a:ext>
              </a:extLst>
            </p:cNvPr>
            <p:cNvSpPr/>
            <p:nvPr/>
          </p:nvSpPr>
          <p:spPr>
            <a:xfrm>
              <a:off x="4671414" y="2631666"/>
              <a:ext cx="105970" cy="97663"/>
            </a:xfrm>
            <a:prstGeom prst="roundRect">
              <a:avLst/>
            </a:prstGeom>
            <a:grpFill/>
            <a:ln w="12700">
              <a:solidFill>
                <a:schemeClr val="tx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pPr algn="ctr" fontAlgn="auto">
                <a:lnSpc>
                  <a:spcPct val="110000"/>
                </a:lnSpc>
                <a:spcBef>
                  <a:spcPts val="200"/>
                </a:spcBef>
                <a:spcAft>
                  <a:spcPts val="200"/>
                </a:spcAft>
              </a:pPr>
              <a:endParaRPr kumimoji="1" lang="ja-JP" altLang="en-US" sz="2000" dirty="0">
                <a:latin typeface="メイリオ" panose="020B0604030504040204" pitchFamily="50" charset="-128"/>
                <a:ea typeface="メイリオ" panose="020B0604030504040204" pitchFamily="50" charset="-128"/>
              </a:endParaRPr>
            </a:p>
          </p:txBody>
        </p:sp>
      </p:grpSp>
      <p:sp>
        <p:nvSpPr>
          <p:cNvPr id="72" name="テキスト ボックス 71">
            <a:extLst>
              <a:ext uri="{FF2B5EF4-FFF2-40B4-BE49-F238E27FC236}">
                <a16:creationId xmlns:a16="http://schemas.microsoft.com/office/drawing/2014/main" id="{C0CF78FA-26F6-681A-0CFA-A17975E66527}"/>
              </a:ext>
            </a:extLst>
          </p:cNvPr>
          <p:cNvSpPr txBox="1"/>
          <p:nvPr/>
        </p:nvSpPr>
        <p:spPr>
          <a:xfrm>
            <a:off x="2799839" y="5540688"/>
            <a:ext cx="618178" cy="1692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 xmlns:a="http://schemas.openxmlformats.org/drawingml/2006/main">
              <a:rPr kumimoji="1" lang="en" altLang="ja-JP" sz="500" b="1" dirty="0">
                <a:solidFill>
                  <a:schemeClr val="bg1"/>
                </a:solidFill>
              </a:rPr>
              <a:t>CPU</a:t>
            </a:r>
            <a:endParaRPr xmlns:a="http://schemas.openxmlformats.org/drawingml/2006/main" kumimoji="1" lang="ja-JP" altLang="en-US" sz="500" b="1" dirty="0">
              <a:solidFill>
                <a:schemeClr val="bg1"/>
              </a:solidFill>
            </a:endParaRPr>
          </a:p>
        </p:txBody>
      </p:sp>
      <p:sp>
        <p:nvSpPr>
          <p:cNvPr id="75" name="テキスト ボックス 74">
            <a:extLst>
              <a:ext uri="{FF2B5EF4-FFF2-40B4-BE49-F238E27FC236}">
                <a16:creationId xmlns:a16="http://schemas.microsoft.com/office/drawing/2014/main" id="{61D08EA8-E175-CFEF-42A1-C5123BA788E1}"/>
              </a:ext>
            </a:extLst>
          </p:cNvPr>
          <p:cNvSpPr txBox="1"/>
          <p:nvPr/>
        </p:nvSpPr>
        <p:spPr>
          <a:xfrm>
            <a:off x="5813020" y="5431208"/>
            <a:ext cx="618178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 xmlns:a="http://schemas.openxmlformats.org/drawingml/2006/main">
              <a:rPr lang="en" altLang="ja-JP" sz="9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GPU</a:t>
            </a:r>
            <a:r xmlns:a="http://schemas.openxmlformats.org/drawingml/2006/main">
              <a:rPr kumimoji="1" lang="en" altLang="ja-JP" sz="9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​</a:t>
            </a:r>
            <a:endParaRPr xmlns:a="http://schemas.openxmlformats.org/drawingml/2006/main" kumimoji="1" lang="ja-JP" altLang="en-US" sz="900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76" name="テキスト ボックス 75">
            <a:extLst>
              <a:ext uri="{FF2B5EF4-FFF2-40B4-BE49-F238E27FC236}">
                <a16:creationId xmlns:a16="http://schemas.microsoft.com/office/drawing/2014/main" id="{C3DA7419-DEB3-91CC-2C1C-DEBAE3E45102}"/>
              </a:ext>
            </a:extLst>
          </p:cNvPr>
          <p:cNvSpPr txBox="1"/>
          <p:nvPr/>
        </p:nvSpPr>
        <p:spPr>
          <a:xfrm>
            <a:off x="5916485" y="5743120"/>
            <a:ext cx="129979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t>Zynq / Artix-class</a:t>
            </a:r>
          </a:p>
        </p:txBody>
      </p:sp>
      <p:sp>
        <p:nvSpPr>
          <p:cNvPr id="77" name="テキスト ボックス 76">
            <a:extLst>
              <a:ext uri="{FF2B5EF4-FFF2-40B4-BE49-F238E27FC236}">
                <a16:creationId xmlns:a16="http://schemas.microsoft.com/office/drawing/2014/main" id="{2A4F1AA5-1751-148A-A60A-645FCEBDE6EC}"/>
              </a:ext>
            </a:extLst>
          </p:cNvPr>
          <p:cNvSpPr txBox="1"/>
          <p:nvPr/>
        </p:nvSpPr>
        <p:spPr>
          <a:xfrm>
            <a:off x="3407879" y="5941265"/>
            <a:ext cx="129979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t>ARM IoT gateway</a:t>
            </a:r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7C52E394-BC0E-7D83-0044-EA7FA9DFBB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Research objectives and challenges</a:t>
            </a: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34678FF9-2703-F8B3-2162-14A78A3A6EB5}"/>
              </a:ext>
            </a:extLst>
          </p:cNvPr>
          <p:cNvSpPr txBox="1"/>
          <p:nvPr/>
        </p:nvSpPr>
        <p:spPr>
          <a:xfrm>
            <a:off x="961462" y="1217496"/>
            <a:ext cx="1060873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t>To deliver deployable hybrid edge intelligence, we address four research gaps in IoT QML:</a:t>
            </a:r>
          </a:p>
        </p:txBody>
      </p:sp>
      <p:sp>
        <p:nvSpPr>
          <p:cNvPr id="7" name="雲 6">
            <a:extLst>
              <a:ext uri="{FF2B5EF4-FFF2-40B4-BE49-F238E27FC236}">
                <a16:creationId xmlns:a16="http://schemas.microsoft.com/office/drawing/2014/main" id="{1492BF89-8D88-5F4F-123E-6CB1547FD328}"/>
              </a:ext>
            </a:extLst>
          </p:cNvPr>
          <p:cNvSpPr/>
          <p:nvPr/>
        </p:nvSpPr>
        <p:spPr>
          <a:xfrm>
            <a:off x="1963759" y="2170368"/>
            <a:ext cx="5864616" cy="1873028"/>
          </a:xfrm>
          <a:prstGeom prst="cloud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rgbClr val="00B05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29B12144-0B68-4003-619C-1C8796A15FDA}"/>
              </a:ext>
            </a:extLst>
          </p:cNvPr>
          <p:cNvSpPr/>
          <p:nvPr/>
        </p:nvSpPr>
        <p:spPr>
          <a:xfrm>
            <a:off x="4303930" y="3187092"/>
            <a:ext cx="732915" cy="642295"/>
          </a:xfrm>
          <a:prstGeom prst="rect">
            <a:avLst/>
          </a:prstGeom>
          <a:solidFill>
            <a:schemeClr val="bg1"/>
          </a:solidFill>
          <a:ln w="38100">
            <a:solidFill>
              <a:schemeClr val="accent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61C2C730-A102-4B8D-FA69-3DB8FAAACEF6}"/>
              </a:ext>
            </a:extLst>
          </p:cNvPr>
          <p:cNvSpPr/>
          <p:nvPr/>
        </p:nvSpPr>
        <p:spPr>
          <a:xfrm>
            <a:off x="4166459" y="3060433"/>
            <a:ext cx="732915" cy="642295"/>
          </a:xfrm>
          <a:prstGeom prst="rect">
            <a:avLst/>
          </a:prstGeom>
          <a:solidFill>
            <a:schemeClr val="bg1"/>
          </a:solidFill>
          <a:ln w="38100">
            <a:solidFill>
              <a:schemeClr val="accent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1FED34CB-EDCB-CE16-1004-CF4B3424FCEF}"/>
              </a:ext>
            </a:extLst>
          </p:cNvPr>
          <p:cNvSpPr/>
          <p:nvPr/>
        </p:nvSpPr>
        <p:spPr>
          <a:xfrm>
            <a:off x="2880971" y="2546315"/>
            <a:ext cx="798702" cy="642295"/>
          </a:xfrm>
          <a:prstGeom prst="rect">
            <a:avLst/>
          </a:prstGeom>
          <a:solidFill>
            <a:schemeClr val="bg1"/>
          </a:solidFill>
          <a:ln w="38100">
            <a:solidFill>
              <a:schemeClr val="accent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11" name="正方形/長方形 10">
            <a:extLst>
              <a:ext uri="{FF2B5EF4-FFF2-40B4-BE49-F238E27FC236}">
                <a16:creationId xmlns:a16="http://schemas.microsoft.com/office/drawing/2014/main" id="{6230C408-5215-04B4-5876-99FBD45C8E2C}"/>
              </a:ext>
            </a:extLst>
          </p:cNvPr>
          <p:cNvSpPr/>
          <p:nvPr/>
        </p:nvSpPr>
        <p:spPr>
          <a:xfrm>
            <a:off x="2749392" y="2420562"/>
            <a:ext cx="798702" cy="642295"/>
          </a:xfrm>
          <a:prstGeom prst="rect">
            <a:avLst/>
          </a:prstGeom>
          <a:solidFill>
            <a:schemeClr val="bg1"/>
          </a:solidFill>
          <a:ln w="38100">
            <a:solidFill>
              <a:schemeClr val="accent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ABF64A65-BD3A-AB54-8C4F-40BB2080BD0A}"/>
              </a:ext>
            </a:extLst>
          </p:cNvPr>
          <p:cNvSpPr/>
          <p:nvPr/>
        </p:nvSpPr>
        <p:spPr>
          <a:xfrm>
            <a:off x="2617482" y="2294809"/>
            <a:ext cx="798702" cy="642295"/>
          </a:xfrm>
          <a:prstGeom prst="rect">
            <a:avLst/>
          </a:prstGeom>
          <a:solidFill>
            <a:schemeClr val="bg1"/>
          </a:solidFill>
          <a:ln w="38100">
            <a:solidFill>
              <a:schemeClr val="accent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13" name="正方形/長方形 12">
            <a:extLst>
              <a:ext uri="{FF2B5EF4-FFF2-40B4-BE49-F238E27FC236}">
                <a16:creationId xmlns:a16="http://schemas.microsoft.com/office/drawing/2014/main" id="{28A16143-F1E6-F4A2-6A83-2CDDBFF0D712}"/>
              </a:ext>
            </a:extLst>
          </p:cNvPr>
          <p:cNvSpPr/>
          <p:nvPr/>
        </p:nvSpPr>
        <p:spPr>
          <a:xfrm>
            <a:off x="2568020" y="2357807"/>
            <a:ext cx="980074" cy="261610"/>
          </a:xfrm>
          <a:prstGeom prst="rect">
            <a:avLst/>
          </a:prstGeom>
          <a:noFill/>
          <a:ln w="381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Sensor</a:t>
            </a:r>
            <a:br/>
            <a:r>
              <a:t>nodes</a:t>
            </a:r>
            <a:endParaRPr xmlns:a="http://schemas.openxmlformats.org/drawingml/2006/main" kumimoji="1" lang="en-US" altLang="ja-JP" sz="1100" b="1" u="sng" dirty="0">
              <a:solidFill>
                <a:schemeClr val="tx1"/>
              </a:solidFill>
            </a:endParaRPr>
          </a:p>
        </p:txBody>
      </p:sp>
      <p:sp>
        <p:nvSpPr>
          <p:cNvPr id="14" name="正方形/長方形 13">
            <a:extLst>
              <a:ext uri="{FF2B5EF4-FFF2-40B4-BE49-F238E27FC236}">
                <a16:creationId xmlns:a16="http://schemas.microsoft.com/office/drawing/2014/main" id="{C481CD01-29EC-3448-AEB9-BFB1DE496F0D}"/>
              </a:ext>
            </a:extLst>
          </p:cNvPr>
          <p:cNvSpPr/>
          <p:nvPr/>
        </p:nvSpPr>
        <p:spPr>
          <a:xfrm>
            <a:off x="4028988" y="2946315"/>
            <a:ext cx="732915" cy="642295"/>
          </a:xfrm>
          <a:prstGeom prst="rect">
            <a:avLst/>
          </a:prstGeom>
          <a:solidFill>
            <a:schemeClr val="bg1"/>
          </a:solidFill>
          <a:ln w="38100">
            <a:solidFill>
              <a:schemeClr val="accent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15" name="正方形/長方形 14">
            <a:extLst>
              <a:ext uri="{FF2B5EF4-FFF2-40B4-BE49-F238E27FC236}">
                <a16:creationId xmlns:a16="http://schemas.microsoft.com/office/drawing/2014/main" id="{A34A2464-6217-6897-B0D2-3F5E9BE69CF3}"/>
              </a:ext>
            </a:extLst>
          </p:cNvPr>
          <p:cNvSpPr/>
          <p:nvPr/>
        </p:nvSpPr>
        <p:spPr>
          <a:xfrm>
            <a:off x="4015529" y="3018221"/>
            <a:ext cx="532157" cy="261610"/>
          </a:xfrm>
          <a:prstGeom prst="rect">
            <a:avLst/>
          </a:prstGeom>
          <a:noFill/>
          <a:ln w="381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Edge</a:t>
            </a:r>
            <a:br/>
            <a:r>
              <a:t>gateway</a:t>
            </a:r>
            <a:endParaRPr xmlns:a="http://schemas.openxmlformats.org/drawingml/2006/main" kumimoji="1" lang="en-US" altLang="ja-JP" sz="1100" b="1" u="sng" dirty="0">
              <a:solidFill>
                <a:schemeClr val="tx1"/>
              </a:solidFill>
            </a:endParaRPr>
          </a:p>
        </p:txBody>
      </p:sp>
      <p:sp>
        <p:nvSpPr>
          <p:cNvPr id="26" name="楕円 25">
            <a:extLst>
              <a:ext uri="{FF2B5EF4-FFF2-40B4-BE49-F238E27FC236}">
                <a16:creationId xmlns:a16="http://schemas.microsoft.com/office/drawing/2014/main" id="{1B2B8781-1C80-19C9-445B-4720628A71C2}"/>
              </a:ext>
            </a:extLst>
          </p:cNvPr>
          <p:cNvSpPr/>
          <p:nvPr/>
        </p:nvSpPr>
        <p:spPr>
          <a:xfrm>
            <a:off x="9698840" y="2096254"/>
            <a:ext cx="279400" cy="236897"/>
          </a:xfrm>
          <a:prstGeom prst="ellipse">
            <a:avLst/>
          </a:prstGeom>
          <a:solidFill>
            <a:schemeClr val="accent5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7" name="二等辺三角形 26">
            <a:extLst>
              <a:ext uri="{FF2B5EF4-FFF2-40B4-BE49-F238E27FC236}">
                <a16:creationId xmlns:a16="http://schemas.microsoft.com/office/drawing/2014/main" id="{EAFE89AE-D5B6-DCD0-8FB0-BB626C14315D}"/>
              </a:ext>
            </a:extLst>
          </p:cNvPr>
          <p:cNvSpPr/>
          <p:nvPr/>
        </p:nvSpPr>
        <p:spPr>
          <a:xfrm>
            <a:off x="9681906" y="2244671"/>
            <a:ext cx="313262" cy="250605"/>
          </a:xfrm>
          <a:prstGeom prst="triangle">
            <a:avLst/>
          </a:prstGeom>
          <a:solidFill>
            <a:schemeClr val="accent5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28" name="直線矢印コネクタ 27">
            <a:extLst>
              <a:ext uri="{FF2B5EF4-FFF2-40B4-BE49-F238E27FC236}">
                <a16:creationId xmlns:a16="http://schemas.microsoft.com/office/drawing/2014/main" id="{75026BEF-6F59-85B6-3F64-F99AADEF289C}"/>
              </a:ext>
            </a:extLst>
          </p:cNvPr>
          <p:cNvCxnSpPr>
            <a:cxnSpLocks/>
          </p:cNvCxnSpPr>
          <p:nvPr/>
        </p:nvCxnSpPr>
        <p:spPr>
          <a:xfrm>
            <a:off x="8018198" y="2397968"/>
            <a:ext cx="1257334" cy="0"/>
          </a:xfrm>
          <a:prstGeom prst="straightConnector1">
            <a:avLst/>
          </a:prstGeom>
          <a:ln w="28575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テキスト ボックス 28">
            <a:extLst>
              <a:ext uri="{FF2B5EF4-FFF2-40B4-BE49-F238E27FC236}">
                <a16:creationId xmlns:a16="http://schemas.microsoft.com/office/drawing/2014/main" id="{ECA39135-E58E-E65C-FD92-0E9F5D719E88}"/>
              </a:ext>
            </a:extLst>
          </p:cNvPr>
          <p:cNvSpPr txBox="1"/>
          <p:nvPr/>
        </p:nvSpPr>
        <p:spPr>
          <a:xfrm>
            <a:off x="8466966" y="3417150"/>
            <a:ext cx="283219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 xmlns:a="http://schemas.openxmlformats.org/drawingml/2006/main">
              <a:rPr lang="en" altLang="en-US" sz="2000" b="1" u="sng" dirty="0">
                <a:solidFill>
                  <a:srgbClr val="0070C0"/>
                </a:solidFill>
              </a:rPr>
              <a:t>the purpose</a:t>
            </a:r>
            <a:endParaRPr xmlns:a="http://schemas.openxmlformats.org/drawingml/2006/main" lang="en-US" altLang="ja-JP" sz="2000" b="1" u="sng" dirty="0">
              <a:solidFill>
                <a:srgbClr val="0070C0"/>
              </a:solidFill>
            </a:endParaRPr>
          </a:p>
        </p:txBody>
      </p:sp>
      <p:sp>
        <p:nvSpPr>
          <p:cNvPr id="33" name="正方形/長方形 32">
            <a:extLst>
              <a:ext uri="{FF2B5EF4-FFF2-40B4-BE49-F238E27FC236}">
                <a16:creationId xmlns:a16="http://schemas.microsoft.com/office/drawing/2014/main" id="{CDB32397-5364-4118-80E0-BC5D539BFF9A}"/>
              </a:ext>
            </a:extLst>
          </p:cNvPr>
          <p:cNvSpPr/>
          <p:nvPr/>
        </p:nvSpPr>
        <p:spPr>
          <a:xfrm>
            <a:off x="6575589" y="2691291"/>
            <a:ext cx="1147998" cy="333974"/>
          </a:xfrm>
          <a:prstGeom prst="rect">
            <a:avLst/>
          </a:prstGeom>
          <a:solidFill>
            <a:schemeClr val="bg1"/>
          </a:solidFill>
          <a:ln w="38100">
            <a:solidFill>
              <a:srgbClr val="00B05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050" dirty="0"/>
          </a:p>
        </p:txBody>
      </p:sp>
      <p:pic>
        <p:nvPicPr>
          <p:cNvPr id="34" name="Picture 2">
            <a:extLst>
              <a:ext uri="{FF2B5EF4-FFF2-40B4-BE49-F238E27FC236}">
                <a16:creationId xmlns:a16="http://schemas.microsoft.com/office/drawing/2014/main" id="{B2CA1D45-656C-5BB8-96C9-6646D84DE97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68144" y="2739828"/>
            <a:ext cx="977117" cy="2369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1" name="正方形/長方形 80">
            <a:extLst>
              <a:ext uri="{FF2B5EF4-FFF2-40B4-BE49-F238E27FC236}">
                <a16:creationId xmlns:a16="http://schemas.microsoft.com/office/drawing/2014/main" id="{04EC41DC-FECF-595D-F02C-4D2134A0297B}"/>
              </a:ext>
            </a:extLst>
          </p:cNvPr>
          <p:cNvSpPr/>
          <p:nvPr/>
        </p:nvSpPr>
        <p:spPr>
          <a:xfrm>
            <a:off x="2789553" y="4994747"/>
            <a:ext cx="978076" cy="169277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xmlns:a="http://schemas.openxmlformats.org/drawingml/2006/main" algn="ctr"/>
            <a:r xmlns:a="http://schemas.openxmlformats.org/drawingml/2006/main">
              <a:rPr kumimoji="1" lang="en" altLang="ja-JP" sz="1100" dirty="0"/>
              <a:t>OS</a:t>
            </a:r>
            <a:endParaRPr xmlns:a="http://schemas.openxmlformats.org/drawingml/2006/main" kumimoji="1" lang="ja-JP" altLang="en-US" sz="1100" dirty="0"/>
          </a:p>
        </p:txBody>
      </p:sp>
      <p:sp>
        <p:nvSpPr>
          <p:cNvPr id="82" name="正方形/長方形 81">
            <a:extLst>
              <a:ext uri="{FF2B5EF4-FFF2-40B4-BE49-F238E27FC236}">
                <a16:creationId xmlns:a16="http://schemas.microsoft.com/office/drawing/2014/main" id="{41AFE670-E112-4D29-27D6-FC7B11C48AFE}"/>
              </a:ext>
            </a:extLst>
          </p:cNvPr>
          <p:cNvSpPr/>
          <p:nvPr/>
        </p:nvSpPr>
        <p:spPr>
          <a:xfrm>
            <a:off x="2789553" y="4750580"/>
            <a:ext cx="978076" cy="185767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xmlns:a="http://schemas.openxmlformats.org/drawingml/2006/main" algn="ctr"/>
            <a:r xmlns:a="http://schemas.openxmlformats.org/drawingml/2006/main">
              <a:rPr kumimoji="1" lang="en" altLang="ja-JP" sz="1100" dirty="0"/>
              <a:t>Hypervisor</a:t>
            </a:r>
            <a:endParaRPr xmlns:a="http://schemas.openxmlformats.org/drawingml/2006/main" kumimoji="1" lang="ja-JP" altLang="en-US" sz="1100" dirty="0"/>
          </a:p>
        </p:txBody>
      </p:sp>
      <p:sp>
        <p:nvSpPr>
          <p:cNvPr id="83" name="正方形/長方形 82">
            <a:extLst>
              <a:ext uri="{FF2B5EF4-FFF2-40B4-BE49-F238E27FC236}">
                <a16:creationId xmlns:a16="http://schemas.microsoft.com/office/drawing/2014/main" id="{86409BC9-0686-CDE2-8176-D7EED2E6C91D}"/>
              </a:ext>
            </a:extLst>
          </p:cNvPr>
          <p:cNvSpPr/>
          <p:nvPr/>
        </p:nvSpPr>
        <p:spPr>
          <a:xfrm>
            <a:off x="2789553" y="5222425"/>
            <a:ext cx="978076" cy="175756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xmlns:a="http://schemas.openxmlformats.org/drawingml/2006/main" algn="ctr"/>
            <a:r xmlns:a="http://schemas.openxmlformats.org/drawingml/2006/main">
              <a:rPr kumimoji="1" lang="en" altLang="ja-JP" sz="1100" dirty="0"/>
              <a:t>Firmware</a:t>
            </a:r>
            <a:endParaRPr xmlns:a="http://schemas.openxmlformats.org/drawingml/2006/main" kumimoji="1" lang="ja-JP" altLang="en-US" sz="1100" dirty="0"/>
          </a:p>
        </p:txBody>
      </p:sp>
      <p:sp>
        <p:nvSpPr>
          <p:cNvPr id="84" name="正方形/長方形 83">
            <a:extLst>
              <a:ext uri="{FF2B5EF4-FFF2-40B4-BE49-F238E27FC236}">
                <a16:creationId xmlns:a16="http://schemas.microsoft.com/office/drawing/2014/main" id="{C473A80A-47AE-A54F-2D01-53FCA6B9EC6B}"/>
              </a:ext>
            </a:extLst>
          </p:cNvPr>
          <p:cNvSpPr/>
          <p:nvPr/>
        </p:nvSpPr>
        <p:spPr>
          <a:xfrm>
            <a:off x="2789553" y="4479638"/>
            <a:ext cx="978076" cy="185767"/>
          </a:xfrm>
          <a:prstGeom prst="rect">
            <a:avLst/>
          </a:prstGeom>
          <a:solidFill>
            <a:schemeClr val="accent6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xmlns:a="http://schemas.openxmlformats.org/drawingml/2006/main" algn="ctr"/>
            <a:r xmlns:a="http://schemas.openxmlformats.org/drawingml/2006/main">
              <a:rPr kumimoji="1" lang="en" altLang="ja-JP" sz="1100" dirty="0"/>
              <a:t>Move OS</a:t>
            </a:r>
            <a:endParaRPr xmlns:a="http://schemas.openxmlformats.org/drawingml/2006/main" kumimoji="1" lang="ja-JP" altLang="en-US" sz="1100" dirty="0"/>
          </a:p>
        </p:txBody>
      </p:sp>
      <p:sp>
        <p:nvSpPr>
          <p:cNvPr id="85" name="正方形/長方形 84">
            <a:extLst>
              <a:ext uri="{FF2B5EF4-FFF2-40B4-BE49-F238E27FC236}">
                <a16:creationId xmlns:a16="http://schemas.microsoft.com/office/drawing/2014/main" id="{61CB92D2-54B6-4A37-DCD6-10E074D154E2}"/>
              </a:ext>
            </a:extLst>
          </p:cNvPr>
          <p:cNvSpPr/>
          <p:nvPr/>
        </p:nvSpPr>
        <p:spPr>
          <a:xfrm>
            <a:off x="2789553" y="4243134"/>
            <a:ext cx="978076" cy="185767"/>
          </a:xfrm>
          <a:prstGeom prst="rect">
            <a:avLst/>
          </a:prstGeom>
          <a:solidFill>
            <a:schemeClr val="accent6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xmlns:a="http://schemas.openxmlformats.org/drawingml/2006/main" algn="ctr"/>
            <a:r xmlns:a="http://schemas.openxmlformats.org/drawingml/2006/main">
              <a:rPr kumimoji="1" lang="en" altLang="ja-JP" sz="1100" dirty="0"/>
              <a:t>Nurse</a:t>
            </a:r>
            <a:endParaRPr xmlns:a="http://schemas.openxmlformats.org/drawingml/2006/main" kumimoji="1" lang="ja-JP" altLang="en-US" sz="1100" dirty="0"/>
          </a:p>
        </p:txBody>
      </p:sp>
      <p:sp>
        <p:nvSpPr>
          <p:cNvPr id="88" name="正方形/長方形 87">
            <a:extLst>
              <a:ext uri="{FF2B5EF4-FFF2-40B4-BE49-F238E27FC236}">
                <a16:creationId xmlns:a16="http://schemas.microsoft.com/office/drawing/2014/main" id="{293A2830-BC57-94A8-B5FA-D8545D616B25}"/>
              </a:ext>
            </a:extLst>
          </p:cNvPr>
          <p:cNvSpPr/>
          <p:nvPr/>
        </p:nvSpPr>
        <p:spPr>
          <a:xfrm>
            <a:off x="4146478" y="5462686"/>
            <a:ext cx="946531" cy="336072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38100">
            <a:solidFill>
              <a:srgbClr val="0070C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grpSp>
        <p:nvGrpSpPr>
          <p:cNvPr id="89" name="グループ化 88">
            <a:extLst>
              <a:ext uri="{FF2B5EF4-FFF2-40B4-BE49-F238E27FC236}">
                <a16:creationId xmlns:a16="http://schemas.microsoft.com/office/drawing/2014/main" id="{5C3EAB2F-E0AD-7441-69AE-082EADA696C0}"/>
              </a:ext>
            </a:extLst>
          </p:cNvPr>
          <p:cNvGrpSpPr/>
          <p:nvPr/>
        </p:nvGrpSpPr>
        <p:grpSpPr>
          <a:xfrm>
            <a:off x="4179367" y="5526579"/>
            <a:ext cx="219530" cy="195787"/>
            <a:chOff x="4649389" y="2612399"/>
            <a:chExt cx="150019" cy="134772"/>
          </a:xfrm>
          <a:solidFill>
            <a:schemeClr val="tx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cxnSp>
          <p:nvCxnSpPr>
            <p:cNvPr id="90" name="直線コネクタ 89">
              <a:extLst>
                <a:ext uri="{FF2B5EF4-FFF2-40B4-BE49-F238E27FC236}">
                  <a16:creationId xmlns:a16="http://schemas.microsoft.com/office/drawing/2014/main" id="{CCD1DA35-AF18-89FC-1261-0EE30A8DA36F}"/>
                </a:ext>
              </a:extLst>
            </p:cNvPr>
            <p:cNvCxnSpPr>
              <a:cxnSpLocks/>
            </p:cNvCxnSpPr>
            <p:nvPr/>
          </p:nvCxnSpPr>
          <p:spPr>
            <a:xfrm>
              <a:off x="4724399" y="2612399"/>
              <a:ext cx="0" cy="134772"/>
            </a:xfrm>
            <a:prstGeom prst="line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" name="直線コネクタ 90">
              <a:extLst>
                <a:ext uri="{FF2B5EF4-FFF2-40B4-BE49-F238E27FC236}">
                  <a16:creationId xmlns:a16="http://schemas.microsoft.com/office/drawing/2014/main" id="{35482E98-56AA-4D26-AFAC-DB706DB96589}"/>
                </a:ext>
              </a:extLst>
            </p:cNvPr>
            <p:cNvCxnSpPr>
              <a:cxnSpLocks/>
            </p:cNvCxnSpPr>
            <p:nvPr/>
          </p:nvCxnSpPr>
          <p:spPr>
            <a:xfrm>
              <a:off x="4681536" y="2612399"/>
              <a:ext cx="0" cy="134772"/>
            </a:xfrm>
            <a:prstGeom prst="line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" name="直線コネクタ 91">
              <a:extLst>
                <a:ext uri="{FF2B5EF4-FFF2-40B4-BE49-F238E27FC236}">
                  <a16:creationId xmlns:a16="http://schemas.microsoft.com/office/drawing/2014/main" id="{18F000BE-21A4-568F-0B85-6E8F4C742461}"/>
                </a:ext>
              </a:extLst>
            </p:cNvPr>
            <p:cNvCxnSpPr>
              <a:cxnSpLocks/>
            </p:cNvCxnSpPr>
            <p:nvPr/>
          </p:nvCxnSpPr>
          <p:spPr>
            <a:xfrm>
              <a:off x="4767261" y="2612399"/>
              <a:ext cx="0" cy="134772"/>
            </a:xfrm>
            <a:prstGeom prst="line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" name="直線コネクタ 92">
              <a:extLst>
                <a:ext uri="{FF2B5EF4-FFF2-40B4-BE49-F238E27FC236}">
                  <a16:creationId xmlns:a16="http://schemas.microsoft.com/office/drawing/2014/main" id="{2B6FF717-9816-630C-5CF5-EDD77E4B8A4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649389" y="2680498"/>
              <a:ext cx="150019" cy="0"/>
            </a:xfrm>
            <a:prstGeom prst="line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" name="直線コネクタ 93">
              <a:extLst>
                <a:ext uri="{FF2B5EF4-FFF2-40B4-BE49-F238E27FC236}">
                  <a16:creationId xmlns:a16="http://schemas.microsoft.com/office/drawing/2014/main" id="{EADEFB6B-4B3E-0197-E2E8-8FC430DCE3E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649389" y="2715424"/>
              <a:ext cx="150019" cy="0"/>
            </a:xfrm>
            <a:prstGeom prst="line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" name="直線コネクタ 94">
              <a:extLst>
                <a:ext uri="{FF2B5EF4-FFF2-40B4-BE49-F238E27FC236}">
                  <a16:creationId xmlns:a16="http://schemas.microsoft.com/office/drawing/2014/main" id="{62166713-2ACC-CC12-C559-630CF6B260C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649389" y="2647676"/>
              <a:ext cx="150019" cy="0"/>
            </a:xfrm>
            <a:prstGeom prst="line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6" name="四角形: 角を丸くする 95">
              <a:extLst>
                <a:ext uri="{FF2B5EF4-FFF2-40B4-BE49-F238E27FC236}">
                  <a16:creationId xmlns:a16="http://schemas.microsoft.com/office/drawing/2014/main" id="{F0F6DFB8-BCBF-5CF1-445A-6DD7D69F7497}"/>
                </a:ext>
              </a:extLst>
            </p:cNvPr>
            <p:cNvSpPr/>
            <p:nvPr/>
          </p:nvSpPr>
          <p:spPr>
            <a:xfrm>
              <a:off x="4671414" y="2631666"/>
              <a:ext cx="105970" cy="97663"/>
            </a:xfrm>
            <a:prstGeom prst="roundRect">
              <a:avLst/>
            </a:prstGeom>
            <a:grpFill/>
            <a:ln w="12700">
              <a:solidFill>
                <a:schemeClr val="tx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pPr algn="ctr" fontAlgn="auto">
                <a:lnSpc>
                  <a:spcPct val="110000"/>
                </a:lnSpc>
                <a:spcBef>
                  <a:spcPts val="200"/>
                </a:spcBef>
                <a:spcAft>
                  <a:spcPts val="200"/>
                </a:spcAft>
              </a:pPr>
              <a:endParaRPr kumimoji="1" lang="ja-JP" altLang="en-US" sz="2000" dirty="0">
                <a:latin typeface="メイリオ" panose="020B0604030504040204" pitchFamily="50" charset="-128"/>
                <a:ea typeface="メイリオ" panose="020B0604030504040204" pitchFamily="50" charset="-128"/>
              </a:endParaRPr>
            </a:p>
          </p:txBody>
        </p:sp>
      </p:grpSp>
      <p:sp>
        <p:nvSpPr>
          <p:cNvPr id="97" name="テキスト ボックス 96">
            <a:extLst>
              <a:ext uri="{FF2B5EF4-FFF2-40B4-BE49-F238E27FC236}">
                <a16:creationId xmlns:a16="http://schemas.microsoft.com/office/drawing/2014/main" id="{05B91E1D-ECF0-BD4B-E840-3D3D12A4440D}"/>
              </a:ext>
            </a:extLst>
          </p:cNvPr>
          <p:cNvSpPr txBox="1"/>
          <p:nvPr/>
        </p:nvSpPr>
        <p:spPr>
          <a:xfrm>
            <a:off x="4125220" y="5537142"/>
            <a:ext cx="618178" cy="1692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 xmlns:a="http://schemas.openxmlformats.org/drawingml/2006/main">
              <a:rPr kumimoji="1" lang="en" altLang="ja-JP" sz="500" b="1" dirty="0">
                <a:solidFill>
                  <a:schemeClr val="bg1"/>
                </a:solidFill>
              </a:rPr>
              <a:t>CPU</a:t>
            </a:r>
            <a:endParaRPr xmlns:a="http://schemas.openxmlformats.org/drawingml/2006/main" kumimoji="1" lang="ja-JP" altLang="en-US" sz="500" b="1" dirty="0">
              <a:solidFill>
                <a:schemeClr val="bg1"/>
              </a:solidFill>
            </a:endParaRPr>
          </a:p>
        </p:txBody>
      </p:sp>
      <p:sp>
        <p:nvSpPr>
          <p:cNvPr id="99" name="正方形/長方形 98">
            <a:extLst>
              <a:ext uri="{FF2B5EF4-FFF2-40B4-BE49-F238E27FC236}">
                <a16:creationId xmlns:a16="http://schemas.microsoft.com/office/drawing/2014/main" id="{3E918A73-5C5A-9DE5-B178-531F88336CA4}"/>
              </a:ext>
            </a:extLst>
          </p:cNvPr>
          <p:cNvSpPr/>
          <p:nvPr/>
        </p:nvSpPr>
        <p:spPr>
          <a:xfrm>
            <a:off x="4114934" y="4991201"/>
            <a:ext cx="978076" cy="169277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xmlns:a="http://schemas.openxmlformats.org/drawingml/2006/main" algn="ctr"/>
            <a:r xmlns:a="http://schemas.openxmlformats.org/drawingml/2006/main">
              <a:rPr kumimoji="1" lang="en" altLang="ja-JP" sz="1100" dirty="0"/>
              <a:t>OS</a:t>
            </a:r>
            <a:endParaRPr xmlns:a="http://schemas.openxmlformats.org/drawingml/2006/main" kumimoji="1" lang="ja-JP" altLang="en-US" sz="1100" dirty="0"/>
          </a:p>
        </p:txBody>
      </p:sp>
      <p:sp>
        <p:nvSpPr>
          <p:cNvPr id="100" name="正方形/長方形 99">
            <a:extLst>
              <a:ext uri="{FF2B5EF4-FFF2-40B4-BE49-F238E27FC236}">
                <a16:creationId xmlns:a16="http://schemas.microsoft.com/office/drawing/2014/main" id="{EBE6B57F-5E41-7BA7-FE43-5BA10FAEF1AC}"/>
              </a:ext>
            </a:extLst>
          </p:cNvPr>
          <p:cNvSpPr/>
          <p:nvPr/>
        </p:nvSpPr>
        <p:spPr>
          <a:xfrm>
            <a:off x="4114934" y="4747034"/>
            <a:ext cx="978076" cy="185767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xmlns:a="http://schemas.openxmlformats.org/drawingml/2006/main" algn="ctr"/>
            <a:r xmlns:a="http://schemas.openxmlformats.org/drawingml/2006/main">
              <a:rPr kumimoji="1" lang="en" altLang="ja-JP" sz="1100" dirty="0"/>
              <a:t>Hypervisor</a:t>
            </a:r>
            <a:endParaRPr xmlns:a="http://schemas.openxmlformats.org/drawingml/2006/main" kumimoji="1" lang="ja-JP" altLang="en-US" sz="1100" dirty="0"/>
          </a:p>
        </p:txBody>
      </p:sp>
      <p:sp>
        <p:nvSpPr>
          <p:cNvPr id="101" name="正方形/長方形 100">
            <a:extLst>
              <a:ext uri="{FF2B5EF4-FFF2-40B4-BE49-F238E27FC236}">
                <a16:creationId xmlns:a16="http://schemas.microsoft.com/office/drawing/2014/main" id="{019EC217-62B2-3B6F-EF1B-08F1423568C3}"/>
              </a:ext>
            </a:extLst>
          </p:cNvPr>
          <p:cNvSpPr/>
          <p:nvPr/>
        </p:nvSpPr>
        <p:spPr>
          <a:xfrm>
            <a:off x="4114934" y="5218879"/>
            <a:ext cx="978076" cy="175756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xmlns:a="http://schemas.openxmlformats.org/drawingml/2006/main" algn="ctr"/>
            <a:r xmlns:a="http://schemas.openxmlformats.org/drawingml/2006/main">
              <a:rPr kumimoji="1" lang="en" altLang="ja-JP" sz="1100" dirty="0"/>
              <a:t>Firmware</a:t>
            </a:r>
            <a:endParaRPr xmlns:a="http://schemas.openxmlformats.org/drawingml/2006/main" kumimoji="1" lang="ja-JP" altLang="en-US" sz="1100" dirty="0"/>
          </a:p>
        </p:txBody>
      </p:sp>
      <p:sp>
        <p:nvSpPr>
          <p:cNvPr id="102" name="正方形/長方形 101">
            <a:extLst>
              <a:ext uri="{FF2B5EF4-FFF2-40B4-BE49-F238E27FC236}">
                <a16:creationId xmlns:a16="http://schemas.microsoft.com/office/drawing/2014/main" id="{18995055-54BC-A5D8-74C0-74CD0028E972}"/>
              </a:ext>
            </a:extLst>
          </p:cNvPr>
          <p:cNvSpPr/>
          <p:nvPr/>
        </p:nvSpPr>
        <p:spPr>
          <a:xfrm>
            <a:off x="4114934" y="4476092"/>
            <a:ext cx="978076" cy="185767"/>
          </a:xfrm>
          <a:prstGeom prst="rect">
            <a:avLst/>
          </a:prstGeom>
          <a:solidFill>
            <a:schemeClr val="accent6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xmlns:a="http://schemas.openxmlformats.org/drawingml/2006/main" algn="ctr"/>
            <a:r xmlns:a="http://schemas.openxmlformats.org/drawingml/2006/main">
              <a:rPr kumimoji="1" lang="en" altLang="ja-JP" sz="1100" dirty="0"/>
              <a:t>Move OS</a:t>
            </a:r>
            <a:endParaRPr xmlns:a="http://schemas.openxmlformats.org/drawingml/2006/main" kumimoji="1" lang="ja-JP" altLang="en-US" sz="1100" dirty="0"/>
          </a:p>
        </p:txBody>
      </p:sp>
      <p:sp>
        <p:nvSpPr>
          <p:cNvPr id="103" name="正方形/長方形 102">
            <a:extLst>
              <a:ext uri="{FF2B5EF4-FFF2-40B4-BE49-F238E27FC236}">
                <a16:creationId xmlns:a16="http://schemas.microsoft.com/office/drawing/2014/main" id="{26F5FF9E-24BE-4C7D-E44B-36B41EE6DD65}"/>
              </a:ext>
            </a:extLst>
          </p:cNvPr>
          <p:cNvSpPr/>
          <p:nvPr/>
        </p:nvSpPr>
        <p:spPr>
          <a:xfrm>
            <a:off x="4114934" y="4239588"/>
            <a:ext cx="978076" cy="185767"/>
          </a:xfrm>
          <a:prstGeom prst="rect">
            <a:avLst/>
          </a:prstGeom>
          <a:solidFill>
            <a:schemeClr val="accent6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xmlns:a="http://schemas.openxmlformats.org/drawingml/2006/main" algn="ctr"/>
            <a:r xmlns:a="http://schemas.openxmlformats.org/drawingml/2006/main">
              <a:rPr kumimoji="1" lang="en" altLang="ja-JP" sz="1100" dirty="0"/>
              <a:t>Nurse</a:t>
            </a:r>
            <a:endParaRPr xmlns:a="http://schemas.openxmlformats.org/drawingml/2006/main" kumimoji="1" lang="ja-JP" altLang="en-US" sz="1100" dirty="0"/>
          </a:p>
        </p:txBody>
      </p:sp>
      <p:cxnSp>
        <p:nvCxnSpPr>
          <p:cNvPr id="78" name="直線コネクタ 77">
            <a:extLst>
              <a:ext uri="{FF2B5EF4-FFF2-40B4-BE49-F238E27FC236}">
                <a16:creationId xmlns:a16="http://schemas.microsoft.com/office/drawing/2014/main" id="{2C06BFD2-48BF-DB01-AA7C-E1C31F71C48F}"/>
              </a:ext>
            </a:extLst>
          </p:cNvPr>
          <p:cNvCxnSpPr>
            <a:cxnSpLocks/>
          </p:cNvCxnSpPr>
          <p:nvPr/>
        </p:nvCxnSpPr>
        <p:spPr>
          <a:xfrm flipV="1">
            <a:off x="3534467" y="3196389"/>
            <a:ext cx="0" cy="2400000"/>
          </a:xfrm>
          <a:prstGeom prst="line">
            <a:avLst/>
          </a:prstGeom>
          <a:ln w="57150">
            <a:solidFill>
              <a:schemeClr val="accent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" name="直線コネクタ 105">
            <a:extLst>
              <a:ext uri="{FF2B5EF4-FFF2-40B4-BE49-F238E27FC236}">
                <a16:creationId xmlns:a16="http://schemas.microsoft.com/office/drawing/2014/main" id="{3005B74C-A497-B94B-CDE7-9D5B4E64DDF8}"/>
              </a:ext>
            </a:extLst>
          </p:cNvPr>
          <p:cNvCxnSpPr>
            <a:cxnSpLocks/>
          </p:cNvCxnSpPr>
          <p:nvPr/>
        </p:nvCxnSpPr>
        <p:spPr>
          <a:xfrm flipV="1">
            <a:off x="4797526" y="3829387"/>
            <a:ext cx="0" cy="1743414"/>
          </a:xfrm>
          <a:prstGeom prst="line">
            <a:avLst/>
          </a:prstGeom>
          <a:ln w="57150">
            <a:solidFill>
              <a:schemeClr val="accent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" name="直線コネクタ 111">
            <a:extLst>
              <a:ext uri="{FF2B5EF4-FFF2-40B4-BE49-F238E27FC236}">
                <a16:creationId xmlns:a16="http://schemas.microsoft.com/office/drawing/2014/main" id="{52BD2CE2-5B0F-C1E6-C30B-859DEDAAFDC5}"/>
              </a:ext>
            </a:extLst>
          </p:cNvPr>
          <p:cNvCxnSpPr>
            <a:cxnSpLocks/>
          </p:cNvCxnSpPr>
          <p:nvPr/>
        </p:nvCxnSpPr>
        <p:spPr>
          <a:xfrm flipV="1">
            <a:off x="6178704" y="3439700"/>
            <a:ext cx="3128" cy="1874064"/>
          </a:xfrm>
          <a:prstGeom prst="line">
            <a:avLst/>
          </a:prstGeom>
          <a:ln w="57150">
            <a:solidFill>
              <a:srgbClr val="00B05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4" name="直線コネクタ 113">
            <a:extLst>
              <a:ext uri="{FF2B5EF4-FFF2-40B4-BE49-F238E27FC236}">
                <a16:creationId xmlns:a16="http://schemas.microsoft.com/office/drawing/2014/main" id="{823811BC-818B-D96B-1A18-93BA4806E65A}"/>
              </a:ext>
            </a:extLst>
          </p:cNvPr>
          <p:cNvCxnSpPr>
            <a:cxnSpLocks/>
          </p:cNvCxnSpPr>
          <p:nvPr/>
        </p:nvCxnSpPr>
        <p:spPr>
          <a:xfrm flipV="1">
            <a:off x="6955448" y="3044536"/>
            <a:ext cx="0" cy="1511158"/>
          </a:xfrm>
          <a:prstGeom prst="line">
            <a:avLst/>
          </a:prstGeom>
          <a:ln w="57150">
            <a:solidFill>
              <a:srgbClr val="00B05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8" name="直線コネクタ 117">
            <a:extLst>
              <a:ext uri="{FF2B5EF4-FFF2-40B4-BE49-F238E27FC236}">
                <a16:creationId xmlns:a16="http://schemas.microsoft.com/office/drawing/2014/main" id="{41FE1DCF-4122-5364-92FC-787D8206E2D3}"/>
              </a:ext>
            </a:extLst>
          </p:cNvPr>
          <p:cNvCxnSpPr>
            <a:cxnSpLocks/>
          </p:cNvCxnSpPr>
          <p:nvPr/>
        </p:nvCxnSpPr>
        <p:spPr>
          <a:xfrm flipH="1" flipV="1">
            <a:off x="6959218" y="4568975"/>
            <a:ext cx="2393" cy="327938"/>
          </a:xfrm>
          <a:prstGeom prst="line">
            <a:avLst/>
          </a:prstGeom>
          <a:ln w="57150">
            <a:solidFill>
              <a:srgbClr val="00B050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1" name="正方形/長方形 120">
            <a:extLst>
              <a:ext uri="{FF2B5EF4-FFF2-40B4-BE49-F238E27FC236}">
                <a16:creationId xmlns:a16="http://schemas.microsoft.com/office/drawing/2014/main" id="{9A53C553-5BB1-5FC6-E24A-EB777272417A}"/>
              </a:ext>
            </a:extLst>
          </p:cNvPr>
          <p:cNvSpPr/>
          <p:nvPr/>
        </p:nvSpPr>
        <p:spPr>
          <a:xfrm>
            <a:off x="5667704" y="2990261"/>
            <a:ext cx="788664" cy="445279"/>
          </a:xfrm>
          <a:prstGeom prst="rect">
            <a:avLst/>
          </a:prstGeom>
          <a:solidFill>
            <a:schemeClr val="bg1"/>
          </a:solidFill>
          <a:ln w="38100">
            <a:solidFill>
              <a:schemeClr val="accent6">
                <a:lumMod val="5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xmlns:a="http://schemas.openxmlformats.org/drawingml/2006/main" algn="ctr"/>
            <a:r>
              <a:t>FPGA accelerator</a:t>
            </a:r>
            <a:endParaRPr xmlns:a="http://schemas.openxmlformats.org/drawingml/2006/main" kumimoji="1" lang="ja-JP" altLang="en-US" sz="1050" b="1" u="sng" dirty="0">
              <a:solidFill>
                <a:schemeClr val="tx1"/>
              </a:solidFill>
            </a:endParaRPr>
          </a:p>
        </p:txBody>
      </p:sp>
      <p:cxnSp>
        <p:nvCxnSpPr>
          <p:cNvPr id="128" name="直線コネクタ 127">
            <a:extLst>
              <a:ext uri="{FF2B5EF4-FFF2-40B4-BE49-F238E27FC236}">
                <a16:creationId xmlns:a16="http://schemas.microsoft.com/office/drawing/2014/main" id="{8957BD1F-784D-37C6-13FA-9C212A9923A7}"/>
              </a:ext>
            </a:extLst>
          </p:cNvPr>
          <p:cNvCxnSpPr>
            <a:cxnSpLocks/>
            <a:stCxn id="121" idx="1"/>
          </p:cNvCxnSpPr>
          <p:nvPr/>
        </p:nvCxnSpPr>
        <p:spPr>
          <a:xfrm flipH="1">
            <a:off x="5036845" y="3212901"/>
            <a:ext cx="630859" cy="167208"/>
          </a:xfrm>
          <a:prstGeom prst="line">
            <a:avLst/>
          </a:prstGeom>
          <a:ln w="57150">
            <a:solidFill>
              <a:schemeClr val="accent1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1" name="吹き出し: 線 130">
            <a:extLst>
              <a:ext uri="{FF2B5EF4-FFF2-40B4-BE49-F238E27FC236}">
                <a16:creationId xmlns:a16="http://schemas.microsoft.com/office/drawing/2014/main" id="{F55A3128-8891-E583-2AFB-5D5119E2EC65}"/>
              </a:ext>
            </a:extLst>
          </p:cNvPr>
          <p:cNvSpPr/>
          <p:nvPr/>
        </p:nvSpPr>
        <p:spPr>
          <a:xfrm>
            <a:off x="167035" y="4237186"/>
            <a:ext cx="2321142" cy="1621727"/>
          </a:xfrm>
          <a:prstGeom prst="borderCallout1">
            <a:avLst>
              <a:gd name="adj1" fmla="val 50058"/>
              <a:gd name="adj2" fmla="val 100540"/>
              <a:gd name="adj3" fmla="val -6914"/>
              <a:gd name="adj4" fmla="val 144545"/>
            </a:avLst>
          </a:prstGeom>
          <a:solidFill>
            <a:schemeClr val="accent2">
              <a:lumMod val="20000"/>
              <a:lumOff val="80000"/>
            </a:schemeClr>
          </a:solidFill>
          <a:ln w="25400">
            <a:solidFill>
              <a:srgbClr val="FF0000"/>
            </a:solidFill>
            <a:headEnd type="none" w="med" len="med"/>
            <a:tailEnd type="oval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Gap 1: Cloud-centric training — VQCs sized for QPUs, not microcontroller/FPGA budgets.</a:t>
            </a:r>
            <a:endParaRPr xmlns:a="http://schemas.openxmlformats.org/drawingml/2006/main" lang="en-US" altLang="ja-JP" sz="1600" b="1" u="sng" dirty="0">
              <a:solidFill>
                <a:schemeClr val="tx1"/>
              </a:solidFill>
            </a:endParaRPr>
          </a:p>
        </p:txBody>
      </p:sp>
      <p:sp>
        <p:nvSpPr>
          <p:cNvPr id="132" name="吹き出し: 線 131">
            <a:extLst>
              <a:ext uri="{FF2B5EF4-FFF2-40B4-BE49-F238E27FC236}">
                <a16:creationId xmlns:a16="http://schemas.microsoft.com/office/drawing/2014/main" id="{6D9D1DC4-3021-5203-6254-61930D6F8EB9}"/>
              </a:ext>
            </a:extLst>
          </p:cNvPr>
          <p:cNvSpPr/>
          <p:nvPr/>
        </p:nvSpPr>
        <p:spPr>
          <a:xfrm>
            <a:off x="7582886" y="5007450"/>
            <a:ext cx="4181208" cy="1348106"/>
          </a:xfrm>
          <a:prstGeom prst="borderCallout1">
            <a:avLst>
              <a:gd name="adj1" fmla="val 9515"/>
              <a:gd name="adj2" fmla="val -649"/>
              <a:gd name="adj3" fmla="val -55583"/>
              <a:gd name="adj4" fmla="val -15759"/>
            </a:avLst>
          </a:prstGeom>
          <a:solidFill>
            <a:schemeClr val="accent2">
              <a:lumMod val="20000"/>
              <a:lumOff val="80000"/>
            </a:schemeClr>
          </a:solidFill>
          <a:ln w="25400">
            <a:solidFill>
              <a:srgbClr val="FF0000"/>
            </a:solidFill>
            <a:headEnd type="none" w="med" len="med"/>
            <a:tailEnd type="oval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t>To deliver deployable hybrid edge intelligence, we address four research gaps in IoT QML:</a:t>
            </a:r>
            <a:endParaRPr xmlns:a="http://schemas.openxmlformats.org/drawingml/2006/main" kumimoji="1" lang="en-US" altLang="ja-JP" b="1" u="sng" dirty="0">
              <a:solidFill>
                <a:schemeClr val="tx1"/>
              </a:solidFill>
            </a:endParaRPr>
          </a:p>
        </p:txBody>
      </p:sp>
      <p:cxnSp>
        <p:nvCxnSpPr>
          <p:cNvPr id="146" name="直線コネクタ 145">
            <a:extLst>
              <a:ext uri="{FF2B5EF4-FFF2-40B4-BE49-F238E27FC236}">
                <a16:creationId xmlns:a16="http://schemas.microsoft.com/office/drawing/2014/main" id="{910FC74F-1724-37C5-3C27-04600EE9847C}"/>
              </a:ext>
            </a:extLst>
          </p:cNvPr>
          <p:cNvCxnSpPr>
            <a:cxnSpLocks/>
            <a:stCxn id="131" idx="0"/>
          </p:cNvCxnSpPr>
          <p:nvPr/>
        </p:nvCxnSpPr>
        <p:spPr>
          <a:xfrm flipV="1">
            <a:off x="2488177" y="4131781"/>
            <a:ext cx="2309349" cy="916269"/>
          </a:xfrm>
          <a:prstGeom prst="line">
            <a:avLst/>
          </a:prstGeom>
          <a:ln w="28575">
            <a:solidFill>
              <a:srgbClr val="FF0000"/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0" name="直線コネクタ 169">
            <a:extLst>
              <a:ext uri="{FF2B5EF4-FFF2-40B4-BE49-F238E27FC236}">
                <a16:creationId xmlns:a16="http://schemas.microsoft.com/office/drawing/2014/main" id="{9643F7F9-19E4-1FDB-37C8-2B6C1918EAD6}"/>
              </a:ext>
            </a:extLst>
          </p:cNvPr>
          <p:cNvCxnSpPr>
            <a:cxnSpLocks/>
          </p:cNvCxnSpPr>
          <p:nvPr/>
        </p:nvCxnSpPr>
        <p:spPr>
          <a:xfrm flipH="1" flipV="1">
            <a:off x="6178703" y="4227677"/>
            <a:ext cx="1394420" cy="941236"/>
          </a:xfrm>
          <a:prstGeom prst="line">
            <a:avLst/>
          </a:prstGeom>
          <a:ln w="28575">
            <a:solidFill>
              <a:srgbClr val="FF0000"/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3" name="直線コネクタ 172">
            <a:extLst>
              <a:ext uri="{FF2B5EF4-FFF2-40B4-BE49-F238E27FC236}">
                <a16:creationId xmlns:a16="http://schemas.microsoft.com/office/drawing/2014/main" id="{5DF68E46-FE2A-297D-B071-DA11B9490DA4}"/>
              </a:ext>
            </a:extLst>
          </p:cNvPr>
          <p:cNvCxnSpPr>
            <a:cxnSpLocks/>
          </p:cNvCxnSpPr>
          <p:nvPr/>
        </p:nvCxnSpPr>
        <p:spPr>
          <a:xfrm flipH="1" flipV="1">
            <a:off x="5317528" y="3337257"/>
            <a:ext cx="2243637" cy="1816655"/>
          </a:xfrm>
          <a:prstGeom prst="line">
            <a:avLst/>
          </a:prstGeom>
          <a:ln w="28575">
            <a:solidFill>
              <a:srgbClr val="FF0000"/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7" name="直線コネクタ 176">
            <a:extLst>
              <a:ext uri="{FF2B5EF4-FFF2-40B4-BE49-F238E27FC236}">
                <a16:creationId xmlns:a16="http://schemas.microsoft.com/office/drawing/2014/main" id="{2D9D07AC-E822-841F-1E34-16880A7711F2}"/>
              </a:ext>
            </a:extLst>
          </p:cNvPr>
          <p:cNvCxnSpPr>
            <a:cxnSpLocks/>
          </p:cNvCxnSpPr>
          <p:nvPr/>
        </p:nvCxnSpPr>
        <p:spPr>
          <a:xfrm flipH="1" flipV="1">
            <a:off x="3741298" y="2501563"/>
            <a:ext cx="2787561" cy="309778"/>
          </a:xfrm>
          <a:prstGeom prst="line">
            <a:avLst/>
          </a:prstGeom>
          <a:ln w="57150">
            <a:solidFill>
              <a:schemeClr val="accent1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1" name="直線コネクタ 180">
            <a:extLst>
              <a:ext uri="{FF2B5EF4-FFF2-40B4-BE49-F238E27FC236}">
                <a16:creationId xmlns:a16="http://schemas.microsoft.com/office/drawing/2014/main" id="{D85ED2B3-20B9-8F5D-3F55-D345B509CDF1}"/>
              </a:ext>
            </a:extLst>
          </p:cNvPr>
          <p:cNvCxnSpPr>
            <a:cxnSpLocks/>
          </p:cNvCxnSpPr>
          <p:nvPr/>
        </p:nvCxnSpPr>
        <p:spPr>
          <a:xfrm flipH="1" flipV="1">
            <a:off x="6283109" y="2766537"/>
            <a:ext cx="1271236" cy="2342623"/>
          </a:xfrm>
          <a:prstGeom prst="line">
            <a:avLst/>
          </a:prstGeom>
          <a:ln w="28575">
            <a:solidFill>
              <a:srgbClr val="FF0000"/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8" name="テキスト ボックス 187">
            <a:extLst>
              <a:ext uri="{FF2B5EF4-FFF2-40B4-BE49-F238E27FC236}">
                <a16:creationId xmlns:a16="http://schemas.microsoft.com/office/drawing/2014/main" id="{2B7A3DF0-1CBB-C84F-7C37-3B830A52E45B}"/>
              </a:ext>
            </a:extLst>
          </p:cNvPr>
          <p:cNvSpPr txBox="1"/>
          <p:nvPr/>
        </p:nvSpPr>
        <p:spPr>
          <a:xfrm>
            <a:off x="9505636" y="1788477"/>
            <a:ext cx="105766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 xmlns:a="http://schemas.openxmlformats.org/drawingml/2006/main">
              <a:rPr kumimoji="1" lang="en" altLang="en-US" sz="1400" dirty="0"/>
              <a:t>User</a:t>
            </a:r>
          </a:p>
        </p:txBody>
      </p:sp>
      <p:sp>
        <p:nvSpPr>
          <p:cNvPr id="191" name="スクロール: 縦 190">
            <a:extLst>
              <a:ext uri="{FF2B5EF4-FFF2-40B4-BE49-F238E27FC236}">
                <a16:creationId xmlns:a16="http://schemas.microsoft.com/office/drawing/2014/main" id="{35600295-6713-C0BE-F80C-0D19572DF1D3}"/>
              </a:ext>
            </a:extLst>
          </p:cNvPr>
          <p:cNvSpPr/>
          <p:nvPr/>
        </p:nvSpPr>
        <p:spPr>
          <a:xfrm>
            <a:off x="8366889" y="2551094"/>
            <a:ext cx="525743" cy="430887"/>
          </a:xfrm>
          <a:prstGeom prst="verticalScroll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92" name="テキスト ボックス 191">
            <a:extLst>
              <a:ext uri="{FF2B5EF4-FFF2-40B4-BE49-F238E27FC236}">
                <a16:creationId xmlns:a16="http://schemas.microsoft.com/office/drawing/2014/main" id="{3EB0FF8E-75C1-94B8-9924-468C9A2916E6}"/>
              </a:ext>
            </a:extLst>
          </p:cNvPr>
          <p:cNvSpPr txBox="1"/>
          <p:nvPr/>
        </p:nvSpPr>
        <p:spPr>
          <a:xfrm>
            <a:off x="8382080" y="2656010"/>
            <a:ext cx="8382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 xmlns:a="http://schemas.openxmlformats.org/drawingml/2006/main">
              <a:rPr kumimoji="1" lang="en" altLang="ja-JP" sz="1200" b="1" dirty="0">
                <a:solidFill>
                  <a:srgbClr val="7030A0"/>
                </a:solidFill>
              </a:rPr>
              <a:t>Sign</a:t>
            </a:r>
            <a:endParaRPr xmlns:a="http://schemas.openxmlformats.org/drawingml/2006/main" kumimoji="1" lang="ja-JP" altLang="en-US" sz="1200" b="1" dirty="0">
              <a:solidFill>
                <a:srgbClr val="7030A0"/>
              </a:solidFill>
            </a:endParaRPr>
          </a:p>
        </p:txBody>
      </p:sp>
      <p:sp>
        <p:nvSpPr>
          <p:cNvPr id="193" name="スクロール: 縦 192">
            <a:extLst>
              <a:ext uri="{FF2B5EF4-FFF2-40B4-BE49-F238E27FC236}">
                <a16:creationId xmlns:a16="http://schemas.microsoft.com/office/drawing/2014/main" id="{997E8AF9-50AB-84D6-4FEF-EF4F6CBE5B58}"/>
              </a:ext>
            </a:extLst>
          </p:cNvPr>
          <p:cNvSpPr/>
          <p:nvPr/>
        </p:nvSpPr>
        <p:spPr>
          <a:xfrm>
            <a:off x="10766644" y="3440850"/>
            <a:ext cx="525743" cy="430887"/>
          </a:xfrm>
          <a:prstGeom prst="verticalScroll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94" name="テキスト ボックス 193">
            <a:extLst>
              <a:ext uri="{FF2B5EF4-FFF2-40B4-BE49-F238E27FC236}">
                <a16:creationId xmlns:a16="http://schemas.microsoft.com/office/drawing/2014/main" id="{87934B47-F6FA-8F72-9F90-FF8E8CD83DD5}"/>
              </a:ext>
            </a:extLst>
          </p:cNvPr>
          <p:cNvSpPr txBox="1"/>
          <p:nvPr/>
        </p:nvSpPr>
        <p:spPr>
          <a:xfrm>
            <a:off x="10807919" y="3544816"/>
            <a:ext cx="8382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 xmlns:a="http://schemas.openxmlformats.org/drawingml/2006/main">
              <a:rPr lang="en" altLang="en-US" sz="1200" b="1" dirty="0">
                <a:solidFill>
                  <a:srgbClr val="7030A0"/>
                </a:solidFill>
              </a:rPr>
              <a:t>correct answer</a:t>
            </a:r>
            <a:endParaRPr xmlns:a="http://schemas.openxmlformats.org/drawingml/2006/main" kumimoji="1" lang="ja-JP" altLang="en-US" sz="1200" b="1" dirty="0">
              <a:solidFill>
                <a:srgbClr val="7030A0"/>
              </a:solidFill>
            </a:endParaRPr>
          </a:p>
        </p:txBody>
      </p:sp>
      <p:sp>
        <p:nvSpPr>
          <p:cNvPr id="202" name="テキスト ボックス 201">
            <a:extLst>
              <a:ext uri="{FF2B5EF4-FFF2-40B4-BE49-F238E27FC236}">
                <a16:creationId xmlns:a16="http://schemas.microsoft.com/office/drawing/2014/main" id="{412E7AB5-149B-719A-A4AE-598E703E7F74}"/>
              </a:ext>
            </a:extLst>
          </p:cNvPr>
          <p:cNvSpPr txBox="1"/>
          <p:nvPr/>
        </p:nvSpPr>
        <p:spPr>
          <a:xfrm>
            <a:off x="101923" y="3886303"/>
            <a:ext cx="132045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t>Gap 1</a:t>
            </a:r>
          </a:p>
        </p:txBody>
      </p:sp>
      <p:sp>
        <p:nvSpPr>
          <p:cNvPr id="215" name="テキスト ボックス 214">
            <a:extLst>
              <a:ext uri="{FF2B5EF4-FFF2-40B4-BE49-F238E27FC236}">
                <a16:creationId xmlns:a16="http://schemas.microsoft.com/office/drawing/2014/main" id="{5B41C9F4-9364-E073-BCC5-9C050363BEE3}"/>
              </a:ext>
            </a:extLst>
          </p:cNvPr>
          <p:cNvSpPr txBox="1"/>
          <p:nvPr/>
        </p:nvSpPr>
        <p:spPr>
          <a:xfrm>
            <a:off x="7516341" y="4647940"/>
            <a:ext cx="132045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t>Gaps 2–4</a:t>
            </a:r>
          </a:p>
        </p:txBody>
      </p:sp>
      <p:sp>
        <p:nvSpPr>
          <p:cNvPr id="218" name="テキスト ボックス 217">
            <a:extLst>
              <a:ext uri="{FF2B5EF4-FFF2-40B4-BE49-F238E27FC236}">
                <a16:creationId xmlns:a16="http://schemas.microsoft.com/office/drawing/2014/main" id="{07AE042F-44A0-EEEE-F6F9-4FF8670D2B20}"/>
              </a:ext>
            </a:extLst>
          </p:cNvPr>
          <p:cNvSpPr txBox="1"/>
          <p:nvPr/>
        </p:nvSpPr>
        <p:spPr>
          <a:xfrm>
            <a:off x="10175192" y="3328466"/>
            <a:ext cx="73069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 xmlns:a="http://schemas.openxmlformats.org/drawingml/2006/main">
              <a:rPr kumimoji="1" lang="en" altLang="en-US" sz="1400" dirty="0"/>
              <a:t>verification</a:t>
            </a:r>
          </a:p>
        </p:txBody>
      </p:sp>
      <p:sp>
        <p:nvSpPr>
          <p:cNvPr id="219" name="スクロール: 縦 218">
            <a:extLst>
              <a:ext uri="{FF2B5EF4-FFF2-40B4-BE49-F238E27FC236}">
                <a16:creationId xmlns:a16="http://schemas.microsoft.com/office/drawing/2014/main" id="{D4A00910-FF67-F0CA-F2D7-E40306A610C7}"/>
              </a:ext>
            </a:extLst>
          </p:cNvPr>
          <p:cNvSpPr/>
          <p:nvPr/>
        </p:nvSpPr>
        <p:spPr>
          <a:xfrm>
            <a:off x="9553485" y="3406164"/>
            <a:ext cx="525743" cy="430887"/>
          </a:xfrm>
          <a:prstGeom prst="verticalScroll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20" name="テキスト ボックス 219">
            <a:extLst>
              <a:ext uri="{FF2B5EF4-FFF2-40B4-BE49-F238E27FC236}">
                <a16:creationId xmlns:a16="http://schemas.microsoft.com/office/drawing/2014/main" id="{24022CF1-2E4F-F519-62F6-07052B3E8098}"/>
              </a:ext>
            </a:extLst>
          </p:cNvPr>
          <p:cNvSpPr txBox="1"/>
          <p:nvPr/>
        </p:nvSpPr>
        <p:spPr>
          <a:xfrm>
            <a:off x="9563929" y="3467847"/>
            <a:ext cx="8382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 xmlns:a="http://schemas.openxmlformats.org/drawingml/2006/main">
              <a:rPr kumimoji="1" lang="en" altLang="ja-JP" sz="1200" b="1" dirty="0">
                <a:solidFill>
                  <a:srgbClr val="7030A0"/>
                </a:solidFill>
              </a:rPr>
              <a:t>Sign</a:t>
            </a:r>
            <a:endParaRPr xmlns:a="http://schemas.openxmlformats.org/drawingml/2006/main" kumimoji="1" lang="ja-JP" altLang="en-US" sz="1200" b="1" dirty="0">
              <a:solidFill>
                <a:srgbClr val="7030A0"/>
              </a:solidFill>
            </a:endParaRPr>
          </a:p>
        </p:txBody>
      </p:sp>
      <p:cxnSp>
        <p:nvCxnSpPr>
          <p:cNvPr id="222" name="直線矢印コネクタ 221">
            <a:extLst>
              <a:ext uri="{FF2B5EF4-FFF2-40B4-BE49-F238E27FC236}">
                <a16:creationId xmlns:a16="http://schemas.microsoft.com/office/drawing/2014/main" id="{53E00B25-50A9-BBEE-F889-AC65FDA17507}"/>
              </a:ext>
            </a:extLst>
          </p:cNvPr>
          <p:cNvCxnSpPr/>
          <p:nvPr/>
        </p:nvCxnSpPr>
        <p:spPr>
          <a:xfrm>
            <a:off x="10143897" y="3628482"/>
            <a:ext cx="558325" cy="0"/>
          </a:xfrm>
          <a:prstGeom prst="straightConnector1">
            <a:avLst/>
          </a:prstGeom>
          <a:ln>
            <a:solidFill>
              <a:schemeClr val="tx1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5" name="テキスト ボックス 224">
            <a:extLst>
              <a:ext uri="{FF2B5EF4-FFF2-40B4-BE49-F238E27FC236}">
                <a16:creationId xmlns:a16="http://schemas.microsoft.com/office/drawing/2014/main" id="{F4B3D9D0-0A65-5C8F-21E5-2A509C840F1E}"/>
              </a:ext>
            </a:extLst>
          </p:cNvPr>
          <p:cNvSpPr txBox="1"/>
          <p:nvPr/>
        </p:nvSpPr>
        <p:spPr>
          <a:xfrm>
            <a:off x="8577193" y="3905481"/>
            <a:ext cx="351936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Doctoral aim: sustainable IoT anomaly detection under fixed power and latency budgets.</a:t>
            </a:r>
            <a:endParaRPr xmlns:a="http://schemas.openxmlformats.org/drawingml/2006/main" lang="en-US" altLang="ja-JP" sz="1400" b="1" dirty="0"/>
          </a:p>
        </p:txBody>
      </p:sp>
      <p:sp>
        <p:nvSpPr>
          <p:cNvPr id="233" name="テキスト ボックス 232">
            <a:extLst>
              <a:ext uri="{FF2B5EF4-FFF2-40B4-BE49-F238E27FC236}">
                <a16:creationId xmlns:a16="http://schemas.microsoft.com/office/drawing/2014/main" id="{ED294E0F-6CA4-9B44-9096-4970E5A41EAB}"/>
              </a:ext>
            </a:extLst>
          </p:cNvPr>
          <p:cNvSpPr txBox="1"/>
          <p:nvPr/>
        </p:nvSpPr>
        <p:spPr>
          <a:xfrm>
            <a:off x="1247575" y="3105804"/>
            <a:ext cx="263048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 xmlns:a="http://schemas.openxmlformats.org/drawingml/2006/main">
              <a:rPr kumimoji="1" lang="en" altLang="ja-JP" sz="1600" dirty="0"/>
              <a:t>Cloud</a:t>
            </a:r>
          </a:p>
          <a:p>
            <a:r xmlns:a="http://schemas.openxmlformats.org/drawingml/2006/main">
              <a:rPr kumimoji="1" lang="en" altLang="ja-JP" sz="1600" dirty="0"/>
              <a:t>Service</a:t>
            </a: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ACC538BB-1CDE-C2EB-EDD7-684E1516DCBE}"/>
              </a:ext>
            </a:extLst>
          </p:cNvPr>
          <p:cNvSpPr txBox="1"/>
          <p:nvPr/>
        </p:nvSpPr>
        <p:spPr>
          <a:xfrm>
            <a:off x="3100545" y="5528807"/>
            <a:ext cx="81106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 xmlns:a="http://schemas.openxmlformats.org/drawingml/2006/main">
              <a:rPr kumimoji="1" lang="en" altLang="ja-JP" sz="1100" b="1" dirty="0" err="1">
                <a:solidFill>
                  <a:srgbClr val="0070C0"/>
                </a:solidFill>
              </a:rPr>
              <a:t>RoT</a:t>
            </a:r>
            <a:endParaRPr xmlns:a="http://schemas.openxmlformats.org/drawingml/2006/main" kumimoji="1" lang="ja-JP" altLang="en-US" sz="1100" b="1" dirty="0">
              <a:solidFill>
                <a:srgbClr val="0070C0"/>
              </a:solidFill>
            </a:endParaRP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81AB122E-5ECF-3AAA-BEDD-ACC606D84154}"/>
              </a:ext>
            </a:extLst>
          </p:cNvPr>
          <p:cNvSpPr txBox="1"/>
          <p:nvPr/>
        </p:nvSpPr>
        <p:spPr>
          <a:xfrm>
            <a:off x="4378231" y="5537148"/>
            <a:ext cx="81106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 xmlns:a="http://schemas.openxmlformats.org/drawingml/2006/main">
              <a:rPr kumimoji="1" lang="en" altLang="ja-JP" sz="1100" b="1" dirty="0" err="1">
                <a:solidFill>
                  <a:srgbClr val="0070C0"/>
                </a:solidFill>
              </a:rPr>
              <a:t>RoT</a:t>
            </a:r>
            <a:endParaRPr xmlns:a="http://schemas.openxmlformats.org/drawingml/2006/main" kumimoji="1" lang="ja-JP" altLang="en-US" sz="1100" b="1" dirty="0">
              <a:solidFill>
                <a:srgbClr val="0070C0"/>
              </a:solidFill>
            </a:endParaRPr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E032AC08-D7A8-1985-29F6-8299C3D474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44AA7B-1733-46A6-89F2-666551969EC7}" type="slidenum">
              <a:rPr kumimoji="1" lang="ja-JP" altLang="en-US" smtClean="0"/>
              <a:t>13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0010926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783BBA4-23EE-E8F0-B3A1-CDAC2FE731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 xmlns:a="http://schemas.openxmlformats.org/drawingml/2006/main">
              <a:rPr kumimoji="1" lang="en" altLang="en-US" dirty="0"/>
              <a:t>Related research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8EE600EB-13CA-A75C-4238-2DE68241254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6927" y="1462088"/>
            <a:ext cx="10515600" cy="4999839"/>
          </a:xfrm>
        </p:spPr>
        <p:txBody>
          <a:bodyPr>
            <a:normAutofit/>
          </a:bodyPr>
          <a:lstStyle/>
          <a:p>
            <a:r>
              <a:t>Prior QML for IoT anomaly detection (Chowdhury et al., AIMLSystems 2025)</a:t>
            </a:r>
            <a:br/>
            <a:r>
              <a:t>  → Competitive accuracy but substantial simulator-era overhead</a:t>
            </a:r>
            <a:br/>
            <a:br/>
            <a:r>
              <a:t>Projected quantum kernels for IoT (D'Amore et al., PICom 2024)</a:t>
            </a:r>
            <a:br/>
            <a:r>
              <a:t>  → Cloud-centric; limited edge deployability evidence</a:t>
            </a:r>
            <a:br/>
            <a:br/>
            <a:r>
              <a:t>Candidate's four-paradigm IoT survey (Babu &amp; Mitra)</a:t>
            </a:r>
            <a:br/>
            <a:r>
              <a:t>  → PRISMA corpus n=57; unified benchmarks; TRL roadmap</a:t>
            </a:r>
            <a:br/>
            <a:br/>
            <a:r>
              <a:t>Embedded QML feasibility study (Dey &amp; Raza, 2026)</a:t>
            </a:r>
            <a:br/>
            <a:r>
              <a:t>  → Hybrid architectures promising; deployment evidence still sparse</a:t>
            </a:r>
          </a:p>
        </p:txBody>
      </p:sp>
      <p:sp>
        <p:nvSpPr>
          <p:cNvPr id="4" name="吹き出し: 線 3">
            <a:extLst>
              <a:ext uri="{FF2B5EF4-FFF2-40B4-BE49-F238E27FC236}">
                <a16:creationId xmlns:a16="http://schemas.microsoft.com/office/drawing/2014/main" id="{C58F3BC2-EF76-DCDB-9122-60516CED68F5}"/>
              </a:ext>
            </a:extLst>
          </p:cNvPr>
          <p:cNvSpPr/>
          <p:nvPr/>
        </p:nvSpPr>
        <p:spPr>
          <a:xfrm>
            <a:off x="9432490" y="1488646"/>
            <a:ext cx="2321142" cy="731342"/>
          </a:xfrm>
          <a:prstGeom prst="borderCallout1">
            <a:avLst>
              <a:gd name="adj1" fmla="val 51610"/>
              <a:gd name="adj2" fmla="val 66"/>
              <a:gd name="adj3" fmla="val 7138"/>
              <a:gd name="adj4" fmla="val -72383"/>
            </a:avLst>
          </a:prstGeom>
          <a:solidFill>
            <a:schemeClr val="accent2">
              <a:lumMod val="20000"/>
              <a:lumOff val="80000"/>
            </a:schemeClr>
          </a:solidFill>
          <a:ln w="25400">
            <a:solidFill>
              <a:srgbClr val="FF0000"/>
            </a:solidFill>
            <a:headEnd type="none" w="med" len="med"/>
            <a:tailEnd type="oval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Survey gap:</a:t>
            </a:r>
            <a:br/>
            <a:r>
              <a:t>Cloud-centric QML</a:t>
            </a:r>
            <a:endParaRPr xmlns:a="http://schemas.openxmlformats.org/drawingml/2006/main" lang="en-US" altLang="ja-JP" sz="1600" dirty="0">
              <a:solidFill>
                <a:schemeClr val="tx1"/>
              </a:solidFill>
            </a:endParaRPr>
          </a:p>
        </p:txBody>
      </p:sp>
      <p:sp>
        <p:nvSpPr>
          <p:cNvPr id="7" name="吹き出し: 線 6">
            <a:extLst>
              <a:ext uri="{FF2B5EF4-FFF2-40B4-BE49-F238E27FC236}">
                <a16:creationId xmlns:a16="http://schemas.microsoft.com/office/drawing/2014/main" id="{0B2FB9BE-3448-F02D-42A0-C24A950CD7F2}"/>
              </a:ext>
            </a:extLst>
          </p:cNvPr>
          <p:cNvSpPr/>
          <p:nvPr/>
        </p:nvSpPr>
        <p:spPr>
          <a:xfrm>
            <a:off x="9163135" y="4549411"/>
            <a:ext cx="2393276" cy="581405"/>
          </a:xfrm>
          <a:prstGeom prst="borderCallout1">
            <a:avLst>
              <a:gd name="adj1" fmla="val 18517"/>
              <a:gd name="adj2" fmla="val -1188"/>
              <a:gd name="adj3" fmla="val 82331"/>
              <a:gd name="adj4" fmla="val -57360"/>
            </a:avLst>
          </a:prstGeom>
          <a:solidFill>
            <a:schemeClr val="accent2">
              <a:lumMod val="20000"/>
              <a:lumOff val="80000"/>
            </a:schemeClr>
          </a:solidFill>
          <a:ln w="25400">
            <a:solidFill>
              <a:srgbClr val="FF0000"/>
            </a:solidFill>
            <a:headEnd type="none" w="med" len="med"/>
            <a:tailEnd type="oval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t>Doctoral focus:</a:t>
            </a:r>
            <a:br/>
            <a:r>
              <a:t>Edge deployability</a:t>
            </a:r>
            <a:endParaRPr xmlns:a="http://schemas.openxmlformats.org/drawingml/2006/main" kumimoji="1" lang="en-US" altLang="ja-JP" dirty="0">
              <a:solidFill>
                <a:schemeClr val="tx1"/>
              </a:solidFill>
            </a:endParaRPr>
          </a:p>
        </p:txBody>
      </p:sp>
      <p:sp>
        <p:nvSpPr>
          <p:cNvPr id="10" name="矢印: 下 9">
            <a:extLst>
              <a:ext uri="{FF2B5EF4-FFF2-40B4-BE49-F238E27FC236}">
                <a16:creationId xmlns:a16="http://schemas.microsoft.com/office/drawing/2014/main" id="{CE41891D-F44C-C87C-E801-EDDED71E6824}"/>
              </a:ext>
            </a:extLst>
          </p:cNvPr>
          <p:cNvSpPr/>
          <p:nvPr/>
        </p:nvSpPr>
        <p:spPr>
          <a:xfrm>
            <a:off x="10323706" y="5202298"/>
            <a:ext cx="409303" cy="339634"/>
          </a:xfrm>
          <a:prstGeom prst="downArrow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C703CAD5-7DDC-95A7-7770-A8BE1C0AB7A0}"/>
              </a:ext>
            </a:extLst>
          </p:cNvPr>
          <p:cNvSpPr txBox="1"/>
          <p:nvPr/>
        </p:nvSpPr>
        <p:spPr>
          <a:xfrm>
            <a:off x="8680586" y="5626711"/>
            <a:ext cx="3358374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t>RQ1: Under fixed power P and latency T, can hybrid inference match classical edge accuracy within tolerance ε?</a:t>
            </a:r>
            <a:endParaRPr xmlns:a="http://schemas.openxmlformats.org/drawingml/2006/main" kumimoji="1" lang="en-US" altLang="ja-JP" sz="1400" b="1" dirty="0">
              <a:solidFill>
                <a:srgbClr val="FF0000"/>
              </a:solidFill>
            </a:endParaRPr>
          </a:p>
        </p:txBody>
      </p:sp>
      <p:sp>
        <p:nvSpPr>
          <p:cNvPr id="12" name="矢印: 下 11">
            <a:extLst>
              <a:ext uri="{FF2B5EF4-FFF2-40B4-BE49-F238E27FC236}">
                <a16:creationId xmlns:a16="http://schemas.microsoft.com/office/drawing/2014/main" id="{2B56F34C-647E-EFD4-70EA-201FD0AEB78C}"/>
              </a:ext>
            </a:extLst>
          </p:cNvPr>
          <p:cNvSpPr/>
          <p:nvPr/>
        </p:nvSpPr>
        <p:spPr>
          <a:xfrm>
            <a:off x="10323706" y="2365493"/>
            <a:ext cx="409303" cy="339634"/>
          </a:xfrm>
          <a:prstGeom prst="downArrow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B9763168-C966-9E53-8884-C91DA0BAF40D}"/>
              </a:ext>
            </a:extLst>
          </p:cNvPr>
          <p:cNvSpPr txBox="1"/>
          <p:nvPr/>
        </p:nvSpPr>
        <p:spPr>
          <a:xfrm>
            <a:off x="8692201" y="2776609"/>
            <a:ext cx="3130551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t>RQ2–RQ3: Which compression strategies minimise resource use? Does FPGA offload improve joules-per-inference vs. ARM gateways?</a:t>
            </a:r>
            <a:endParaRPr xmlns:a="http://schemas.openxmlformats.org/drawingml/2006/main" lang="en-US" altLang="ja-JP" sz="1200" dirty="0">
              <a:solidFill>
                <a:srgbClr val="FF0000"/>
              </a:solidFill>
            </a:endParaRPr>
          </a:p>
        </p:txBody>
      </p:sp>
      <p:cxnSp>
        <p:nvCxnSpPr>
          <p:cNvPr id="17" name="直線コネクタ 16">
            <a:extLst>
              <a:ext uri="{FF2B5EF4-FFF2-40B4-BE49-F238E27FC236}">
                <a16:creationId xmlns:a16="http://schemas.microsoft.com/office/drawing/2014/main" id="{7D37229E-CFA6-D621-CD9B-59B160DF5658}"/>
              </a:ext>
            </a:extLst>
          </p:cNvPr>
          <p:cNvCxnSpPr>
            <a:cxnSpLocks/>
            <a:stCxn id="4" idx="2"/>
          </p:cNvCxnSpPr>
          <p:nvPr/>
        </p:nvCxnSpPr>
        <p:spPr>
          <a:xfrm flipH="1">
            <a:off x="7722704" y="1854317"/>
            <a:ext cx="1709786" cy="1315135"/>
          </a:xfrm>
          <a:prstGeom prst="line">
            <a:avLst/>
          </a:prstGeom>
          <a:ln w="28575">
            <a:solidFill>
              <a:srgbClr val="FF0000"/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97DD12D7-983F-59DA-27C3-45CD282D63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44AA7B-1733-46A6-89F2-666551969EC7}" type="slidenum">
              <a:rPr kumimoji="1" lang="ja-JP" altLang="en-US" smtClean="0"/>
              <a:t>14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508217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9B5F2EB-B699-1EFB-8C55-84CF05314E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Approach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77DDD880-D304-2388-0AA5-E2EA1C93BD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49318"/>
            <a:ext cx="11133844" cy="686389"/>
          </a:xfrm>
        </p:spPr>
        <p:txBody>
          <a:bodyPr>
            <a:normAutofit fontScale="92500"/>
          </a:bodyPr>
          <a:lstStyle/>
          <a:p>
            <a:pPr xmlns:a="http://schemas.openxmlformats.org/drawingml/2006/main" marL="0" indent="0">
              <a:buNone/>
            </a:pPr>
            <a:r>
              <a:t>Design and implement a hardware-aware hybrid pipeline: simulator/cloud training, compressed edge inference, unified benchmarking.</a:t>
            </a:r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6FDB296A-72D1-4176-6C0D-A06EF12CF0CE}"/>
              </a:ext>
            </a:extLst>
          </p:cNvPr>
          <p:cNvSpPr/>
          <p:nvPr/>
        </p:nvSpPr>
        <p:spPr>
          <a:xfrm>
            <a:off x="1481441" y="5328957"/>
            <a:ext cx="1280640" cy="408847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3810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9FC6936C-1CDE-BD1F-642F-15A94F7C0EAE}"/>
              </a:ext>
            </a:extLst>
          </p:cNvPr>
          <p:cNvSpPr txBox="1"/>
          <p:nvPr/>
        </p:nvSpPr>
        <p:spPr>
          <a:xfrm>
            <a:off x="1549170" y="5412982"/>
            <a:ext cx="114230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t>Training phase</a:t>
            </a:r>
            <a:br/>
            <a:r>
              <a:t>(Qiskit / PennyLane)</a:t>
            </a:r>
            <a:endParaRPr xmlns:a="http://schemas.openxmlformats.org/drawingml/2006/main" kumimoji="1" lang="ja-JP" altLang="en-US" sz="1200" dirty="0"/>
          </a:p>
        </p:txBody>
      </p:sp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9F41F435-1117-FC2E-2BE1-B2F2AB094421}"/>
              </a:ext>
            </a:extLst>
          </p:cNvPr>
          <p:cNvSpPr/>
          <p:nvPr/>
        </p:nvSpPr>
        <p:spPr>
          <a:xfrm>
            <a:off x="1481441" y="3781690"/>
            <a:ext cx="1280640" cy="642295"/>
          </a:xfrm>
          <a:prstGeom prst="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cxnSp>
        <p:nvCxnSpPr>
          <p:cNvPr id="8" name="直線コネクタ 7">
            <a:extLst>
              <a:ext uri="{FF2B5EF4-FFF2-40B4-BE49-F238E27FC236}">
                <a16:creationId xmlns:a16="http://schemas.microsoft.com/office/drawing/2014/main" id="{96EBEFC9-4382-C220-35B9-BB314959FDED}"/>
              </a:ext>
            </a:extLst>
          </p:cNvPr>
          <p:cNvCxnSpPr>
            <a:cxnSpLocks/>
          </p:cNvCxnSpPr>
          <p:nvPr/>
        </p:nvCxnSpPr>
        <p:spPr>
          <a:xfrm flipV="1">
            <a:off x="2447362" y="4423985"/>
            <a:ext cx="0" cy="947387"/>
          </a:xfrm>
          <a:prstGeom prst="line">
            <a:avLst/>
          </a:prstGeom>
          <a:ln w="5715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28EBB0D1-3A4C-0382-6D5A-E019FA50BE30}"/>
              </a:ext>
            </a:extLst>
          </p:cNvPr>
          <p:cNvSpPr txBox="1"/>
          <p:nvPr/>
        </p:nvSpPr>
        <p:spPr>
          <a:xfrm>
            <a:off x="1481441" y="3782096"/>
            <a:ext cx="114230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t>Compression &amp;</a:t>
            </a:r>
            <a:br/>
            <a:r>
              <a:t>export</a:t>
            </a:r>
            <a:endParaRPr xmlns:a="http://schemas.openxmlformats.org/drawingml/2006/main" lang="en-US" altLang="ja-JP" sz="1200" dirty="0"/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71CD62BB-6406-7CCC-DBC5-D99CF978E451}"/>
              </a:ext>
            </a:extLst>
          </p:cNvPr>
          <p:cNvSpPr txBox="1"/>
          <p:nvPr/>
        </p:nvSpPr>
        <p:spPr>
          <a:xfrm>
            <a:off x="1213803" y="4850027"/>
            <a:ext cx="134259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t>Benchmark harness</a:t>
            </a:r>
            <a:endParaRPr xmlns:a="http://schemas.openxmlformats.org/drawingml/2006/main" kumimoji="1" lang="ja-JP" altLang="en-US" sz="1200" dirty="0"/>
          </a:p>
        </p:txBody>
      </p:sp>
      <p:cxnSp>
        <p:nvCxnSpPr>
          <p:cNvPr id="14" name="直線矢印コネクタ 13">
            <a:extLst>
              <a:ext uri="{FF2B5EF4-FFF2-40B4-BE49-F238E27FC236}">
                <a16:creationId xmlns:a16="http://schemas.microsoft.com/office/drawing/2014/main" id="{6C4C9BFE-0BED-5FE0-B751-B5ADBDB18580}"/>
              </a:ext>
            </a:extLst>
          </p:cNvPr>
          <p:cNvCxnSpPr>
            <a:cxnSpLocks/>
          </p:cNvCxnSpPr>
          <p:nvPr/>
        </p:nvCxnSpPr>
        <p:spPr>
          <a:xfrm>
            <a:off x="3231654" y="5090204"/>
            <a:ext cx="925503" cy="0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16E0477C-F4F4-009A-DD76-D3360FD9BFEA}"/>
              </a:ext>
            </a:extLst>
          </p:cNvPr>
          <p:cNvSpPr txBox="1"/>
          <p:nvPr/>
        </p:nvSpPr>
        <p:spPr>
          <a:xfrm>
            <a:off x="3187986" y="5229401"/>
            <a:ext cx="101283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 xmlns:a="http://schemas.openxmlformats.org/drawingml/2006/main">
              <a:rPr lang="en" altLang="ja-JP" sz="1200" dirty="0"/>
              <a:t>Remote </a:t>
            </a:r>
            <a:br xmlns:a="http://schemas.openxmlformats.org/drawingml/2006/main">
              <a:rPr lang="en-US" altLang="ja-JP" sz="1200" dirty="0"/>
            </a:br>
            <a:r xmlns:a="http://schemas.openxmlformats.org/drawingml/2006/main">
              <a:rPr lang="en" altLang="ja-JP" sz="1200" dirty="0"/>
              <a:t>Attestation</a:t>
            </a:r>
            <a:endParaRPr xmlns:a="http://schemas.openxmlformats.org/drawingml/2006/main" kumimoji="1" lang="ja-JP" altLang="en-US" sz="1200" dirty="0"/>
          </a:p>
        </p:txBody>
      </p:sp>
      <p:sp>
        <p:nvSpPr>
          <p:cNvPr id="18" name="楕円 17">
            <a:extLst>
              <a:ext uri="{FF2B5EF4-FFF2-40B4-BE49-F238E27FC236}">
                <a16:creationId xmlns:a16="http://schemas.microsoft.com/office/drawing/2014/main" id="{79CBCB45-19C0-8391-38DD-0D87DB5FB222}"/>
              </a:ext>
            </a:extLst>
          </p:cNvPr>
          <p:cNvSpPr/>
          <p:nvPr/>
        </p:nvSpPr>
        <p:spPr>
          <a:xfrm>
            <a:off x="4432201" y="4853307"/>
            <a:ext cx="279400" cy="236897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9" name="二等辺三角形 18">
            <a:extLst>
              <a:ext uri="{FF2B5EF4-FFF2-40B4-BE49-F238E27FC236}">
                <a16:creationId xmlns:a16="http://schemas.microsoft.com/office/drawing/2014/main" id="{43DF33E4-71E1-DA23-7D9E-751AECF5F29A}"/>
              </a:ext>
            </a:extLst>
          </p:cNvPr>
          <p:cNvSpPr/>
          <p:nvPr/>
        </p:nvSpPr>
        <p:spPr>
          <a:xfrm>
            <a:off x="4415267" y="5001724"/>
            <a:ext cx="313262" cy="250605"/>
          </a:xfrm>
          <a:prstGeom prst="triangl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0" name="吹き出し: 四角形 19">
            <a:extLst>
              <a:ext uri="{FF2B5EF4-FFF2-40B4-BE49-F238E27FC236}">
                <a16:creationId xmlns:a16="http://schemas.microsoft.com/office/drawing/2014/main" id="{EBB0C66B-15F3-6DE7-FF64-E43E37F3A7CF}"/>
              </a:ext>
            </a:extLst>
          </p:cNvPr>
          <p:cNvSpPr/>
          <p:nvPr/>
        </p:nvSpPr>
        <p:spPr>
          <a:xfrm>
            <a:off x="3107600" y="3564997"/>
            <a:ext cx="1079863" cy="305708"/>
          </a:xfrm>
          <a:prstGeom prst="wedgeRectCallout">
            <a:avLst>
              <a:gd name="adj1" fmla="val -84407"/>
              <a:gd name="adj2" fmla="val 55828"/>
            </a:avLst>
          </a:prstGeom>
          <a:solidFill>
            <a:schemeClr val="accent2">
              <a:lumMod val="20000"/>
              <a:lumOff val="80000"/>
            </a:schemeClr>
          </a:solidFill>
          <a:ln w="2857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xmlns:a="http://schemas.openxmlformats.org/drawingml/2006/main" algn="ctr"/>
            <a:r>
              <a:t>Qubit-depth</a:t>
            </a:r>
            <a:br/>
            <a:r>
              <a:t>constraints</a:t>
            </a:r>
            <a:endParaRPr xmlns:a="http://schemas.openxmlformats.org/drawingml/2006/main" kumimoji="1" lang="ja-JP" altLang="en-US" sz="1100" dirty="0">
              <a:solidFill>
                <a:schemeClr val="tx1"/>
              </a:solidFill>
            </a:endParaRPr>
          </a:p>
        </p:txBody>
      </p:sp>
      <p:sp>
        <p:nvSpPr>
          <p:cNvPr id="21" name="吹き出し: 四角形 20">
            <a:extLst>
              <a:ext uri="{FF2B5EF4-FFF2-40B4-BE49-F238E27FC236}">
                <a16:creationId xmlns:a16="http://schemas.microsoft.com/office/drawing/2014/main" id="{6028F66D-1BD6-894F-1211-59C2192E0ADB}"/>
              </a:ext>
            </a:extLst>
          </p:cNvPr>
          <p:cNvSpPr/>
          <p:nvPr/>
        </p:nvSpPr>
        <p:spPr>
          <a:xfrm>
            <a:off x="2524430" y="5927543"/>
            <a:ext cx="1079863" cy="408847"/>
          </a:xfrm>
          <a:prstGeom prst="wedgeRectCallout">
            <a:avLst>
              <a:gd name="adj1" fmla="val -40052"/>
              <a:gd name="adj2" fmla="val -123689"/>
            </a:avLst>
          </a:prstGeom>
          <a:solidFill>
            <a:schemeClr val="accent2">
              <a:lumMod val="20000"/>
              <a:lumOff val="80000"/>
            </a:schemeClr>
          </a:solidFill>
          <a:ln w="2857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• Public datasets</a:t>
            </a:r>
            <a:br/>
            <a:r>
              <a:t>• Power metering</a:t>
            </a:r>
            <a:endParaRPr xmlns:a="http://schemas.openxmlformats.org/drawingml/2006/main" lang="en-US" altLang="ja-JP" sz="1100" dirty="0">
              <a:solidFill>
                <a:schemeClr val="tx1"/>
              </a:solidFill>
            </a:endParaRPr>
          </a:p>
        </p:txBody>
      </p:sp>
      <p:sp>
        <p:nvSpPr>
          <p:cNvPr id="27" name="フリーフォーム: 図形 26">
            <a:extLst>
              <a:ext uri="{FF2B5EF4-FFF2-40B4-BE49-F238E27FC236}">
                <a16:creationId xmlns:a16="http://schemas.microsoft.com/office/drawing/2014/main" id="{ADC47D29-F20E-A91C-80FB-EEA47FA5A99F}"/>
              </a:ext>
            </a:extLst>
          </p:cNvPr>
          <p:cNvSpPr/>
          <p:nvPr/>
        </p:nvSpPr>
        <p:spPr>
          <a:xfrm>
            <a:off x="2564868" y="4201550"/>
            <a:ext cx="2032066" cy="791374"/>
          </a:xfrm>
          <a:custGeom>
            <a:avLst/>
            <a:gdLst>
              <a:gd name="connsiteX0" fmla="*/ 595818 w 2280823"/>
              <a:gd name="connsiteY0" fmla="*/ 0 h 791374"/>
              <a:gd name="connsiteX1" fmla="*/ 809258 w 2280823"/>
              <a:gd name="connsiteY1" fmla="*/ 0 h 791374"/>
              <a:gd name="connsiteX2" fmla="*/ 1000183 w 2280823"/>
              <a:gd name="connsiteY2" fmla="*/ 0 h 791374"/>
              <a:gd name="connsiteX3" fmla="*/ 1129418 w 2280823"/>
              <a:gd name="connsiteY3" fmla="*/ 0 h 791374"/>
              <a:gd name="connsiteX4" fmla="*/ 1213623 w 2280823"/>
              <a:gd name="connsiteY4" fmla="*/ 0 h 791374"/>
              <a:gd name="connsiteX5" fmla="*/ 1533783 w 2280823"/>
              <a:gd name="connsiteY5" fmla="*/ 0 h 791374"/>
              <a:gd name="connsiteX6" fmla="*/ 1876458 w 2280823"/>
              <a:gd name="connsiteY6" fmla="*/ 0 h 791374"/>
              <a:gd name="connsiteX7" fmla="*/ 2280823 w 2280823"/>
              <a:gd name="connsiteY7" fmla="*/ 0 h 791374"/>
              <a:gd name="connsiteX8" fmla="*/ 2280823 w 2280823"/>
              <a:gd name="connsiteY8" fmla="*/ 226529 h 791374"/>
              <a:gd name="connsiteX9" fmla="*/ 2280823 w 2280823"/>
              <a:gd name="connsiteY9" fmla="*/ 323613 h 791374"/>
              <a:gd name="connsiteX10" fmla="*/ 2280823 w 2280823"/>
              <a:gd name="connsiteY10" fmla="*/ 388336 h 791374"/>
              <a:gd name="connsiteX11" fmla="*/ 1876458 w 2280823"/>
              <a:gd name="connsiteY11" fmla="*/ 388336 h 791374"/>
              <a:gd name="connsiteX12" fmla="*/ 1533783 w 2280823"/>
              <a:gd name="connsiteY12" fmla="*/ 388336 h 791374"/>
              <a:gd name="connsiteX13" fmla="*/ 1188143 w 2280823"/>
              <a:gd name="connsiteY13" fmla="*/ 791374 h 791374"/>
              <a:gd name="connsiteX14" fmla="*/ 1213623 w 2280823"/>
              <a:gd name="connsiteY14" fmla="*/ 388336 h 791374"/>
              <a:gd name="connsiteX15" fmla="*/ 1129418 w 2280823"/>
              <a:gd name="connsiteY15" fmla="*/ 388336 h 791374"/>
              <a:gd name="connsiteX16" fmla="*/ 1000183 w 2280823"/>
              <a:gd name="connsiteY16" fmla="*/ 388336 h 791374"/>
              <a:gd name="connsiteX17" fmla="*/ 809258 w 2280823"/>
              <a:gd name="connsiteY17" fmla="*/ 388336 h 791374"/>
              <a:gd name="connsiteX18" fmla="*/ 595818 w 2280823"/>
              <a:gd name="connsiteY18" fmla="*/ 388336 h 791374"/>
              <a:gd name="connsiteX19" fmla="*/ 595818 w 2280823"/>
              <a:gd name="connsiteY19" fmla="*/ 323613 h 791374"/>
              <a:gd name="connsiteX20" fmla="*/ 0 w 2280823"/>
              <a:gd name="connsiteY20" fmla="*/ 434323 h 791374"/>
              <a:gd name="connsiteX21" fmla="*/ 595818 w 2280823"/>
              <a:gd name="connsiteY21" fmla="*/ 226529 h 7913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</a:cxnLst>
            <a:rect l="l" t="t" r="r" b="b"/>
            <a:pathLst>
              <a:path w="2280823" h="791374">
                <a:moveTo>
                  <a:pt x="595818" y="0"/>
                </a:moveTo>
                <a:lnTo>
                  <a:pt x="809258" y="0"/>
                </a:lnTo>
                <a:lnTo>
                  <a:pt x="1000183" y="0"/>
                </a:lnTo>
                <a:lnTo>
                  <a:pt x="1129418" y="0"/>
                </a:lnTo>
                <a:lnTo>
                  <a:pt x="1213623" y="0"/>
                </a:lnTo>
                <a:lnTo>
                  <a:pt x="1533783" y="0"/>
                </a:lnTo>
                <a:lnTo>
                  <a:pt x="1876458" y="0"/>
                </a:lnTo>
                <a:lnTo>
                  <a:pt x="2280823" y="0"/>
                </a:lnTo>
                <a:lnTo>
                  <a:pt x="2280823" y="226529"/>
                </a:lnTo>
                <a:lnTo>
                  <a:pt x="2280823" y="323613"/>
                </a:lnTo>
                <a:lnTo>
                  <a:pt x="2280823" y="388336"/>
                </a:lnTo>
                <a:lnTo>
                  <a:pt x="1876458" y="388336"/>
                </a:lnTo>
                <a:lnTo>
                  <a:pt x="1533783" y="388336"/>
                </a:lnTo>
                <a:lnTo>
                  <a:pt x="1188143" y="791374"/>
                </a:lnTo>
                <a:lnTo>
                  <a:pt x="1213623" y="388336"/>
                </a:lnTo>
                <a:lnTo>
                  <a:pt x="1129418" y="388336"/>
                </a:lnTo>
                <a:lnTo>
                  <a:pt x="1000183" y="388336"/>
                </a:lnTo>
                <a:lnTo>
                  <a:pt x="809258" y="388336"/>
                </a:lnTo>
                <a:lnTo>
                  <a:pt x="595818" y="388336"/>
                </a:lnTo>
                <a:lnTo>
                  <a:pt x="595818" y="323613"/>
                </a:lnTo>
                <a:lnTo>
                  <a:pt x="0" y="434323"/>
                </a:lnTo>
                <a:lnTo>
                  <a:pt x="595818" y="226529"/>
                </a:lnTo>
                <a:close/>
              </a:path>
            </a:pathLst>
          </a:custGeom>
          <a:solidFill>
            <a:schemeClr val="accent2">
              <a:lumMod val="20000"/>
              <a:lumOff val="80000"/>
            </a:schemeClr>
          </a:solidFill>
          <a:ln w="2857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endParaRPr kumimoji="1" lang="ja-JP" altLang="en-US" sz="1100" dirty="0">
              <a:solidFill>
                <a:schemeClr val="tx1"/>
              </a:solidFill>
            </a:endParaRPr>
          </a:p>
        </p:txBody>
      </p:sp>
      <p:sp>
        <p:nvSpPr>
          <p:cNvPr id="29" name="テキスト ボックス 28">
            <a:extLst>
              <a:ext uri="{FF2B5EF4-FFF2-40B4-BE49-F238E27FC236}">
                <a16:creationId xmlns:a16="http://schemas.microsoft.com/office/drawing/2014/main" id="{2D62F42B-0943-E21C-3E0F-CECDBA4C1B83}"/>
              </a:ext>
            </a:extLst>
          </p:cNvPr>
          <p:cNvSpPr txBox="1"/>
          <p:nvPr/>
        </p:nvSpPr>
        <p:spPr>
          <a:xfrm>
            <a:off x="3098560" y="4185160"/>
            <a:ext cx="1416863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F1 / AUC /</a:t>
            </a:r>
            <a:br/>
            <a:r>
              <a:t>Latency / Energy</a:t>
            </a:r>
            <a:endParaRPr xmlns:a="http://schemas.openxmlformats.org/drawingml/2006/main" lang="en-US" altLang="ja-JP" sz="1100" dirty="0">
              <a:solidFill>
                <a:schemeClr val="tx1"/>
              </a:solidFill>
            </a:endParaRPr>
          </a:p>
        </p:txBody>
      </p:sp>
      <p:sp>
        <p:nvSpPr>
          <p:cNvPr id="31" name="テキスト ボックス 30">
            <a:extLst>
              <a:ext uri="{FF2B5EF4-FFF2-40B4-BE49-F238E27FC236}">
                <a16:creationId xmlns:a16="http://schemas.microsoft.com/office/drawing/2014/main" id="{92F8B2FB-37A4-6416-FCBE-6ADF431D9898}"/>
              </a:ext>
            </a:extLst>
          </p:cNvPr>
          <p:cNvSpPr txBox="1"/>
          <p:nvPr/>
        </p:nvSpPr>
        <p:spPr>
          <a:xfrm>
            <a:off x="703777" y="2340854"/>
            <a:ext cx="505575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IoT security analytics require co-design of ML models, quantum circuits, and embedded platforms.</a:t>
            </a:r>
            <a:endParaRPr xmlns:a="http://schemas.openxmlformats.org/drawingml/2006/main" lang="en-US" altLang="ja-JP" sz="1600" dirty="0"/>
          </a:p>
        </p:txBody>
      </p:sp>
      <p:sp>
        <p:nvSpPr>
          <p:cNvPr id="37" name="正方形/長方形 36">
            <a:extLst>
              <a:ext uri="{FF2B5EF4-FFF2-40B4-BE49-F238E27FC236}">
                <a16:creationId xmlns:a16="http://schemas.microsoft.com/office/drawing/2014/main" id="{957DFE80-E6F3-4DAF-12A8-35391C83409E}"/>
              </a:ext>
            </a:extLst>
          </p:cNvPr>
          <p:cNvSpPr/>
          <p:nvPr/>
        </p:nvSpPr>
        <p:spPr>
          <a:xfrm>
            <a:off x="7518753" y="5861125"/>
            <a:ext cx="1079863" cy="324822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1905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38" name="テキスト ボックス 37">
            <a:extLst>
              <a:ext uri="{FF2B5EF4-FFF2-40B4-BE49-F238E27FC236}">
                <a16:creationId xmlns:a16="http://schemas.microsoft.com/office/drawing/2014/main" id="{AC491DB1-06D0-7C33-A6F4-EC2327B6B66A}"/>
              </a:ext>
            </a:extLst>
          </p:cNvPr>
          <p:cNvSpPr txBox="1"/>
          <p:nvPr/>
        </p:nvSpPr>
        <p:spPr>
          <a:xfrm>
            <a:off x="7555264" y="5906884"/>
            <a:ext cx="1142301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t>Training phase</a:t>
            </a:r>
            <a:br/>
            <a:r>
              <a:t>(Qiskit / PennyLane)</a:t>
            </a:r>
            <a:endParaRPr xmlns:a="http://schemas.openxmlformats.org/drawingml/2006/main" kumimoji="1" lang="ja-JP" altLang="en-US" sz="1050" dirty="0"/>
          </a:p>
        </p:txBody>
      </p:sp>
      <p:cxnSp>
        <p:nvCxnSpPr>
          <p:cNvPr id="40" name="直線コネクタ 39">
            <a:extLst>
              <a:ext uri="{FF2B5EF4-FFF2-40B4-BE49-F238E27FC236}">
                <a16:creationId xmlns:a16="http://schemas.microsoft.com/office/drawing/2014/main" id="{4B892D9C-5E3D-47A5-32AE-80C88987B9A1}"/>
              </a:ext>
            </a:extLst>
          </p:cNvPr>
          <p:cNvCxnSpPr>
            <a:cxnSpLocks/>
          </p:cNvCxnSpPr>
          <p:nvPr/>
        </p:nvCxnSpPr>
        <p:spPr>
          <a:xfrm flipV="1">
            <a:off x="8439736" y="5248933"/>
            <a:ext cx="0" cy="612192"/>
          </a:xfrm>
          <a:prstGeom prst="line">
            <a:avLst/>
          </a:prstGeom>
          <a:ln w="1905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テキスト ボックス 41">
            <a:extLst>
              <a:ext uri="{FF2B5EF4-FFF2-40B4-BE49-F238E27FC236}">
                <a16:creationId xmlns:a16="http://schemas.microsoft.com/office/drawing/2014/main" id="{ABF6F4B9-88D6-45FD-51C1-94D6AF1F8A67}"/>
              </a:ext>
            </a:extLst>
          </p:cNvPr>
          <p:cNvSpPr txBox="1"/>
          <p:nvPr/>
        </p:nvSpPr>
        <p:spPr>
          <a:xfrm>
            <a:off x="8439736" y="5632171"/>
            <a:ext cx="134259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t>Benchmark harness</a:t>
            </a:r>
            <a:endParaRPr xmlns:a="http://schemas.openxmlformats.org/drawingml/2006/main" kumimoji="1" lang="ja-JP" altLang="en-US" sz="1050" dirty="0"/>
          </a:p>
        </p:txBody>
      </p:sp>
      <p:cxnSp>
        <p:nvCxnSpPr>
          <p:cNvPr id="43" name="直線矢印コネクタ 42">
            <a:extLst>
              <a:ext uri="{FF2B5EF4-FFF2-40B4-BE49-F238E27FC236}">
                <a16:creationId xmlns:a16="http://schemas.microsoft.com/office/drawing/2014/main" id="{8EB29324-B60E-8ADA-3A32-30DADF4150D6}"/>
              </a:ext>
            </a:extLst>
          </p:cNvPr>
          <p:cNvCxnSpPr>
            <a:cxnSpLocks/>
          </p:cNvCxnSpPr>
          <p:nvPr/>
        </p:nvCxnSpPr>
        <p:spPr>
          <a:xfrm>
            <a:off x="9863582" y="4791987"/>
            <a:ext cx="926338" cy="0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テキスト ボックス 43">
            <a:extLst>
              <a:ext uri="{FF2B5EF4-FFF2-40B4-BE49-F238E27FC236}">
                <a16:creationId xmlns:a16="http://schemas.microsoft.com/office/drawing/2014/main" id="{0E034AA7-436B-58D2-C804-17B713FE40FB}"/>
              </a:ext>
            </a:extLst>
          </p:cNvPr>
          <p:cNvSpPr txBox="1"/>
          <p:nvPr/>
        </p:nvSpPr>
        <p:spPr>
          <a:xfrm>
            <a:off x="9908120" y="4874778"/>
            <a:ext cx="1012838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 xmlns:a="http://schemas.openxmlformats.org/drawingml/2006/main">
              <a:rPr lang="en" altLang="ja-JP" sz="1050" dirty="0"/>
              <a:t>Remote </a:t>
            </a:r>
            <a:br xmlns:a="http://schemas.openxmlformats.org/drawingml/2006/main">
              <a:rPr lang="en-US" altLang="ja-JP" sz="1050" dirty="0"/>
            </a:br>
            <a:r xmlns:a="http://schemas.openxmlformats.org/drawingml/2006/main">
              <a:rPr lang="en" altLang="ja-JP" sz="1050" dirty="0"/>
              <a:t>Attestation</a:t>
            </a:r>
            <a:endParaRPr xmlns:a="http://schemas.openxmlformats.org/drawingml/2006/main" kumimoji="1" lang="ja-JP" altLang="en-US" sz="1050" dirty="0"/>
          </a:p>
        </p:txBody>
      </p:sp>
      <p:sp>
        <p:nvSpPr>
          <p:cNvPr id="52" name="テキスト ボックス 51">
            <a:extLst>
              <a:ext uri="{FF2B5EF4-FFF2-40B4-BE49-F238E27FC236}">
                <a16:creationId xmlns:a16="http://schemas.microsoft.com/office/drawing/2014/main" id="{E3D3A564-4774-30DD-80EF-0EC2B5D9D4E6}"/>
              </a:ext>
            </a:extLst>
          </p:cNvPr>
          <p:cNvSpPr txBox="1"/>
          <p:nvPr/>
        </p:nvSpPr>
        <p:spPr>
          <a:xfrm>
            <a:off x="6932182" y="2239329"/>
            <a:ext cx="4937602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Two-phase pipeline: train on simulator/cloud, compress, and infer on edge.</a:t>
            </a:r>
          </a:p>
        </p:txBody>
      </p:sp>
      <p:sp>
        <p:nvSpPr>
          <p:cNvPr id="63" name="楕円 62">
            <a:extLst>
              <a:ext uri="{FF2B5EF4-FFF2-40B4-BE49-F238E27FC236}">
                <a16:creationId xmlns:a16="http://schemas.microsoft.com/office/drawing/2014/main" id="{C81C2385-A982-D2D0-998C-493510A15D12}"/>
              </a:ext>
            </a:extLst>
          </p:cNvPr>
          <p:cNvSpPr/>
          <p:nvPr/>
        </p:nvSpPr>
        <p:spPr>
          <a:xfrm>
            <a:off x="10974418" y="4573877"/>
            <a:ext cx="279400" cy="236897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4" name="二等辺三角形 63">
            <a:extLst>
              <a:ext uri="{FF2B5EF4-FFF2-40B4-BE49-F238E27FC236}">
                <a16:creationId xmlns:a16="http://schemas.microsoft.com/office/drawing/2014/main" id="{4A096995-8DC6-578F-C277-820AF8CB0403}"/>
              </a:ext>
            </a:extLst>
          </p:cNvPr>
          <p:cNvSpPr/>
          <p:nvPr/>
        </p:nvSpPr>
        <p:spPr>
          <a:xfrm>
            <a:off x="10957484" y="4722294"/>
            <a:ext cx="313262" cy="250605"/>
          </a:xfrm>
          <a:prstGeom prst="triangl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7" name="雲 56">
            <a:extLst>
              <a:ext uri="{FF2B5EF4-FFF2-40B4-BE49-F238E27FC236}">
                <a16:creationId xmlns:a16="http://schemas.microsoft.com/office/drawing/2014/main" id="{1AF7213B-100A-9BB6-B470-EA4EB35131AF}"/>
              </a:ext>
            </a:extLst>
          </p:cNvPr>
          <p:cNvSpPr/>
          <p:nvPr/>
        </p:nvSpPr>
        <p:spPr>
          <a:xfrm>
            <a:off x="5736005" y="3781689"/>
            <a:ext cx="3891127" cy="1861865"/>
          </a:xfrm>
          <a:prstGeom prst="cloud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rgbClr val="00B05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60" name="直線コネクタ 59">
            <a:extLst>
              <a:ext uri="{FF2B5EF4-FFF2-40B4-BE49-F238E27FC236}">
                <a16:creationId xmlns:a16="http://schemas.microsoft.com/office/drawing/2014/main" id="{D476C940-FFC6-E8A2-F41B-DBF392CB36A8}"/>
              </a:ext>
            </a:extLst>
          </p:cNvPr>
          <p:cNvCxnSpPr>
            <a:cxnSpLocks/>
          </p:cNvCxnSpPr>
          <p:nvPr/>
        </p:nvCxnSpPr>
        <p:spPr>
          <a:xfrm flipV="1">
            <a:off x="8432158" y="4771533"/>
            <a:ext cx="0" cy="599839"/>
          </a:xfrm>
          <a:prstGeom prst="line">
            <a:avLst/>
          </a:prstGeom>
          <a:ln w="28575">
            <a:solidFill>
              <a:srgbClr val="FF0000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正方形/長方形 38">
            <a:extLst>
              <a:ext uri="{FF2B5EF4-FFF2-40B4-BE49-F238E27FC236}">
                <a16:creationId xmlns:a16="http://schemas.microsoft.com/office/drawing/2014/main" id="{62ADAAAC-E5D8-9EA4-DE6A-2CEBF266E394}"/>
              </a:ext>
            </a:extLst>
          </p:cNvPr>
          <p:cNvSpPr/>
          <p:nvPr/>
        </p:nvSpPr>
        <p:spPr>
          <a:xfrm>
            <a:off x="7395893" y="3594251"/>
            <a:ext cx="1185474" cy="865749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41" name="テキスト ボックス 40">
            <a:extLst>
              <a:ext uri="{FF2B5EF4-FFF2-40B4-BE49-F238E27FC236}">
                <a16:creationId xmlns:a16="http://schemas.microsoft.com/office/drawing/2014/main" id="{1DD09BC2-AD52-4B4B-8C16-1AF4EA15DE84}"/>
              </a:ext>
            </a:extLst>
          </p:cNvPr>
          <p:cNvSpPr txBox="1"/>
          <p:nvPr/>
        </p:nvSpPr>
        <p:spPr>
          <a:xfrm>
            <a:off x="7381200" y="3597634"/>
            <a:ext cx="114230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t>Hybrid Edge QML</a:t>
            </a:r>
            <a:endParaRPr xmlns:a="http://schemas.openxmlformats.org/drawingml/2006/main" kumimoji="1" lang="ja-JP" altLang="en-US" sz="1200" dirty="0"/>
          </a:p>
        </p:txBody>
      </p:sp>
      <p:cxnSp>
        <p:nvCxnSpPr>
          <p:cNvPr id="84" name="直線コネクタ 83">
            <a:extLst>
              <a:ext uri="{FF2B5EF4-FFF2-40B4-BE49-F238E27FC236}">
                <a16:creationId xmlns:a16="http://schemas.microsoft.com/office/drawing/2014/main" id="{B07AF159-86BF-0EB0-7E45-C8FDF1659732}"/>
              </a:ext>
            </a:extLst>
          </p:cNvPr>
          <p:cNvCxnSpPr>
            <a:cxnSpLocks/>
          </p:cNvCxnSpPr>
          <p:nvPr/>
        </p:nvCxnSpPr>
        <p:spPr>
          <a:xfrm flipV="1">
            <a:off x="8439736" y="4477306"/>
            <a:ext cx="0" cy="277482"/>
          </a:xfrm>
          <a:prstGeom prst="line">
            <a:avLst/>
          </a:prstGeom>
          <a:ln w="1905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5" name="テキスト ボックス 74">
            <a:extLst>
              <a:ext uri="{FF2B5EF4-FFF2-40B4-BE49-F238E27FC236}">
                <a16:creationId xmlns:a16="http://schemas.microsoft.com/office/drawing/2014/main" id="{450C808C-21BE-4AC4-3300-7A4D670E95A7}"/>
              </a:ext>
            </a:extLst>
          </p:cNvPr>
          <p:cNvSpPr txBox="1"/>
          <p:nvPr/>
        </p:nvSpPr>
        <p:spPr>
          <a:xfrm>
            <a:off x="6208246" y="4059299"/>
            <a:ext cx="153665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t>FPGA offload</a:t>
            </a:r>
          </a:p>
        </p:txBody>
      </p:sp>
      <p:sp>
        <p:nvSpPr>
          <p:cNvPr id="70" name="フリーフォーム: 図形 69">
            <a:extLst>
              <a:ext uri="{FF2B5EF4-FFF2-40B4-BE49-F238E27FC236}">
                <a16:creationId xmlns:a16="http://schemas.microsoft.com/office/drawing/2014/main" id="{76CF5B88-1CEC-38EE-1E96-A730EE87F34D}"/>
              </a:ext>
            </a:extLst>
          </p:cNvPr>
          <p:cNvSpPr/>
          <p:nvPr/>
        </p:nvSpPr>
        <p:spPr>
          <a:xfrm>
            <a:off x="8490275" y="3681691"/>
            <a:ext cx="2467209" cy="1350498"/>
          </a:xfrm>
          <a:custGeom>
            <a:avLst/>
            <a:gdLst>
              <a:gd name="connsiteX0" fmla="*/ 409351 w 2170909"/>
              <a:gd name="connsiteY0" fmla="*/ 0 h 1027985"/>
              <a:gd name="connsiteX1" fmla="*/ 533031 w 2170909"/>
              <a:gd name="connsiteY1" fmla="*/ 0 h 1027985"/>
              <a:gd name="connsiteX2" fmla="*/ 702944 w 2170909"/>
              <a:gd name="connsiteY2" fmla="*/ 0 h 1027985"/>
              <a:gd name="connsiteX3" fmla="*/ 1143334 w 2170909"/>
              <a:gd name="connsiteY3" fmla="*/ 0 h 1027985"/>
              <a:gd name="connsiteX4" fmla="*/ 1416313 w 2170909"/>
              <a:gd name="connsiteY4" fmla="*/ 0 h 1027985"/>
              <a:gd name="connsiteX5" fmla="*/ 1794862 w 2170909"/>
              <a:gd name="connsiteY5" fmla="*/ 0 h 1027985"/>
              <a:gd name="connsiteX6" fmla="*/ 2047228 w 2170909"/>
              <a:gd name="connsiteY6" fmla="*/ 0 h 1027985"/>
              <a:gd name="connsiteX7" fmla="*/ 2170909 w 2170909"/>
              <a:gd name="connsiteY7" fmla="*/ 0 h 1027985"/>
              <a:gd name="connsiteX8" fmla="*/ 2170909 w 2170909"/>
              <a:gd name="connsiteY8" fmla="*/ 242373 h 1027985"/>
              <a:gd name="connsiteX9" fmla="*/ 2170909 w 2170909"/>
              <a:gd name="connsiteY9" fmla="*/ 346248 h 1027985"/>
              <a:gd name="connsiteX10" fmla="*/ 2170909 w 2170909"/>
              <a:gd name="connsiteY10" fmla="*/ 415497 h 1027985"/>
              <a:gd name="connsiteX11" fmla="*/ 2047228 w 2170909"/>
              <a:gd name="connsiteY11" fmla="*/ 415497 h 1027985"/>
              <a:gd name="connsiteX12" fmla="*/ 1794862 w 2170909"/>
              <a:gd name="connsiteY12" fmla="*/ 415497 h 1027985"/>
              <a:gd name="connsiteX13" fmla="*/ 1627826 w 2170909"/>
              <a:gd name="connsiteY13" fmla="*/ 758020 h 1027985"/>
              <a:gd name="connsiteX14" fmla="*/ 1416313 w 2170909"/>
              <a:gd name="connsiteY14" fmla="*/ 415497 h 1027985"/>
              <a:gd name="connsiteX15" fmla="*/ 1143334 w 2170909"/>
              <a:gd name="connsiteY15" fmla="*/ 415497 h 1027985"/>
              <a:gd name="connsiteX16" fmla="*/ 0 w 2170909"/>
              <a:gd name="connsiteY16" fmla="*/ 1027985 h 1027985"/>
              <a:gd name="connsiteX17" fmla="*/ 702944 w 2170909"/>
              <a:gd name="connsiteY17" fmla="*/ 415497 h 1027985"/>
              <a:gd name="connsiteX18" fmla="*/ 533031 w 2170909"/>
              <a:gd name="connsiteY18" fmla="*/ 415497 h 1027985"/>
              <a:gd name="connsiteX19" fmla="*/ 409351 w 2170909"/>
              <a:gd name="connsiteY19" fmla="*/ 415497 h 1027985"/>
              <a:gd name="connsiteX20" fmla="*/ 409351 w 2170909"/>
              <a:gd name="connsiteY20" fmla="*/ 346248 h 1027985"/>
              <a:gd name="connsiteX21" fmla="*/ 409351 w 2170909"/>
              <a:gd name="connsiteY21" fmla="*/ 242373 h 1027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</a:cxnLst>
            <a:rect l="l" t="t" r="r" b="b"/>
            <a:pathLst>
              <a:path w="2170909" h="1027985">
                <a:moveTo>
                  <a:pt x="409351" y="0"/>
                </a:moveTo>
                <a:lnTo>
                  <a:pt x="533031" y="0"/>
                </a:lnTo>
                <a:lnTo>
                  <a:pt x="702944" y="0"/>
                </a:lnTo>
                <a:lnTo>
                  <a:pt x="1143334" y="0"/>
                </a:lnTo>
                <a:lnTo>
                  <a:pt x="1416313" y="0"/>
                </a:lnTo>
                <a:lnTo>
                  <a:pt x="1794862" y="0"/>
                </a:lnTo>
                <a:lnTo>
                  <a:pt x="2047228" y="0"/>
                </a:lnTo>
                <a:lnTo>
                  <a:pt x="2170909" y="0"/>
                </a:lnTo>
                <a:lnTo>
                  <a:pt x="2170909" y="242373"/>
                </a:lnTo>
                <a:lnTo>
                  <a:pt x="2170909" y="346248"/>
                </a:lnTo>
                <a:lnTo>
                  <a:pt x="2170909" y="415497"/>
                </a:lnTo>
                <a:lnTo>
                  <a:pt x="2047228" y="415497"/>
                </a:lnTo>
                <a:lnTo>
                  <a:pt x="1794862" y="415497"/>
                </a:lnTo>
                <a:lnTo>
                  <a:pt x="1627826" y="758020"/>
                </a:lnTo>
                <a:lnTo>
                  <a:pt x="1416313" y="415497"/>
                </a:lnTo>
                <a:lnTo>
                  <a:pt x="1143334" y="415497"/>
                </a:lnTo>
                <a:lnTo>
                  <a:pt x="0" y="1027985"/>
                </a:lnTo>
                <a:lnTo>
                  <a:pt x="702944" y="415497"/>
                </a:lnTo>
                <a:lnTo>
                  <a:pt x="533031" y="415497"/>
                </a:lnTo>
                <a:lnTo>
                  <a:pt x="409351" y="415497"/>
                </a:lnTo>
                <a:lnTo>
                  <a:pt x="409351" y="346248"/>
                </a:lnTo>
                <a:lnTo>
                  <a:pt x="409351" y="242373"/>
                </a:lnTo>
                <a:close/>
              </a:path>
            </a:pathLst>
          </a:custGeom>
          <a:solidFill>
            <a:srgbClr val="FFFF00"/>
          </a:solidFill>
          <a:ln w="2857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endParaRPr kumimoji="1" lang="ja-JP" altLang="en-US" sz="1100" dirty="0">
              <a:solidFill>
                <a:schemeClr val="tx1"/>
              </a:solidFill>
            </a:endParaRPr>
          </a:p>
        </p:txBody>
      </p:sp>
      <p:sp>
        <p:nvSpPr>
          <p:cNvPr id="74" name="テキスト ボックス 73">
            <a:extLst>
              <a:ext uri="{FF2B5EF4-FFF2-40B4-BE49-F238E27FC236}">
                <a16:creationId xmlns:a16="http://schemas.microsoft.com/office/drawing/2014/main" id="{0A0100DF-3569-FD2F-5374-42967D07F598}"/>
              </a:ext>
            </a:extLst>
          </p:cNvPr>
          <p:cNvSpPr txBox="1"/>
          <p:nvPr/>
        </p:nvSpPr>
        <p:spPr>
          <a:xfrm>
            <a:off x="8983238" y="3682900"/>
            <a:ext cx="227058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Empirical guidance on when hybrid Quantum AI outperforms classical edge AI.</a:t>
            </a:r>
            <a:endParaRPr xmlns:a="http://schemas.openxmlformats.org/drawingml/2006/main" kumimoji="1" lang="ja-JP" altLang="en-US" sz="1400" dirty="0"/>
          </a:p>
        </p:txBody>
      </p:sp>
      <p:sp>
        <p:nvSpPr>
          <p:cNvPr id="88" name="正方形/長方形 87">
            <a:extLst>
              <a:ext uri="{FF2B5EF4-FFF2-40B4-BE49-F238E27FC236}">
                <a16:creationId xmlns:a16="http://schemas.microsoft.com/office/drawing/2014/main" id="{0A39C061-D65E-F89E-D56C-65A32B8B76B4}"/>
              </a:ext>
            </a:extLst>
          </p:cNvPr>
          <p:cNvSpPr/>
          <p:nvPr/>
        </p:nvSpPr>
        <p:spPr>
          <a:xfrm>
            <a:off x="6300396" y="4740476"/>
            <a:ext cx="826504" cy="264968"/>
          </a:xfrm>
          <a:prstGeom prst="rect">
            <a:avLst/>
          </a:prstGeom>
          <a:solidFill>
            <a:schemeClr val="bg1"/>
          </a:solidFill>
          <a:ln w="38100">
            <a:solidFill>
              <a:srgbClr val="00B05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050" dirty="0"/>
          </a:p>
        </p:txBody>
      </p:sp>
      <p:sp>
        <p:nvSpPr>
          <p:cNvPr id="89" name="正方形/長方形 88">
            <a:extLst>
              <a:ext uri="{FF2B5EF4-FFF2-40B4-BE49-F238E27FC236}">
                <a16:creationId xmlns:a16="http://schemas.microsoft.com/office/drawing/2014/main" id="{F058E619-4E8E-161B-C218-C083AC854F74}"/>
              </a:ext>
            </a:extLst>
          </p:cNvPr>
          <p:cNvSpPr/>
          <p:nvPr/>
        </p:nvSpPr>
        <p:spPr>
          <a:xfrm>
            <a:off x="6657213" y="5090204"/>
            <a:ext cx="1028312" cy="222118"/>
          </a:xfrm>
          <a:prstGeom prst="rect">
            <a:avLst/>
          </a:prstGeom>
          <a:solidFill>
            <a:schemeClr val="bg1"/>
          </a:solidFill>
          <a:ln w="38100">
            <a:solidFill>
              <a:schemeClr val="accent6">
                <a:lumMod val="5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xmlns:a="http://schemas.openxmlformats.org/drawingml/2006/main" algn="ctr"/>
            <a:r>
              <a:t>FPGA accelerator</a:t>
            </a:r>
            <a:endParaRPr xmlns:a="http://schemas.openxmlformats.org/drawingml/2006/main" kumimoji="1" lang="ja-JP" altLang="en-US" sz="1000" dirty="0">
              <a:solidFill>
                <a:schemeClr val="tx1"/>
              </a:solidFill>
            </a:endParaRPr>
          </a:p>
        </p:txBody>
      </p:sp>
      <p:pic>
        <p:nvPicPr>
          <p:cNvPr id="91" name="Picture 2">
            <a:extLst>
              <a:ext uri="{FF2B5EF4-FFF2-40B4-BE49-F238E27FC236}">
                <a16:creationId xmlns:a16="http://schemas.microsoft.com/office/drawing/2014/main" id="{9A17BCE9-030B-D0DB-FAE3-E46738152E9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29735" y="4777675"/>
            <a:ext cx="727950" cy="1764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5" name="図 94">
            <a:extLst>
              <a:ext uri="{FF2B5EF4-FFF2-40B4-BE49-F238E27FC236}">
                <a16:creationId xmlns:a16="http://schemas.microsoft.com/office/drawing/2014/main" id="{482D44B7-7430-66CC-95E4-04E4BDB5494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63015" y="4756495"/>
            <a:ext cx="609814" cy="222117"/>
          </a:xfrm>
          <a:prstGeom prst="rect">
            <a:avLst/>
          </a:prstGeom>
          <a:ln w="38100">
            <a:solidFill>
              <a:srgbClr val="00B050"/>
            </a:solidFill>
          </a:ln>
        </p:spPr>
      </p:pic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52C9A0C3-D614-DCE1-C5BD-E198D6521C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44AA7B-1733-46A6-89F2-666551969EC7}" type="slidenum">
              <a:rPr kumimoji="1" lang="ja-JP" altLang="en-US" smtClean="0"/>
              <a:t>15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1835509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B13C6DF-AEA1-A804-14C3-3A18B348ED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t>[ Reference ] Hybrid edge architecture (proposed)</a:t>
            </a:r>
            <a:endParaRPr xmlns:a="http://schemas.openxmlformats.org/drawingml/2006/main" kumimoji="1" lang="ja-JP" altLang="en-US" sz="3600" dirty="0"/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1E3490C6-0ACE-A67A-4D0B-37B99BD3484A}"/>
              </a:ext>
            </a:extLst>
          </p:cNvPr>
          <p:cNvSpPr txBox="1"/>
          <p:nvPr/>
        </p:nvSpPr>
        <p:spPr>
          <a:xfrm>
            <a:off x="654858" y="1367565"/>
            <a:ext cx="26384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xmlns:a="http://schemas.openxmlformats.org/drawingml/2006/main" kumimoji="1" lang="ja-JP" altLang="en-US" u="sng" dirty="0"/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1F460D31-5AE5-9DB3-C6A0-20E369EF7645}"/>
              </a:ext>
            </a:extLst>
          </p:cNvPr>
          <p:cNvSpPr txBox="1"/>
          <p:nvPr/>
        </p:nvSpPr>
        <p:spPr>
          <a:xfrm>
            <a:off x="6002768" y="6220135"/>
            <a:ext cx="594779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8671FA05-0731-0B01-A887-8BC64E46E8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44AA7B-1733-46A6-89F2-666551969EC7}" type="slidenum">
              <a:rPr kumimoji="1" lang="ja-JP" altLang="en-US" smtClean="0"/>
              <a:t>16</a:t>
            </a:fld>
            <a:endParaRPr kumimoji="1" lang="ja-JP" altLang="en-US"/>
          </a:p>
        </p:txBody>
      </p:sp>
      <p:pic>
        <p:nvPicPr>
          <p:cNvPr id="11" name="Picture 10" descr="04_bridge_goal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1520" y="1371600"/>
            <a:ext cx="10515600" cy="5950494"/>
          </a:xfrm>
          <a:prstGeom prst="rect">
            <a:avLst/>
          </a:prstGeom>
        </p:spPr>
      </p:pic>
      <p:pic>
        <p:nvPicPr>
          <p:cNvPr id="12" name="Picture 11" descr="02_promise_vs_deployability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1520" y="3840480"/>
            <a:ext cx="5029200" cy="28458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854952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C033F9DE-37C0-40A5-C0BB-4CF4E1D2F9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8991" y="1462088"/>
            <a:ext cx="11052314" cy="4938712"/>
          </a:xfrm>
        </p:spPr>
        <p:txBody>
          <a:bodyPr>
            <a:normAutofit/>
          </a:bodyPr>
          <a:lstStyle/>
          <a:p>
            <a:pPr xmlns:a="http://schemas.openxmlformats.org/drawingml/2006/main" marL="0" indent="0">
              <a:spcAft>
                <a:spcPts val="600"/>
              </a:spcAft>
              <a:buNone/>
            </a:pPr>
            <a:r>
              <a:t>• PRISMA-inspired literature update; dataset selection (NSL-KDD, Edge-IIoTset, Bot-IoT)</a:t>
            </a:r>
            <a:br/>
            <a:r>
              <a:t>• Reproducible evaluation harness: accuracy, latency, algorithmic complexity, energy proxy</a:t>
            </a:r>
            <a:br/>
            <a:r>
              <a:t>• Classical edge baselines (lightweight CNN / autoencoder) under fixed budgets</a:t>
            </a:r>
            <a:br/>
            <a:r>
              <a:t>• Stakeholders: supervisor, FPGA lab, IoT testbed operators, open-source QML community</a:t>
            </a:r>
            <a:endParaRPr xmlns:a="http://schemas.openxmlformats.org/drawingml/2006/main" lang="en-US" altLang="ja-JP" sz="2400" b="1" dirty="0"/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23F6A101-3B91-5111-29FF-AEA283A729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A. Benchmark protocol &amp; requirements (Year 1)</a:t>
            </a:r>
          </a:p>
        </p:txBody>
      </p:sp>
      <p:cxnSp>
        <p:nvCxnSpPr>
          <p:cNvPr id="7" name="直線コネクタ 6">
            <a:extLst>
              <a:ext uri="{FF2B5EF4-FFF2-40B4-BE49-F238E27FC236}">
                <a16:creationId xmlns:a16="http://schemas.microsoft.com/office/drawing/2014/main" id="{3890A4E9-2967-D67A-6969-DBDFA1F41B1B}"/>
              </a:ext>
            </a:extLst>
          </p:cNvPr>
          <p:cNvCxnSpPr>
            <a:cxnSpLocks/>
          </p:cNvCxnSpPr>
          <p:nvPr/>
        </p:nvCxnSpPr>
        <p:spPr>
          <a:xfrm>
            <a:off x="3579508" y="2561871"/>
            <a:ext cx="168633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D869C588-80C7-2605-1128-F660091A3E3B}"/>
              </a:ext>
            </a:extLst>
          </p:cNvPr>
          <p:cNvSpPr txBox="1"/>
          <p:nvPr/>
        </p:nvSpPr>
        <p:spPr>
          <a:xfrm>
            <a:off x="4422677" y="2731010"/>
            <a:ext cx="831242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t>Stakeholders: supervisor, FPGA lab, IoT testbed operators, open-source QML community</a:t>
            </a:r>
            <a:endParaRPr xmlns:a="http://schemas.openxmlformats.org/drawingml/2006/main" kumimoji="1" lang="en-US" altLang="ja-JP" sz="1400" dirty="0"/>
          </a:p>
        </p:txBody>
      </p:sp>
      <p:sp>
        <p:nvSpPr>
          <p:cNvPr id="13" name="フリーフォーム: 図形 12">
            <a:extLst>
              <a:ext uri="{FF2B5EF4-FFF2-40B4-BE49-F238E27FC236}">
                <a16:creationId xmlns:a16="http://schemas.microsoft.com/office/drawing/2014/main" id="{8D339537-1864-E853-744C-A6D7CC3ADA72}"/>
              </a:ext>
            </a:extLst>
          </p:cNvPr>
          <p:cNvSpPr/>
          <p:nvPr/>
        </p:nvSpPr>
        <p:spPr>
          <a:xfrm>
            <a:off x="3806451" y="2603822"/>
            <a:ext cx="616226" cy="367748"/>
          </a:xfrm>
          <a:custGeom>
            <a:avLst/>
            <a:gdLst>
              <a:gd name="connsiteX0" fmla="*/ 0 w 407505"/>
              <a:gd name="connsiteY0" fmla="*/ 0 h 367748"/>
              <a:gd name="connsiteX1" fmla="*/ 0 w 407505"/>
              <a:gd name="connsiteY1" fmla="*/ 367748 h 367748"/>
              <a:gd name="connsiteX2" fmla="*/ 407505 w 407505"/>
              <a:gd name="connsiteY2" fmla="*/ 367748 h 3677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407505" h="367748">
                <a:moveTo>
                  <a:pt x="0" y="0"/>
                </a:moveTo>
                <a:lnTo>
                  <a:pt x="0" y="367748"/>
                </a:lnTo>
                <a:lnTo>
                  <a:pt x="407505" y="367748"/>
                </a:lnTo>
              </a:path>
            </a:pathLst>
          </a:custGeom>
          <a:noFill/>
          <a:ln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14" name="直線コネクタ 13">
            <a:extLst>
              <a:ext uri="{FF2B5EF4-FFF2-40B4-BE49-F238E27FC236}">
                <a16:creationId xmlns:a16="http://schemas.microsoft.com/office/drawing/2014/main" id="{3FCCC814-F3CF-8FA3-622A-7E2C0A331E1C}"/>
              </a:ext>
            </a:extLst>
          </p:cNvPr>
          <p:cNvCxnSpPr>
            <a:cxnSpLocks/>
          </p:cNvCxnSpPr>
          <p:nvPr/>
        </p:nvCxnSpPr>
        <p:spPr>
          <a:xfrm>
            <a:off x="1788215" y="2541040"/>
            <a:ext cx="1479273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フリーフォーム: 図形 15">
            <a:extLst>
              <a:ext uri="{FF2B5EF4-FFF2-40B4-BE49-F238E27FC236}">
                <a16:creationId xmlns:a16="http://schemas.microsoft.com/office/drawing/2014/main" id="{810A17F6-F66D-3D35-7987-23C4DCA9C57A}"/>
              </a:ext>
            </a:extLst>
          </p:cNvPr>
          <p:cNvSpPr/>
          <p:nvPr/>
        </p:nvSpPr>
        <p:spPr>
          <a:xfrm>
            <a:off x="2527851" y="2561871"/>
            <a:ext cx="616226" cy="959781"/>
          </a:xfrm>
          <a:custGeom>
            <a:avLst/>
            <a:gdLst>
              <a:gd name="connsiteX0" fmla="*/ 0 w 407505"/>
              <a:gd name="connsiteY0" fmla="*/ 0 h 367748"/>
              <a:gd name="connsiteX1" fmla="*/ 0 w 407505"/>
              <a:gd name="connsiteY1" fmla="*/ 367748 h 367748"/>
              <a:gd name="connsiteX2" fmla="*/ 407505 w 407505"/>
              <a:gd name="connsiteY2" fmla="*/ 367748 h 3677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407505" h="367748">
                <a:moveTo>
                  <a:pt x="0" y="0"/>
                </a:moveTo>
                <a:lnTo>
                  <a:pt x="0" y="367748"/>
                </a:lnTo>
                <a:lnTo>
                  <a:pt x="407505" y="367748"/>
                </a:lnTo>
              </a:path>
            </a:pathLst>
          </a:custGeom>
          <a:noFill/>
          <a:ln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7" name="テキスト ボックス 16">
            <a:extLst>
              <a:ext uri="{FF2B5EF4-FFF2-40B4-BE49-F238E27FC236}">
                <a16:creationId xmlns:a16="http://schemas.microsoft.com/office/drawing/2014/main" id="{25F0FF33-0153-AF80-1025-10E9D8A2B58A}"/>
              </a:ext>
            </a:extLst>
          </p:cNvPr>
          <p:cNvSpPr txBox="1"/>
          <p:nvPr/>
        </p:nvSpPr>
        <p:spPr>
          <a:xfrm>
            <a:off x="3256721" y="3444199"/>
            <a:ext cx="760343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t>Use cases: smart-building gateway IDS, industrial IoT anomaly detection, post-discharge RPM IoMT</a:t>
            </a: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FE58A2CB-3FE6-BA44-AFD0-BF5AA5F1DE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44AA7B-1733-46A6-89F2-666551969EC7}" type="slidenum">
              <a:rPr kumimoji="1" lang="ja-JP" altLang="en-US" smtClean="0"/>
              <a:t>17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82142460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6F9114E-F492-FCC2-E08B-34138F2D00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B. Hybrid model development &amp; hardware integration (Years 2–3)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317409B2-85E9-E9D5-D334-B7F9AE1B07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5825" y="1462088"/>
            <a:ext cx="10687975" cy="4947421"/>
          </a:xfrm>
        </p:spPr>
        <p:txBody>
          <a:bodyPr>
            <a:normAutofit/>
          </a:bodyPr>
          <a:lstStyle/>
          <a:p>
            <a:pPr xmlns:a="http://schemas.openxmlformats.org/drawingml/2006/main" marL="0" indent="0">
              <a:spcAft>
                <a:spcPts val="600"/>
              </a:spcAft>
              <a:buNone/>
            </a:pPr>
            <a:r>
              <a:t>• VQC / quantum-kernel design with noise-aware training and qubit-depth constraints</a:t>
            </a:r>
            <a:br/>
            <a:r>
              <a:t>• Compression strategies: depth reduction, angle encoding, quantum-inspired surrogates</a:t>
            </a:r>
            <a:br/>
            <a:r>
              <a:t>• FPGA SoC (Zynq/Artix) or ARM gateway integration; power &amp; thermal measurement</a:t>
            </a:r>
            <a:br/>
            <a:r>
              <a:t>• Head-to-head evaluation vs. classical TinyML and cloud-hybrid QML (RQ1–RQ3)</a:t>
            </a:r>
            <a:endParaRPr xmlns:a="http://schemas.openxmlformats.org/drawingml/2006/main" lang="en-US" altLang="ja-JP" sz="2400" b="1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7C1F84EB-FFF9-FE41-EF42-AFE97F3A8C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44AA7B-1733-46A6-89F2-666551969EC7}" type="slidenum">
              <a:rPr kumimoji="1" lang="ja-JP" altLang="en-US" smtClean="0"/>
              <a:t>18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1751098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3EC7EB2-67F5-5D5E-20E0-85B4736FB7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Announcement plan (48 months)</a:t>
            </a:r>
          </a:p>
        </p:txBody>
      </p:sp>
      <p:graphicFrame>
        <p:nvGraphicFramePr>
          <p:cNvPr id="4" name="表 5">
            <a:extLst>
              <a:ext uri="{FF2B5EF4-FFF2-40B4-BE49-F238E27FC236}">
                <a16:creationId xmlns:a16="http://schemas.microsoft.com/office/drawing/2014/main" id="{828EB518-517B-013F-1E38-C9264DC2715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07644791"/>
              </p:ext>
            </p:extLst>
          </p:nvPr>
        </p:nvGraphicFramePr>
        <p:xfrm>
          <a:off x="461156" y="1972601"/>
          <a:ext cx="11515370" cy="4297159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316348">
                  <a:extLst>
                    <a:ext uri="{9D8B030D-6E8A-4147-A177-3AD203B41FA5}">
                      <a16:colId xmlns:a16="http://schemas.microsoft.com/office/drawing/2014/main" val="1420076089"/>
                    </a:ext>
                  </a:extLst>
                </a:gridCol>
                <a:gridCol w="657073">
                  <a:extLst>
                    <a:ext uri="{9D8B030D-6E8A-4147-A177-3AD203B41FA5}">
                      <a16:colId xmlns:a16="http://schemas.microsoft.com/office/drawing/2014/main" val="2132287637"/>
                    </a:ext>
                  </a:extLst>
                </a:gridCol>
                <a:gridCol w="657073">
                  <a:extLst>
                    <a:ext uri="{9D8B030D-6E8A-4147-A177-3AD203B41FA5}">
                      <a16:colId xmlns:a16="http://schemas.microsoft.com/office/drawing/2014/main" val="776211436"/>
                    </a:ext>
                  </a:extLst>
                </a:gridCol>
                <a:gridCol w="657073">
                  <a:extLst>
                    <a:ext uri="{9D8B030D-6E8A-4147-A177-3AD203B41FA5}">
                      <a16:colId xmlns:a16="http://schemas.microsoft.com/office/drawing/2014/main" val="3623709596"/>
                    </a:ext>
                  </a:extLst>
                </a:gridCol>
                <a:gridCol w="657073">
                  <a:extLst>
                    <a:ext uri="{9D8B030D-6E8A-4147-A177-3AD203B41FA5}">
                      <a16:colId xmlns:a16="http://schemas.microsoft.com/office/drawing/2014/main" val="1457727929"/>
                    </a:ext>
                  </a:extLst>
                </a:gridCol>
                <a:gridCol w="657073">
                  <a:extLst>
                    <a:ext uri="{9D8B030D-6E8A-4147-A177-3AD203B41FA5}">
                      <a16:colId xmlns:a16="http://schemas.microsoft.com/office/drawing/2014/main" val="1939542661"/>
                    </a:ext>
                  </a:extLst>
                </a:gridCol>
                <a:gridCol w="657073">
                  <a:extLst>
                    <a:ext uri="{9D8B030D-6E8A-4147-A177-3AD203B41FA5}">
                      <a16:colId xmlns:a16="http://schemas.microsoft.com/office/drawing/2014/main" val="72714480"/>
                    </a:ext>
                  </a:extLst>
                </a:gridCol>
                <a:gridCol w="657073">
                  <a:extLst>
                    <a:ext uri="{9D8B030D-6E8A-4147-A177-3AD203B41FA5}">
                      <a16:colId xmlns:a16="http://schemas.microsoft.com/office/drawing/2014/main" val="545717194"/>
                    </a:ext>
                  </a:extLst>
                </a:gridCol>
                <a:gridCol w="657073">
                  <a:extLst>
                    <a:ext uri="{9D8B030D-6E8A-4147-A177-3AD203B41FA5}">
                      <a16:colId xmlns:a16="http://schemas.microsoft.com/office/drawing/2014/main" val="1856937092"/>
                    </a:ext>
                  </a:extLst>
                </a:gridCol>
                <a:gridCol w="657073">
                  <a:extLst>
                    <a:ext uri="{9D8B030D-6E8A-4147-A177-3AD203B41FA5}">
                      <a16:colId xmlns:a16="http://schemas.microsoft.com/office/drawing/2014/main" val="724995848"/>
                    </a:ext>
                  </a:extLst>
                </a:gridCol>
                <a:gridCol w="657073">
                  <a:extLst>
                    <a:ext uri="{9D8B030D-6E8A-4147-A177-3AD203B41FA5}">
                      <a16:colId xmlns:a16="http://schemas.microsoft.com/office/drawing/2014/main" val="2424576021"/>
                    </a:ext>
                  </a:extLst>
                </a:gridCol>
                <a:gridCol w="657073">
                  <a:extLst>
                    <a:ext uri="{9D8B030D-6E8A-4147-A177-3AD203B41FA5}">
                      <a16:colId xmlns:a16="http://schemas.microsoft.com/office/drawing/2014/main" val="3309555048"/>
                    </a:ext>
                  </a:extLst>
                </a:gridCol>
                <a:gridCol w="657073">
                  <a:extLst>
                    <a:ext uri="{9D8B030D-6E8A-4147-A177-3AD203B41FA5}">
                      <a16:colId xmlns:a16="http://schemas.microsoft.com/office/drawing/2014/main" val="3045280475"/>
                    </a:ext>
                  </a:extLst>
                </a:gridCol>
                <a:gridCol w="657073">
                  <a:extLst>
                    <a:ext uri="{9D8B030D-6E8A-4147-A177-3AD203B41FA5}">
                      <a16:colId xmlns:a16="http://schemas.microsoft.com/office/drawing/2014/main" val="103230169"/>
                    </a:ext>
                  </a:extLst>
                </a:gridCol>
                <a:gridCol w="657073">
                  <a:extLst>
                    <a:ext uri="{9D8B030D-6E8A-4147-A177-3AD203B41FA5}">
                      <a16:colId xmlns:a16="http://schemas.microsoft.com/office/drawing/2014/main" val="153042422"/>
                    </a:ext>
                  </a:extLst>
                </a:gridCol>
              </a:tblGrid>
              <a:tr h="329806">
                <a:tc rowSpan="2">
                  <a:txBody>
                    <a:bodyPr/>
                    <a:lstStyle/>
                    <a:p>
                      <a:endParaRPr kumimoji="1" lang="ja-JP" altLang="en-US" sz="1600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r xmlns:a="http://schemas.openxmlformats.org/drawingml/2006/main">
                        <a:rPr kumimoji="1" lang="en" altLang="ja-JP" sz="1600" dirty="0"/>
                        <a:t>2024</a:t>
                      </a:r>
                      <a:endParaRPr xmlns:a="http://schemas.openxmlformats.org/drawingml/2006/main" kumimoji="1" lang="ja-JP" alt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kumimoji="1" lang="ja-JP" alt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r xmlns:a="http://schemas.openxmlformats.org/drawingml/2006/main">
                        <a:rPr kumimoji="1" lang="en" altLang="ja-JP" sz="1600" dirty="0"/>
                        <a:t>2024</a:t>
                      </a:r>
                      <a:endParaRPr xmlns:a="http://schemas.openxmlformats.org/drawingml/2006/main" kumimoji="1" lang="ja-JP" alt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r xmlns:a="http://schemas.openxmlformats.org/drawingml/2006/main">
                        <a:rPr kumimoji="1" lang="en" altLang="ja-JP" sz="1600" dirty="0"/>
                        <a:t>2025</a:t>
                      </a:r>
                      <a:endParaRPr xmlns:a="http://schemas.openxmlformats.org/drawingml/2006/main" kumimoji="1" lang="ja-JP" altLang="en-US" sz="1600" dirty="0"/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r xmlns:a="http://schemas.openxmlformats.org/drawingml/2006/main">
                        <a:rPr kumimoji="1" lang="en" altLang="ja-JP" sz="1600" dirty="0"/>
                        <a:t>2026</a:t>
                      </a:r>
                      <a:endParaRPr xmlns:a="http://schemas.openxmlformats.org/drawingml/2006/main" kumimoji="1" lang="ja-JP" altLang="en-US" sz="1600" dirty="0"/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r xmlns:a="http://schemas.openxmlformats.org/drawingml/2006/main">
                        <a:rPr kumimoji="1" lang="en" altLang="ja-JP" sz="1600" dirty="0"/>
                        <a:t>2027</a:t>
                      </a:r>
                      <a:endParaRPr xmlns:a="http://schemas.openxmlformats.org/drawingml/2006/main" kumimoji="1" lang="ja-JP" altLang="en-US" sz="1600" dirty="0"/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41574599"/>
                  </a:ext>
                </a:extLst>
              </a:tr>
              <a:tr h="329806">
                <a:tc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r xmlns:a="http://schemas.openxmlformats.org/drawingml/2006/main">
                        <a:rPr kumimoji="1" lang="en" altLang="en-US" sz="1600" dirty="0"/>
                        <a:t>First half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r xmlns:a="http://schemas.openxmlformats.org/drawingml/2006/main">
                        <a:rPr kumimoji="1" lang="en" altLang="en-US" sz="1600" dirty="0"/>
                        <a:t>Second half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r xmlns:a="http://schemas.openxmlformats.org/drawingml/2006/main">
                        <a:rPr kumimoji="1" lang="en" altLang="en-US" sz="1600" dirty="0"/>
                        <a:t>First half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r xmlns:a="http://schemas.openxmlformats.org/drawingml/2006/main">
                        <a:rPr kumimoji="1" lang="en" altLang="en-US" sz="1600" dirty="0"/>
                        <a:t>Second half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r xmlns:a="http://schemas.openxmlformats.org/drawingml/2006/main">
                        <a:rPr kumimoji="1" lang="en" altLang="en-US" sz="1600" dirty="0"/>
                        <a:t>First half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r xmlns:a="http://schemas.openxmlformats.org/drawingml/2006/main">
                        <a:rPr kumimoji="1" lang="en" altLang="en-US" sz="1600" dirty="0"/>
                        <a:t>Second half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r xmlns:a="http://schemas.openxmlformats.org/drawingml/2006/main">
                        <a:rPr kumimoji="1" lang="en" altLang="en-US" sz="1600" dirty="0"/>
                        <a:t>First half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58212750"/>
                  </a:ext>
                </a:extLst>
              </a:tr>
              <a:tr h="1268881">
                <a:tc>
                  <a:txBody>
                    <a:bodyPr/>
                    <a:lstStyle/>
                    <a:p>
                      <a:r xmlns:a="http://schemas.openxmlformats.org/drawingml/2006/main">
                        <a:rPr kumimoji="1" lang="en" altLang="en-US" sz="1600" dirty="0"/>
                        <a:t>dissertation writing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sz="1600" dirty="0"/>
                    </a:p>
                  </a:txBody>
                  <a:tcPr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16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1600" dirty="0"/>
                    </a:p>
                  </a:txBody>
                  <a:tcPr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16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1600" dirty="0"/>
                    </a:p>
                  </a:txBody>
                  <a:tcPr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16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16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16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1600" dirty="0"/>
                    </a:p>
                  </a:txBody>
                  <a:tcPr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16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16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16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1600" dirty="0"/>
                    </a:p>
                  </a:txBody>
                  <a:tcPr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16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776084359"/>
                  </a:ext>
                </a:extLst>
              </a:tr>
              <a:tr h="1201271">
                <a:tc>
                  <a:txBody>
                    <a:bodyPr/>
                    <a:lstStyle/>
                    <a:p>
                      <a:r xmlns:a="http://schemas.openxmlformats.org/drawingml/2006/main">
                        <a:rPr kumimoji="1" lang="en" altLang="en-US" sz="1600" dirty="0"/>
                        <a:t>Task 1</a:t>
                      </a:r>
                      <a:endParaRPr xmlns:a="http://schemas.openxmlformats.org/drawingml/2006/main" kumimoji="1" lang="en-US" altLang="ja-JP" sz="1600" dirty="0"/>
                    </a:p>
                    <a:p>
                      <a:r xmlns:a="http://schemas.openxmlformats.org/drawingml/2006/main">
                        <a:rPr kumimoji="1" lang="en" altLang="ja-JP" sz="1600" dirty="0"/>
                        <a:t>the TEE </a:t>
                      </a:r>
                      <a:r xmlns:a="http://schemas.openxmlformats.org/drawingml/2006/main">
                        <a:rPr kumimoji="1" lang="en" altLang="en-US" sz="1600" dirty="0"/>
                        <a:t>usage environment.</a:t>
                      </a:r>
                      <a:endParaRPr xmlns:a="http://schemas.openxmlformats.org/drawingml/2006/main" kumimoji="1" lang="en-US" altLang="ja-JP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sz="1600" dirty="0"/>
                    </a:p>
                  </a:txBody>
                  <a:tcPr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16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1600" dirty="0"/>
                    </a:p>
                  </a:txBody>
                  <a:tcPr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16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1600" dirty="0"/>
                    </a:p>
                  </a:txBody>
                  <a:tcPr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16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16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16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1600" dirty="0"/>
                    </a:p>
                  </a:txBody>
                  <a:tcPr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16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16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16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1600"/>
                    </a:p>
                  </a:txBody>
                  <a:tcPr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16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364310346"/>
                  </a:ext>
                </a:extLst>
              </a:tr>
              <a:tr h="1156447">
                <a:tc>
                  <a:txBody>
                    <a:bodyPr/>
                    <a:lstStyle/>
                    <a:p>
                      <a:r xmlns:a="http://schemas.openxmlformats.org/drawingml/2006/main">
                        <a:rPr kumimoji="1" lang="en" altLang="en-US" sz="1600" dirty="0"/>
                        <a:t>Task 2</a:t>
                      </a:r>
                      <a:endParaRPr xmlns:a="http://schemas.openxmlformats.org/drawingml/2006/main" kumimoji="1" lang="en-US" altLang="ja-JP" sz="1600" dirty="0"/>
                    </a:p>
                    <a:p>
                      <a:r xmlns:a="http://schemas.openxmlformats.org/drawingml/2006/main">
                        <a:rPr kumimoji="1" lang="en" altLang="en-US" sz="1600" dirty="0"/>
                        <a:t>Advanced </a:t>
                      </a:r>
                      <a:r xmlns:a="http://schemas.openxmlformats.org/drawingml/2006/main">
                        <a:rPr kumimoji="1" lang="en" altLang="ja-JP" sz="1600" dirty="0"/>
                        <a:t>CC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sz="1600" dirty="0"/>
                    </a:p>
                  </a:txBody>
                  <a:tcPr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16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1600"/>
                    </a:p>
                  </a:txBody>
                  <a:tcPr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16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1600"/>
                    </a:p>
                  </a:txBody>
                  <a:tcPr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16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16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16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1600" dirty="0"/>
                    </a:p>
                  </a:txBody>
                  <a:tcPr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16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16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16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1600" dirty="0"/>
                    </a:p>
                  </a:txBody>
                  <a:tcPr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16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654258259"/>
                  </a:ext>
                </a:extLst>
              </a:tr>
            </a:tbl>
          </a:graphicData>
        </a:graphic>
      </p:graphicFrame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9D18BFC5-37B3-561A-927C-8165738B66AB}"/>
              </a:ext>
            </a:extLst>
          </p:cNvPr>
          <p:cNvSpPr txBox="1"/>
          <p:nvPr/>
        </p:nvSpPr>
        <p:spPr>
          <a:xfrm>
            <a:off x="456674" y="1213601"/>
            <a:ext cx="1173532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Iterative loop: benchmark → hybrid model → FPGA prototype → thesis</a:t>
            </a:r>
          </a:p>
        </p:txBody>
      </p:sp>
      <p:sp>
        <p:nvSpPr>
          <p:cNvPr id="77" name="テキスト ボックス 76">
            <a:extLst>
              <a:ext uri="{FF2B5EF4-FFF2-40B4-BE49-F238E27FC236}">
                <a16:creationId xmlns:a16="http://schemas.microsoft.com/office/drawing/2014/main" id="{7E8A3AA8-781B-79B9-A72F-0290CD7FBAA3}"/>
              </a:ext>
            </a:extLst>
          </p:cNvPr>
          <p:cNvSpPr txBox="1"/>
          <p:nvPr/>
        </p:nvSpPr>
        <p:spPr>
          <a:xfrm>
            <a:off x="3893873" y="6342189"/>
            <a:ext cx="1284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t>▲Start</a:t>
            </a:r>
          </a:p>
        </p:txBody>
      </p:sp>
      <p:sp>
        <p:nvSpPr>
          <p:cNvPr id="78" name="テキスト ボックス 77">
            <a:extLst>
              <a:ext uri="{FF2B5EF4-FFF2-40B4-BE49-F238E27FC236}">
                <a16:creationId xmlns:a16="http://schemas.microsoft.com/office/drawing/2014/main" id="{883CC6DC-401E-7AE8-DB30-A56F467AA7B5}"/>
              </a:ext>
            </a:extLst>
          </p:cNvPr>
          <p:cNvSpPr txBox="1"/>
          <p:nvPr/>
        </p:nvSpPr>
        <p:spPr>
          <a:xfrm>
            <a:off x="10637941" y="6352143"/>
            <a:ext cx="20144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 xmlns:a="http://schemas.openxmlformats.org/drawingml/2006/main">
              <a:rPr lang="en" altLang="en-US" dirty="0"/>
              <a:t>Completion </a:t>
            </a:r>
            <a:r xmlns:a="http://schemas.openxmlformats.org/drawingml/2006/main">
              <a:rPr lang="en" altLang="ja-JP" dirty="0"/>
              <a:t>( </a:t>
            </a:r>
            <a:r xmlns:a="http://schemas.openxmlformats.org/drawingml/2006/main">
              <a:rPr lang="en" altLang="en-US" dirty="0"/>
              <a:t>expected </a:t>
            </a:r>
            <a:r xmlns:a="http://schemas.openxmlformats.org/drawingml/2006/main">
              <a:rPr lang="en" altLang="ja-JP" dirty="0"/>
              <a:t>) </a:t>
            </a:r>
            <a:r xmlns:a="http://schemas.openxmlformats.org/drawingml/2006/main">
              <a:rPr kumimoji="1" lang="en" altLang="en-US" dirty="0"/>
              <a:t>▲</a:t>
            </a:r>
          </a:p>
        </p:txBody>
      </p:sp>
      <p:sp>
        <p:nvSpPr>
          <p:cNvPr id="87" name="正方形/長方形 86">
            <a:extLst>
              <a:ext uri="{FF2B5EF4-FFF2-40B4-BE49-F238E27FC236}">
                <a16:creationId xmlns:a16="http://schemas.microsoft.com/office/drawing/2014/main" id="{925D7E41-6E78-195E-96F3-487C1ED59F92}"/>
              </a:ext>
            </a:extLst>
          </p:cNvPr>
          <p:cNvSpPr/>
          <p:nvPr/>
        </p:nvSpPr>
        <p:spPr>
          <a:xfrm>
            <a:off x="461156" y="2630090"/>
            <a:ext cx="11515370" cy="1290910"/>
          </a:xfrm>
          <a:prstGeom prst="rect">
            <a:avLst/>
          </a:prstGeom>
          <a:noFill/>
          <a:ln w="571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6" name="矢印: 五方向 15">
            <a:extLst>
              <a:ext uri="{FF2B5EF4-FFF2-40B4-BE49-F238E27FC236}">
                <a16:creationId xmlns:a16="http://schemas.microsoft.com/office/drawing/2014/main" id="{F0655B08-C166-A08F-18E5-FA9C87CE1F6E}"/>
              </a:ext>
            </a:extLst>
          </p:cNvPr>
          <p:cNvSpPr/>
          <p:nvPr/>
        </p:nvSpPr>
        <p:spPr>
          <a:xfrm>
            <a:off x="9691449" y="2793148"/>
            <a:ext cx="2285078" cy="646331"/>
          </a:xfrm>
          <a:prstGeom prst="homePlate">
            <a:avLst/>
          </a:prstGeom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xmlns:a="http://schemas.openxmlformats.org/drawingml/2006/main" algn="ctr"/>
            <a:r>
              <a:t>Iterative loop: benchmark → hybrid model → FPGA prototype → thesis</a:t>
            </a:r>
            <a:endParaRPr xmlns:a="http://schemas.openxmlformats.org/drawingml/2006/main" kumimoji="1" lang="en-US" altLang="ja-JP" sz="1600" dirty="0"/>
          </a:p>
        </p:txBody>
      </p:sp>
      <p:sp>
        <p:nvSpPr>
          <p:cNvPr id="20" name="矢印: 五方向 19">
            <a:extLst>
              <a:ext uri="{FF2B5EF4-FFF2-40B4-BE49-F238E27FC236}">
                <a16:creationId xmlns:a16="http://schemas.microsoft.com/office/drawing/2014/main" id="{D0E2566F-7D65-0399-EB98-E59CD35F9A68}"/>
              </a:ext>
            </a:extLst>
          </p:cNvPr>
          <p:cNvSpPr/>
          <p:nvPr/>
        </p:nvSpPr>
        <p:spPr>
          <a:xfrm>
            <a:off x="7696202" y="2790235"/>
            <a:ext cx="1953686" cy="646331"/>
          </a:xfrm>
          <a:prstGeom prst="homePlate">
            <a:avLst/>
          </a:prstGeom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xmlns:a="http://schemas.openxmlformats.org/drawingml/2006/main" algn="ctr"/>
            <a:r xmlns:a="http://schemas.openxmlformats.org/drawingml/2006/main">
              <a:rPr kumimoji="1" lang="en" altLang="en-US" sz="1400" dirty="0"/>
              <a:t>journal </a:t>
            </a:r>
            <a:br xmlns:a="http://schemas.openxmlformats.org/drawingml/2006/main">
              <a:rPr kumimoji="1" lang="en-US" altLang="ja-JP" sz="1400" dirty="0"/>
            </a:br>
            <a:r xmlns:a="http://schemas.openxmlformats.org/drawingml/2006/main">
              <a:rPr kumimoji="1" lang="en" altLang="en-US" sz="1400" dirty="0"/>
              <a:t>submission/presentation</a:t>
            </a:r>
          </a:p>
        </p:txBody>
      </p:sp>
      <p:sp>
        <p:nvSpPr>
          <p:cNvPr id="21" name="矢印: 五方向 20">
            <a:extLst>
              <a:ext uri="{FF2B5EF4-FFF2-40B4-BE49-F238E27FC236}">
                <a16:creationId xmlns:a16="http://schemas.microsoft.com/office/drawing/2014/main" id="{3EA58CD3-3BB7-8489-8FF1-7B4FEDAEDF6B}"/>
              </a:ext>
            </a:extLst>
          </p:cNvPr>
          <p:cNvSpPr/>
          <p:nvPr/>
        </p:nvSpPr>
        <p:spPr>
          <a:xfrm>
            <a:off x="3402105" y="4544503"/>
            <a:ext cx="1358759" cy="304518"/>
          </a:xfrm>
          <a:prstGeom prst="homePlate">
            <a:avLst/>
          </a:prstGeom>
          <a:solidFill>
            <a:schemeClr val="accent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 xmlns:a="http://schemas.openxmlformats.org/drawingml/2006/main">
              <a:rPr kumimoji="1" lang="en" altLang="ja-JP" sz="1200" dirty="0">
                <a:solidFill>
                  <a:schemeClr val="bg1"/>
                </a:solidFill>
              </a:rPr>
              <a:t>B. RA </a:t>
            </a:r>
            <a:r xmlns:a="http://schemas.openxmlformats.org/drawingml/2006/main">
              <a:rPr kumimoji="1" lang="en" altLang="en-US" sz="1200" dirty="0">
                <a:solidFill>
                  <a:schemeClr val="bg1"/>
                </a:solidFill>
              </a:rPr>
              <a:t>improvement proposal</a:t>
            </a:r>
          </a:p>
        </p:txBody>
      </p:sp>
      <p:sp>
        <p:nvSpPr>
          <p:cNvPr id="22" name="矢印: 五方向 21">
            <a:extLst>
              <a:ext uri="{FF2B5EF4-FFF2-40B4-BE49-F238E27FC236}">
                <a16:creationId xmlns:a16="http://schemas.microsoft.com/office/drawing/2014/main" id="{AC346D2C-B918-A23C-9D13-61A8671D0773}"/>
              </a:ext>
            </a:extLst>
          </p:cNvPr>
          <p:cNvSpPr/>
          <p:nvPr/>
        </p:nvSpPr>
        <p:spPr>
          <a:xfrm>
            <a:off x="2722098" y="4256910"/>
            <a:ext cx="1909551" cy="329041"/>
          </a:xfrm>
          <a:prstGeom prst="homePlate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 xmlns:a="http://schemas.openxmlformats.org/drawingml/2006/main">
              <a:rPr lang="en" altLang="ja-JP" sz="1200" dirty="0">
                <a:solidFill>
                  <a:schemeClr val="tx1"/>
                </a:solidFill>
              </a:rPr>
              <a:t>A. </a:t>
            </a:r>
            <a:r xmlns:a="http://schemas.openxmlformats.org/drawingml/2006/main">
              <a:rPr lang="en" altLang="en-US" sz="1200" dirty="0">
                <a:solidFill>
                  <a:schemeClr val="tx1"/>
                </a:solidFill>
              </a:rPr>
              <a:t>Trust Model Consideration</a:t>
            </a:r>
            <a:endParaRPr xmlns:a="http://schemas.openxmlformats.org/drawingml/2006/main" kumimoji="1" lang="ja-JP" altLang="en-US" sz="1200" dirty="0">
              <a:solidFill>
                <a:schemeClr val="tx1"/>
              </a:solidFill>
            </a:endParaRPr>
          </a:p>
        </p:txBody>
      </p:sp>
      <p:cxnSp>
        <p:nvCxnSpPr>
          <p:cNvPr id="26" name="直線矢印コネクタ 25">
            <a:extLst>
              <a:ext uri="{FF2B5EF4-FFF2-40B4-BE49-F238E27FC236}">
                <a16:creationId xmlns:a16="http://schemas.microsoft.com/office/drawing/2014/main" id="{946ECAA7-18B0-A053-E31B-50832D28B037}"/>
              </a:ext>
            </a:extLst>
          </p:cNvPr>
          <p:cNvCxnSpPr>
            <a:cxnSpLocks/>
          </p:cNvCxnSpPr>
          <p:nvPr/>
        </p:nvCxnSpPr>
        <p:spPr>
          <a:xfrm flipV="1">
            <a:off x="4671216" y="3445332"/>
            <a:ext cx="0" cy="1236844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矢印: 五方向 35">
            <a:extLst>
              <a:ext uri="{FF2B5EF4-FFF2-40B4-BE49-F238E27FC236}">
                <a16:creationId xmlns:a16="http://schemas.microsoft.com/office/drawing/2014/main" id="{CA96B3F8-AC63-9683-DF8B-B236E9874DC9}"/>
              </a:ext>
            </a:extLst>
          </p:cNvPr>
          <p:cNvSpPr/>
          <p:nvPr/>
        </p:nvSpPr>
        <p:spPr>
          <a:xfrm>
            <a:off x="4567520" y="5757270"/>
            <a:ext cx="1489564" cy="329042"/>
          </a:xfrm>
          <a:prstGeom prst="homePlate">
            <a:avLst/>
          </a:prstGeom>
          <a:solidFill>
            <a:schemeClr val="accent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 xmlns:a="http://schemas.openxmlformats.org/drawingml/2006/main">
              <a:rPr kumimoji="1" lang="en" altLang="ja-JP" sz="1200" dirty="0">
                <a:solidFill>
                  <a:schemeClr val="bg1"/>
                </a:solidFill>
              </a:rPr>
              <a:t>B. </a:t>
            </a:r>
            <a:r xmlns:a="http://schemas.openxmlformats.org/drawingml/2006/main">
              <a:rPr kumimoji="1" lang="en" altLang="en-US" sz="1200" dirty="0">
                <a:solidFill>
                  <a:schemeClr val="bg1"/>
                </a:solidFill>
              </a:rPr>
              <a:t>Proposal for RA extension</a:t>
            </a:r>
          </a:p>
        </p:txBody>
      </p:sp>
      <p:sp>
        <p:nvSpPr>
          <p:cNvPr id="37" name="矢印: 五方向 36">
            <a:extLst>
              <a:ext uri="{FF2B5EF4-FFF2-40B4-BE49-F238E27FC236}">
                <a16:creationId xmlns:a16="http://schemas.microsoft.com/office/drawing/2014/main" id="{EA1752E2-71D6-A8E8-F06A-54E2A5246B49}"/>
              </a:ext>
            </a:extLst>
          </p:cNvPr>
          <p:cNvSpPr/>
          <p:nvPr/>
        </p:nvSpPr>
        <p:spPr>
          <a:xfrm>
            <a:off x="4130782" y="5408924"/>
            <a:ext cx="1906987" cy="398760"/>
          </a:xfrm>
          <a:prstGeom prst="homePlate">
            <a:avLst/>
          </a:prstGeom>
          <a:solidFill>
            <a:schemeClr val="accent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 xmlns:a="http://schemas.openxmlformats.org/drawingml/2006/main">
              <a:rPr lang="en" altLang="ja-JP" sz="1200" dirty="0">
                <a:solidFill>
                  <a:schemeClr val="bg1"/>
                </a:solidFill>
              </a:rPr>
              <a:t>A. </a:t>
            </a:r>
            <a:r xmlns:a="http://schemas.openxmlformats.org/drawingml/2006/main">
              <a:rPr lang="en" altLang="en-US" sz="1200" dirty="0">
                <a:solidFill>
                  <a:schemeClr val="bg1"/>
                </a:solidFill>
              </a:rPr>
              <a:t>Security Model Consideration</a:t>
            </a:r>
            <a:endParaRPr xmlns:a="http://schemas.openxmlformats.org/drawingml/2006/main" kumimoji="1" lang="ja-JP" altLang="en-US" sz="1200" dirty="0">
              <a:solidFill>
                <a:schemeClr val="bg1"/>
              </a:solidFill>
            </a:endParaRPr>
          </a:p>
        </p:txBody>
      </p:sp>
      <p:sp>
        <p:nvSpPr>
          <p:cNvPr id="39" name="矢印: 五方向 38">
            <a:extLst>
              <a:ext uri="{FF2B5EF4-FFF2-40B4-BE49-F238E27FC236}">
                <a16:creationId xmlns:a16="http://schemas.microsoft.com/office/drawing/2014/main" id="{C326B2B5-10BD-81FB-80A6-569F87121F53}"/>
              </a:ext>
            </a:extLst>
          </p:cNvPr>
          <p:cNvSpPr/>
          <p:nvPr/>
        </p:nvSpPr>
        <p:spPr>
          <a:xfrm>
            <a:off x="6129928" y="5757270"/>
            <a:ext cx="1655545" cy="329042"/>
          </a:xfrm>
          <a:prstGeom prst="homePlate">
            <a:avLst/>
          </a:prstGeom>
          <a:solidFill>
            <a:schemeClr val="accent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xmlns:a="http://schemas.openxmlformats.org/drawingml/2006/main" algn="ctr"/>
            <a:r xmlns:a="http://schemas.openxmlformats.org/drawingml/2006/main">
              <a:rPr lang="en" altLang="en-US" sz="1200" dirty="0">
                <a:solidFill>
                  <a:schemeClr val="bg1"/>
                </a:solidFill>
              </a:rPr>
              <a:t>Evaluation/Verification</a:t>
            </a:r>
            <a:endParaRPr xmlns:a="http://schemas.openxmlformats.org/drawingml/2006/main" kumimoji="1" lang="ja-JP" altLang="en-US" sz="1200" dirty="0">
              <a:solidFill>
                <a:schemeClr val="bg1"/>
              </a:solidFill>
            </a:endParaRPr>
          </a:p>
        </p:txBody>
      </p:sp>
      <p:sp>
        <p:nvSpPr>
          <p:cNvPr id="48" name="矢印: 五方向 47">
            <a:extLst>
              <a:ext uri="{FF2B5EF4-FFF2-40B4-BE49-F238E27FC236}">
                <a16:creationId xmlns:a16="http://schemas.microsoft.com/office/drawing/2014/main" id="{3D2F75BE-FBEE-F958-EAB2-DC4B23E7C586}"/>
              </a:ext>
            </a:extLst>
          </p:cNvPr>
          <p:cNvSpPr/>
          <p:nvPr/>
        </p:nvSpPr>
        <p:spPr>
          <a:xfrm>
            <a:off x="4782302" y="4560063"/>
            <a:ext cx="1514954" cy="303898"/>
          </a:xfrm>
          <a:prstGeom prst="homePlate">
            <a:avLst/>
          </a:prstGeom>
          <a:solidFill>
            <a:schemeClr val="bg1"/>
          </a:solidFill>
          <a:ln w="19050">
            <a:solidFill>
              <a:schemeClr val="accent5">
                <a:lumMod val="75000"/>
              </a:schemeClr>
            </a:solidFill>
            <a:prstDash val="sysDot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xmlns:a="http://schemas.openxmlformats.org/drawingml/2006/main" algn="ctr"/>
            <a:r xmlns:a="http://schemas.openxmlformats.org/drawingml/2006/main">
              <a:rPr lang="en" altLang="en-US" sz="1200" dirty="0">
                <a:solidFill>
                  <a:schemeClr val="bg1"/>
                </a:solidFill>
              </a:rPr>
              <a:t>Evaluation/Verification</a:t>
            </a:r>
            <a:endParaRPr xmlns:a="http://schemas.openxmlformats.org/drawingml/2006/main" kumimoji="1" lang="ja-JP" altLang="en-US" sz="1200" dirty="0">
              <a:solidFill>
                <a:schemeClr val="bg1"/>
              </a:solidFill>
            </a:endParaRPr>
          </a:p>
        </p:txBody>
      </p:sp>
      <p:sp>
        <p:nvSpPr>
          <p:cNvPr id="38" name="矢印: 五方向 37">
            <a:extLst>
              <a:ext uri="{FF2B5EF4-FFF2-40B4-BE49-F238E27FC236}">
                <a16:creationId xmlns:a16="http://schemas.microsoft.com/office/drawing/2014/main" id="{99BE8771-A5CE-B995-B366-70145DBD5D52}"/>
              </a:ext>
            </a:extLst>
          </p:cNvPr>
          <p:cNvSpPr/>
          <p:nvPr/>
        </p:nvSpPr>
        <p:spPr>
          <a:xfrm>
            <a:off x="6099548" y="4544503"/>
            <a:ext cx="1653770" cy="328423"/>
          </a:xfrm>
          <a:prstGeom prst="homePlate">
            <a:avLst/>
          </a:prstGeom>
          <a:solidFill>
            <a:schemeClr val="accent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xmlns:a="http://schemas.openxmlformats.org/drawingml/2006/main" algn="ctr"/>
            <a:r xmlns:a="http://schemas.openxmlformats.org/drawingml/2006/main">
              <a:rPr lang="en" altLang="en-US" sz="1200" dirty="0">
                <a:solidFill>
                  <a:schemeClr val="bg1"/>
                </a:solidFill>
              </a:rPr>
              <a:t>Evaluation/Verification</a:t>
            </a:r>
            <a:endParaRPr xmlns:a="http://schemas.openxmlformats.org/drawingml/2006/main" kumimoji="1" lang="ja-JP" altLang="en-US" sz="1200" dirty="0">
              <a:solidFill>
                <a:schemeClr val="bg1"/>
              </a:solidFill>
            </a:endParaRPr>
          </a:p>
        </p:txBody>
      </p:sp>
      <p:sp>
        <p:nvSpPr>
          <p:cNvPr id="52" name="矢印: 五方向 51">
            <a:extLst>
              <a:ext uri="{FF2B5EF4-FFF2-40B4-BE49-F238E27FC236}">
                <a16:creationId xmlns:a16="http://schemas.microsoft.com/office/drawing/2014/main" id="{D5603807-FC2E-9836-4664-B27723948613}"/>
              </a:ext>
            </a:extLst>
          </p:cNvPr>
          <p:cNvSpPr/>
          <p:nvPr/>
        </p:nvSpPr>
        <p:spPr>
          <a:xfrm>
            <a:off x="7869260" y="4502840"/>
            <a:ext cx="1822188" cy="1583471"/>
          </a:xfrm>
          <a:prstGeom prst="homePlate">
            <a:avLst>
              <a:gd name="adj" fmla="val 19222"/>
            </a:avLst>
          </a:prstGeom>
          <a:solidFill>
            <a:schemeClr val="accent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xmlns:a="http://schemas.openxmlformats.org/drawingml/2006/main" algn="ctr"/>
            <a:r xmlns:a="http://schemas.openxmlformats.org/drawingml/2006/main">
              <a:rPr kumimoji="1" lang="en" altLang="en-US" sz="1400" dirty="0">
                <a:solidFill>
                  <a:schemeClr val="bg1"/>
                </a:solidFill>
              </a:rPr>
              <a:t>Systematization</a:t>
            </a:r>
          </a:p>
        </p:txBody>
      </p:sp>
      <p:cxnSp>
        <p:nvCxnSpPr>
          <p:cNvPr id="42" name="直線矢印コネクタ 41">
            <a:extLst>
              <a:ext uri="{FF2B5EF4-FFF2-40B4-BE49-F238E27FC236}">
                <a16:creationId xmlns:a16="http://schemas.microsoft.com/office/drawing/2014/main" id="{2978C8C5-D57E-65BA-71DE-5256ACC1302A}"/>
              </a:ext>
            </a:extLst>
          </p:cNvPr>
          <p:cNvCxnSpPr>
            <a:cxnSpLocks/>
          </p:cNvCxnSpPr>
          <p:nvPr/>
        </p:nvCxnSpPr>
        <p:spPr>
          <a:xfrm flipV="1">
            <a:off x="7758220" y="3455126"/>
            <a:ext cx="0" cy="2474560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直線矢印コネクタ 42">
            <a:extLst>
              <a:ext uri="{FF2B5EF4-FFF2-40B4-BE49-F238E27FC236}">
                <a16:creationId xmlns:a16="http://schemas.microsoft.com/office/drawing/2014/main" id="{CF561CBE-1336-8B05-6C5D-F83ECF997C42}"/>
              </a:ext>
            </a:extLst>
          </p:cNvPr>
          <p:cNvCxnSpPr>
            <a:cxnSpLocks/>
          </p:cNvCxnSpPr>
          <p:nvPr/>
        </p:nvCxnSpPr>
        <p:spPr>
          <a:xfrm flipV="1">
            <a:off x="7714131" y="3455126"/>
            <a:ext cx="0" cy="1236844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矢印: 五方向 17">
            <a:extLst>
              <a:ext uri="{FF2B5EF4-FFF2-40B4-BE49-F238E27FC236}">
                <a16:creationId xmlns:a16="http://schemas.microsoft.com/office/drawing/2014/main" id="{AFE4BB05-5591-F145-4D06-BD703B85FE0D}"/>
              </a:ext>
            </a:extLst>
          </p:cNvPr>
          <p:cNvSpPr/>
          <p:nvPr/>
        </p:nvSpPr>
        <p:spPr>
          <a:xfrm>
            <a:off x="4391505" y="2773854"/>
            <a:ext cx="1650039" cy="660040"/>
          </a:xfrm>
          <a:prstGeom prst="homePlate">
            <a:avLst/>
          </a:prstGeom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xmlns:a="http://schemas.openxmlformats.org/drawingml/2006/main" algn="ctr"/>
            <a:r xmlns:a="http://schemas.openxmlformats.org/drawingml/2006/main">
              <a:rPr kumimoji="1" lang="en" altLang="en-US" sz="1400" dirty="0"/>
              <a:t>International conference</a:t>
            </a:r>
            <a:endParaRPr xmlns:a="http://schemas.openxmlformats.org/drawingml/2006/main" kumimoji="1" lang="en-US" altLang="ja-JP" sz="1400" dirty="0"/>
          </a:p>
          <a:p>
            <a:pPr xmlns:a="http://schemas.openxmlformats.org/drawingml/2006/main" algn="ctr"/>
            <a:r xmlns:a="http://schemas.openxmlformats.org/drawingml/2006/main">
              <a:rPr kumimoji="1" lang="en" altLang="en-US" sz="1400" dirty="0"/>
              <a:t>Preparation/Presentation</a:t>
            </a:r>
          </a:p>
        </p:txBody>
      </p:sp>
      <p:sp>
        <p:nvSpPr>
          <p:cNvPr id="19" name="矢印: 五方向 18">
            <a:extLst>
              <a:ext uri="{FF2B5EF4-FFF2-40B4-BE49-F238E27FC236}">
                <a16:creationId xmlns:a16="http://schemas.microsoft.com/office/drawing/2014/main" id="{5891D176-640A-164D-9955-2D4548C71957}"/>
              </a:ext>
            </a:extLst>
          </p:cNvPr>
          <p:cNvSpPr/>
          <p:nvPr/>
        </p:nvSpPr>
        <p:spPr>
          <a:xfrm>
            <a:off x="6004599" y="2806839"/>
            <a:ext cx="1650039" cy="629727"/>
          </a:xfrm>
          <a:prstGeom prst="homePlate">
            <a:avLst/>
          </a:prstGeom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xmlns:a="http://schemas.openxmlformats.org/drawingml/2006/main" algn="ctr"/>
            <a:r xmlns:a="http://schemas.openxmlformats.org/drawingml/2006/main">
              <a:rPr kumimoji="1" lang="en" altLang="en-US" sz="1400" dirty="0"/>
              <a:t>Preparing for/presenting </a:t>
            </a:r>
            <a:r xmlns:a="http://schemas.openxmlformats.org/drawingml/2006/main">
              <a:rPr kumimoji="1" lang="en" altLang="en-US" sz="1400" dirty="0"/>
              <a:t>at an international conference</a:t>
            </a:r>
            <a:br xmlns:a="http://schemas.openxmlformats.org/drawingml/2006/main">
              <a:rPr kumimoji="1" lang="en-US" altLang="ja-JP" sz="1400" dirty="0"/>
            </a:br>
          </a:p>
        </p:txBody>
      </p:sp>
      <p:cxnSp>
        <p:nvCxnSpPr>
          <p:cNvPr id="29" name="直線矢印コネクタ 28">
            <a:extLst>
              <a:ext uri="{FF2B5EF4-FFF2-40B4-BE49-F238E27FC236}">
                <a16:creationId xmlns:a16="http://schemas.microsoft.com/office/drawing/2014/main" id="{B0D10128-3D1F-1C70-0778-B9A1D9F974F8}"/>
              </a:ext>
            </a:extLst>
          </p:cNvPr>
          <p:cNvCxnSpPr>
            <a:cxnSpLocks/>
          </p:cNvCxnSpPr>
          <p:nvPr/>
        </p:nvCxnSpPr>
        <p:spPr>
          <a:xfrm flipV="1">
            <a:off x="6044703" y="3446161"/>
            <a:ext cx="0" cy="2474560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直線矢印コネクタ 29">
            <a:extLst>
              <a:ext uri="{FF2B5EF4-FFF2-40B4-BE49-F238E27FC236}">
                <a16:creationId xmlns:a16="http://schemas.microsoft.com/office/drawing/2014/main" id="{B2408D77-F85C-8ED4-D8A3-4B43A6801512}"/>
              </a:ext>
            </a:extLst>
          </p:cNvPr>
          <p:cNvCxnSpPr>
            <a:cxnSpLocks/>
          </p:cNvCxnSpPr>
          <p:nvPr/>
        </p:nvCxnSpPr>
        <p:spPr>
          <a:xfrm flipV="1">
            <a:off x="5979543" y="3446161"/>
            <a:ext cx="0" cy="2162143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直線矢印コネクタ 52">
            <a:extLst>
              <a:ext uri="{FF2B5EF4-FFF2-40B4-BE49-F238E27FC236}">
                <a16:creationId xmlns:a16="http://schemas.microsoft.com/office/drawing/2014/main" id="{4C52F733-7A6B-282C-8F11-3DD349CB5286}"/>
              </a:ext>
            </a:extLst>
          </p:cNvPr>
          <p:cNvCxnSpPr>
            <a:cxnSpLocks/>
          </p:cNvCxnSpPr>
          <p:nvPr/>
        </p:nvCxnSpPr>
        <p:spPr>
          <a:xfrm flipV="1">
            <a:off x="9691448" y="3454297"/>
            <a:ext cx="0" cy="1848414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矢印: 五方向 14">
            <a:extLst>
              <a:ext uri="{FF2B5EF4-FFF2-40B4-BE49-F238E27FC236}">
                <a16:creationId xmlns:a16="http://schemas.microsoft.com/office/drawing/2014/main" id="{F6E58A0E-6444-745A-F53C-0826C484698E}"/>
              </a:ext>
            </a:extLst>
          </p:cNvPr>
          <p:cNvSpPr/>
          <p:nvPr/>
        </p:nvSpPr>
        <p:spPr>
          <a:xfrm>
            <a:off x="3482790" y="2770579"/>
            <a:ext cx="869568" cy="675582"/>
          </a:xfrm>
          <a:prstGeom prst="homePlate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xmlns:a="http://schemas.openxmlformats.org/drawingml/2006/main" algn="ctr"/>
            <a:r xmlns:a="http://schemas.openxmlformats.org/drawingml/2006/main">
              <a:rPr kumimoji="1" lang="en" altLang="en-US" sz="900" dirty="0">
                <a:solidFill>
                  <a:schemeClr val="tx1"/>
                </a:solidFill>
              </a:rPr>
              <a:t>Domestic Conference</a:t>
            </a:r>
            <a:endParaRPr xmlns:a="http://schemas.openxmlformats.org/drawingml/2006/main" kumimoji="1" lang="en-US" altLang="ja-JP" sz="900" dirty="0">
              <a:solidFill>
                <a:schemeClr val="tx1"/>
              </a:solidFill>
            </a:endParaRPr>
          </a:p>
          <a:p>
            <a:pPr xmlns:a="http://schemas.openxmlformats.org/drawingml/2006/main" algn="ctr"/>
            <a:r xmlns:a="http://schemas.openxmlformats.org/drawingml/2006/main">
              <a:rPr lang="en" altLang="en-US" sz="900" dirty="0">
                <a:solidFill>
                  <a:schemeClr val="tx1"/>
                </a:solidFill>
              </a:rPr>
              <a:t>Submission </a:t>
            </a:r>
            <a:r xmlns:a="http://schemas.openxmlformats.org/drawingml/2006/main">
              <a:rPr lang="en" altLang="ja-JP" sz="900" dirty="0">
                <a:solidFill>
                  <a:schemeClr val="tx1"/>
                </a:solidFill>
              </a:rPr>
              <a:t>/ </a:t>
            </a:r>
            <a:r xmlns:a="http://schemas.openxmlformats.org/drawingml/2006/main">
              <a:rPr lang="en" altLang="en-US" sz="900" dirty="0">
                <a:solidFill>
                  <a:schemeClr val="tx1"/>
                </a:solidFill>
              </a:rPr>
              <a:t>Announcement</a:t>
            </a:r>
            <a:endParaRPr xmlns:a="http://schemas.openxmlformats.org/drawingml/2006/main" lang="en-US" altLang="ja-JP" sz="900" dirty="0">
              <a:solidFill>
                <a:schemeClr val="tx1"/>
              </a:solidFill>
            </a:endParaRPr>
          </a:p>
        </p:txBody>
      </p:sp>
      <p:sp>
        <p:nvSpPr>
          <p:cNvPr id="33" name="円弧 32">
            <a:extLst>
              <a:ext uri="{FF2B5EF4-FFF2-40B4-BE49-F238E27FC236}">
                <a16:creationId xmlns:a16="http://schemas.microsoft.com/office/drawing/2014/main" id="{F80FFE42-D771-0B59-6A64-A029F51CA682}"/>
              </a:ext>
            </a:extLst>
          </p:cNvPr>
          <p:cNvSpPr/>
          <p:nvPr/>
        </p:nvSpPr>
        <p:spPr>
          <a:xfrm>
            <a:off x="4495688" y="3610960"/>
            <a:ext cx="236116" cy="120496"/>
          </a:xfrm>
          <a:prstGeom prst="arc">
            <a:avLst>
              <a:gd name="adj1" fmla="val 20415234"/>
              <a:gd name="adj2" fmla="val 12216308"/>
            </a:avLst>
          </a:prstGeom>
          <a:ln w="952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4" name="円弧 33">
            <a:extLst>
              <a:ext uri="{FF2B5EF4-FFF2-40B4-BE49-F238E27FC236}">
                <a16:creationId xmlns:a16="http://schemas.microsoft.com/office/drawing/2014/main" id="{55DA0E3F-9B08-752B-CFC8-C7B9CFF137A2}"/>
              </a:ext>
            </a:extLst>
          </p:cNvPr>
          <p:cNvSpPr/>
          <p:nvPr/>
        </p:nvSpPr>
        <p:spPr>
          <a:xfrm>
            <a:off x="5867720" y="3603979"/>
            <a:ext cx="297764" cy="122496"/>
          </a:xfrm>
          <a:prstGeom prst="arc">
            <a:avLst>
              <a:gd name="adj1" fmla="val 20415234"/>
              <a:gd name="adj2" fmla="val 12216308"/>
            </a:avLst>
          </a:prstGeom>
          <a:ln w="952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7" name="円弧 46">
            <a:extLst>
              <a:ext uri="{FF2B5EF4-FFF2-40B4-BE49-F238E27FC236}">
                <a16:creationId xmlns:a16="http://schemas.microsoft.com/office/drawing/2014/main" id="{46EA3843-2A98-0394-EF15-55FAF1F39C90}"/>
              </a:ext>
            </a:extLst>
          </p:cNvPr>
          <p:cNvSpPr/>
          <p:nvPr/>
        </p:nvSpPr>
        <p:spPr>
          <a:xfrm>
            <a:off x="7586717" y="3545701"/>
            <a:ext cx="297764" cy="122496"/>
          </a:xfrm>
          <a:prstGeom prst="arc">
            <a:avLst>
              <a:gd name="adj1" fmla="val 20415234"/>
              <a:gd name="adj2" fmla="val 12216308"/>
            </a:avLst>
          </a:prstGeom>
          <a:ln w="952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0" name="テキスト ボックス 49">
            <a:extLst>
              <a:ext uri="{FF2B5EF4-FFF2-40B4-BE49-F238E27FC236}">
                <a16:creationId xmlns:a16="http://schemas.microsoft.com/office/drawing/2014/main" id="{CF72C135-9A07-11E3-5984-0B039F825044}"/>
              </a:ext>
            </a:extLst>
          </p:cNvPr>
          <p:cNvSpPr txBox="1"/>
          <p:nvPr/>
        </p:nvSpPr>
        <p:spPr>
          <a:xfrm>
            <a:off x="4708556" y="3454297"/>
            <a:ext cx="9922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 xmlns:a="http://schemas.openxmlformats.org/drawingml/2006/main">
              <a:rPr kumimoji="1" lang="en" altLang="en-US" sz="900" dirty="0">
                <a:solidFill>
                  <a:srgbClr val="FF0000"/>
                </a:solidFill>
              </a:rPr>
              <a:t>Distributed </a:t>
            </a:r>
            <a:r xmlns:a="http://schemas.openxmlformats.org/drawingml/2006/main">
              <a:rPr kumimoji="1" lang="en" altLang="ja-JP" sz="900" dirty="0">
                <a:solidFill>
                  <a:srgbClr val="FF0000"/>
                </a:solidFill>
              </a:rPr>
              <a:t>Attestation </a:t>
            </a:r>
            <a:r xmlns:a="http://schemas.openxmlformats.org/drawingml/2006/main">
              <a:rPr kumimoji="1" lang="en" altLang="en-US" sz="900" dirty="0">
                <a:solidFill>
                  <a:srgbClr val="FF0000"/>
                </a:solidFill>
              </a:rPr>
              <a:t>Proposal</a:t>
            </a:r>
            <a:r xmlns:a="http://schemas.openxmlformats.org/drawingml/2006/main">
              <a:rPr lang="en" altLang="en-US" sz="900" dirty="0">
                <a:solidFill>
                  <a:srgbClr val="FF0000"/>
                </a:solidFill>
              </a:rPr>
              <a:t>​</a:t>
            </a:r>
          </a:p>
        </p:txBody>
      </p:sp>
      <p:sp>
        <p:nvSpPr>
          <p:cNvPr id="51" name="テキスト ボックス 50">
            <a:extLst>
              <a:ext uri="{FF2B5EF4-FFF2-40B4-BE49-F238E27FC236}">
                <a16:creationId xmlns:a16="http://schemas.microsoft.com/office/drawing/2014/main" id="{E46F1361-B3A1-9524-4CBE-8300246A0D6B}"/>
              </a:ext>
            </a:extLst>
          </p:cNvPr>
          <p:cNvSpPr txBox="1"/>
          <p:nvPr/>
        </p:nvSpPr>
        <p:spPr>
          <a:xfrm>
            <a:off x="6147926" y="3475315"/>
            <a:ext cx="10293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 xmlns:a="http://schemas.openxmlformats.org/drawingml/2006/main">
              <a:rPr kumimoji="1" lang="en" altLang="ja-JP" sz="900" dirty="0">
                <a:solidFill>
                  <a:srgbClr val="FF0000"/>
                </a:solidFill>
              </a:rPr>
              <a:t>Attestation </a:t>
            </a:r>
            <a:r xmlns:a="http://schemas.openxmlformats.org/drawingml/2006/main">
              <a:rPr kumimoji="1" lang="en" altLang="en-US" sz="900" dirty="0">
                <a:solidFill>
                  <a:srgbClr val="FF0000"/>
                </a:solidFill>
              </a:rPr>
              <a:t>proposal </a:t>
            </a:r>
            <a:r xmlns:a="http://schemas.openxmlformats.org/drawingml/2006/main">
              <a:rPr lang="en" altLang="en-US" sz="900" dirty="0">
                <a:solidFill>
                  <a:srgbClr val="FF0000"/>
                </a:solidFill>
              </a:rPr>
              <a:t>for confidential information</a:t>
            </a:r>
          </a:p>
        </p:txBody>
      </p:sp>
      <p:sp>
        <p:nvSpPr>
          <p:cNvPr id="55" name="テキスト ボックス 54">
            <a:extLst>
              <a:ext uri="{FF2B5EF4-FFF2-40B4-BE49-F238E27FC236}">
                <a16:creationId xmlns:a16="http://schemas.microsoft.com/office/drawing/2014/main" id="{B847C0C0-24DD-C50E-5EDD-886B4413B34C}"/>
              </a:ext>
            </a:extLst>
          </p:cNvPr>
          <p:cNvSpPr txBox="1"/>
          <p:nvPr/>
        </p:nvSpPr>
        <p:spPr>
          <a:xfrm>
            <a:off x="7839757" y="3489384"/>
            <a:ext cx="13927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 xmlns:a="http://schemas.openxmlformats.org/drawingml/2006/main">
              <a:rPr kumimoji="1" lang="en" altLang="en-US" sz="900" dirty="0">
                <a:solidFill>
                  <a:srgbClr val="FF0000"/>
                </a:solidFill>
              </a:rPr>
              <a:t>Detailed feasibility assessment</a:t>
            </a:r>
            <a:endParaRPr xmlns:a="http://schemas.openxmlformats.org/drawingml/2006/main" kumimoji="1" lang="en-US" altLang="ja-JP" sz="900" dirty="0">
              <a:solidFill>
                <a:srgbClr val="FF0000"/>
              </a:solidFill>
            </a:endParaRPr>
          </a:p>
          <a:p>
            <a:r xmlns:a="http://schemas.openxmlformats.org/drawingml/2006/main">
              <a:rPr kumimoji="1" lang="en" altLang="en-US" sz="900" dirty="0">
                <a:solidFill>
                  <a:srgbClr val="FF0000"/>
                </a:solidFill>
              </a:rPr>
              <a:t>and safety verification</a:t>
            </a:r>
          </a:p>
        </p:txBody>
      </p:sp>
      <p:sp>
        <p:nvSpPr>
          <p:cNvPr id="56" name="テキスト ボックス 55">
            <a:extLst>
              <a:ext uri="{FF2B5EF4-FFF2-40B4-BE49-F238E27FC236}">
                <a16:creationId xmlns:a16="http://schemas.microsoft.com/office/drawing/2014/main" id="{B9ACD70C-11A9-5FC6-7018-589A5A3865E0}"/>
              </a:ext>
            </a:extLst>
          </p:cNvPr>
          <p:cNvSpPr txBox="1"/>
          <p:nvPr/>
        </p:nvSpPr>
        <p:spPr>
          <a:xfrm>
            <a:off x="2844269" y="3567586"/>
            <a:ext cx="992233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 xmlns:a="http://schemas.openxmlformats.org/drawingml/2006/main">
              <a:rPr kumimoji="1" lang="en" altLang="en-US" sz="900" dirty="0">
                <a:solidFill>
                  <a:srgbClr val="FF0000"/>
                </a:solidFill>
              </a:rPr>
              <a:t>(Issues raised)</a:t>
            </a:r>
          </a:p>
        </p:txBody>
      </p:sp>
      <p:sp>
        <p:nvSpPr>
          <p:cNvPr id="57" name="テキスト ボックス 56">
            <a:extLst>
              <a:ext uri="{FF2B5EF4-FFF2-40B4-BE49-F238E27FC236}">
                <a16:creationId xmlns:a16="http://schemas.microsoft.com/office/drawing/2014/main" id="{FCFF1885-D313-105B-15B7-7B1FBE9BC2CE}"/>
              </a:ext>
            </a:extLst>
          </p:cNvPr>
          <p:cNvSpPr txBox="1"/>
          <p:nvPr/>
        </p:nvSpPr>
        <p:spPr>
          <a:xfrm>
            <a:off x="9716304" y="3567586"/>
            <a:ext cx="1041454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t>Iterative loop: benchmark → hybrid model → FPGA prototype → thesis</a:t>
            </a:r>
          </a:p>
        </p:txBody>
      </p:sp>
      <p:cxnSp>
        <p:nvCxnSpPr>
          <p:cNvPr id="13" name="直線矢印コネクタ 12">
            <a:extLst>
              <a:ext uri="{FF2B5EF4-FFF2-40B4-BE49-F238E27FC236}">
                <a16:creationId xmlns:a16="http://schemas.microsoft.com/office/drawing/2014/main" id="{C92D17F8-B167-3929-075D-336E6AB0C54B}"/>
              </a:ext>
            </a:extLst>
          </p:cNvPr>
          <p:cNvCxnSpPr>
            <a:cxnSpLocks/>
          </p:cNvCxnSpPr>
          <p:nvPr/>
        </p:nvCxnSpPr>
        <p:spPr>
          <a:xfrm flipV="1">
            <a:off x="4567520" y="3454297"/>
            <a:ext cx="0" cy="939765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線矢印コネクタ 16">
            <a:extLst>
              <a:ext uri="{FF2B5EF4-FFF2-40B4-BE49-F238E27FC236}">
                <a16:creationId xmlns:a16="http://schemas.microsoft.com/office/drawing/2014/main" id="{DF3AF8A3-50EC-238F-0D06-D1A033B83220}"/>
              </a:ext>
            </a:extLst>
          </p:cNvPr>
          <p:cNvCxnSpPr>
            <a:cxnSpLocks/>
          </p:cNvCxnSpPr>
          <p:nvPr/>
        </p:nvCxnSpPr>
        <p:spPr>
          <a:xfrm flipV="1">
            <a:off x="3565834" y="3461626"/>
            <a:ext cx="0" cy="861559"/>
          </a:xfrm>
          <a:prstGeom prst="straightConnector1">
            <a:avLst/>
          </a:prstGeom>
          <a:ln w="19050">
            <a:solidFill>
              <a:srgbClr val="FF0000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CCA0F934-8066-5026-CEF4-7288CC22EA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44AA7B-1733-46A6-89F2-666551969EC7}" type="slidenum">
              <a:rPr kumimoji="1" lang="ja-JP" altLang="en-US" smtClean="0"/>
              <a:t>19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4499731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BF481C9-6FF1-6441-4C96-7C6BEE3531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 conclusion (Aspirations)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4BE29049-5141-21BA-4B4E-06712FCD8E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2473" y="1845503"/>
            <a:ext cx="11524423" cy="4326696"/>
          </a:xfrm>
        </p:spPr>
        <p:txBody>
          <a:bodyPr>
            <a:normAutofit fontScale="92500"/>
          </a:bodyPr>
          <a:lstStyle/>
          <a:p>
            <a:r>
              <a:t>Regarding hybrid Quantum AI for IoT security, I will co-design quantum circuits, classical ML, and embedded platforms under real energy and latency constraints.</a:t>
            </a:r>
            <a:br/>
            <a:br/>
            <a:r>
              <a:t>As a security researcher, I aim to deepen expertise in deployable edge intelligence and bridge academic research with national-scale ICT practice.</a:t>
            </a:r>
            <a:br/>
            <a:br/>
            <a:r>
              <a:t>Ultimate goal: provide trustworthy, energy-efficient IoT security analytics and contribute to a convenient and safe intelligent society.</a:t>
            </a:r>
            <a:endParaRPr xmlns:a="http://schemas.openxmlformats.org/drawingml/2006/main" kumimoji="1" lang="en-US" altLang="ja-JP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943288EA-2781-BD8A-9D6B-D535C92E83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44AA7B-1733-46A6-89F2-666551969EC7}" type="slidenum">
              <a:rPr kumimoji="1" lang="ja-JP" altLang="en-US" smtClean="0"/>
              <a:t>20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1535234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C82746F0-2BA6-D0E2-350D-9732806E62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lvl="1" indent="0">
              <a:buNone/>
            </a:pPr>
            <a:r>
              <a:t>Supplementary slides follow</a:t>
            </a:r>
            <a:br/>
            <a:br/>
            <a:r>
              <a:t>Survey highlights · Four paradigms · Benchmark alignment · TRL roadmap</a:t>
            </a:r>
            <a:endParaRPr lang="en-US" altLang="ja-JP" dirty="0"/>
          </a:p>
        </p:txBody>
      </p:sp>
      <p:sp>
        <p:nvSpPr>
          <p:cNvPr id="2" name="スライド番号プレースホルダー 1">
            <a:extLst>
              <a:ext uri="{FF2B5EF4-FFF2-40B4-BE49-F238E27FC236}">
                <a16:creationId xmlns:a16="http://schemas.microsoft.com/office/drawing/2014/main" id="{39643F98-72C6-0A6D-B423-0122F3802E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44AA7B-1733-46A6-89F2-666551969EC7}" type="slidenum">
              <a:rPr kumimoji="1" lang="ja-JP" altLang="en-US" smtClean="0"/>
              <a:t>21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3102870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51681A2-48BA-996E-7AEB-7274618922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t>[ Reference ] Survey workflow — PRISMA corpus</a:t>
            </a:r>
            <a:endParaRPr xmlns:a="http://schemas.openxmlformats.org/drawingml/2006/main" kumimoji="1" lang="ja-JP" altLang="en-US" sz="3200" dirty="0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A7F8FBA6-4406-E069-67ED-36DB567E12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44AA7B-1733-46A6-89F2-666551969EC7}" type="slidenum">
              <a:rPr kumimoji="1" lang="ja-JP" altLang="en-US" smtClean="0"/>
              <a:t>22</a:t>
            </a:fld>
            <a:endParaRPr kumimoji="1" lang="ja-JP" altLang="en-US"/>
          </a:p>
        </p:txBody>
      </p:sp>
      <p:pic>
        <p:nvPicPr>
          <p:cNvPr id="7" name="Picture 6" descr="01_iot_quantum_landscap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1325880"/>
            <a:ext cx="5303520" cy="3001119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217920" y="1325880"/>
            <a:ext cx="50292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/>
            </a:pPr>
            <a:r>
              <a:t>PRISMA-inspired reduction: 229 records → 42 IoT-focused studies (+ 15 enabling refs.)</a:t>
            </a:r>
            <a:br/>
            <a:r>
              <a:t>Multi-database search: OpenAlex, Scopus, PubMed, WoS</a:t>
            </a:r>
            <a:br/>
            <a:r>
              <a:t>Tools: PyBibX, bibliometrix, VOSviewer</a:t>
            </a:r>
          </a:p>
        </p:txBody>
      </p:sp>
    </p:spTree>
    <p:extLst>
      <p:ext uri="{BB962C8B-B14F-4D97-AF65-F5344CB8AC3E}">
        <p14:creationId xmlns:p14="http://schemas.microsoft.com/office/powerpoint/2010/main" val="411365717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51681A2-48BA-996E-7AEB-7274618922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t>[ Reference ] Four-paradigm IoT taxonomy</a:t>
            </a:r>
            <a:endParaRPr xmlns:a="http://schemas.openxmlformats.org/drawingml/2006/main" kumimoji="1" lang="ja-JP" altLang="en-US" sz="3200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8D530A3E-BCC5-2C7A-A679-38CE59AC8E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44AA7B-1733-46A6-89F2-666551969EC7}" type="slidenum">
              <a:rPr kumimoji="1" lang="ja-JP" altLang="en-US" smtClean="0"/>
              <a:t>23</a:t>
            </a:fld>
            <a:endParaRPr kumimoji="1" lang="ja-JP" altLang="en-US"/>
          </a:p>
        </p:txBody>
      </p:sp>
      <p:pic>
        <p:nvPicPr>
          <p:cNvPr id="5" name="Picture 4" descr="03_doctoral_cultivati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1325880"/>
            <a:ext cx="5303520" cy="3001119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217920" y="1325880"/>
            <a:ext cx="50292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/>
            </a:pPr>
            <a:r>
              <a:t>Conventional IoT (C:17) | AI-based IoT (AI:15)</a:t>
            </a:r>
            <a:br/>
            <a:r>
              <a:t>Quantum-enhanced (Q:4) | Quantum AI IoT (QAI:6)</a:t>
            </a:r>
            <a:br/>
            <a:r>
              <a:t>Comparison functional J(𝒲) for paradigm selection under deployability constraints</a:t>
            </a:r>
          </a:p>
        </p:txBody>
      </p:sp>
    </p:spTree>
    <p:extLst>
      <p:ext uri="{BB962C8B-B14F-4D97-AF65-F5344CB8AC3E}">
        <p14:creationId xmlns:p14="http://schemas.microsoft.com/office/powerpoint/2010/main" val="236431347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51681A2-48BA-996E-7AEB-7274618922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t>[ Reference ] Case studies from current survey</a:t>
            </a:r>
            <a:endParaRPr xmlns:a="http://schemas.openxmlformats.org/drawingml/2006/main" kumimoji="1" lang="ja-JP" altLang="en-US" sz="3200" dirty="0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FCD3FBA0-A433-72F4-F582-7497C40BE2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44AA7B-1733-46A6-89F2-666551969EC7}" type="slidenum">
              <a:rPr kumimoji="1" lang="ja-JP" altLang="en-US" smtClean="0"/>
              <a:t>24</a:t>
            </a:fld>
            <a:endParaRPr kumimoji="1" lang="ja-JP" altLang="en-US"/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6070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/>
            </a:pPr>
            <a:r>
              <a:t>Primary: Smart-building IoT security gateway (hybrid edge IDS)</a:t>
            </a:r>
            <a:br/>
            <a:r>
              <a:t>Secondary: Post-discharge RPM IoMT with innovative Hybrid Reference Architecture</a:t>
            </a:r>
            <a:br/>
            <a:r>
              <a:t>Policy-routed deployment paths α, β, γ for zero-trust hybrid edge</a:t>
            </a:r>
          </a:p>
        </p:txBody>
      </p:sp>
    </p:spTree>
    <p:extLst>
      <p:ext uri="{BB962C8B-B14F-4D97-AF65-F5344CB8AC3E}">
        <p14:creationId xmlns:p14="http://schemas.microsoft.com/office/powerpoint/2010/main" val="35296398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51681A2-48BA-996E-7AEB-7274618922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t>[ Reference ] Benchmark metrics alignment</a:t>
            </a:r>
            <a:endParaRPr xmlns:a="http://schemas.openxmlformats.org/drawingml/2006/main" kumimoji="1" lang="ja-JP" altLang="en-US" sz="3200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4CDBDACF-84AF-4C69-7FA6-7CCACAE86E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44AA7B-1733-46A6-89F2-666551969EC7}" type="slidenum">
              <a:rPr kumimoji="1" lang="ja-JP" altLang="en-US" smtClean="0"/>
              <a:t>25</a:t>
            </a:fld>
            <a:endParaRPr kumimoji="1" lang="ja-JP" altLang="en-US"/>
          </a:p>
        </p:txBody>
      </p:sp>
      <p:sp>
        <p:nvSpPr>
          <p:cNvPr id="5" name="TextBox 4"/>
          <p:cNvSpPr txBox="1"/>
          <p:nvPr/>
        </p:nvSpPr>
        <p:spPr>
          <a:xfrm>
            <a:off x="640080" y="1325880"/>
            <a:ext cx="106070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/>
            </a:pPr>
            <a:r>
              <a:t>Six-panel performance simulation: latency, complexity, resource proxies, F1/AUC</a:t>
            </a:r>
            <a:br/>
            <a:r>
              <a:t>Addresses documented gap—accuracy rarely reported jointly with circuit depth and energy</a:t>
            </a:r>
            <a:br/>
            <a:r>
              <a:t>Formal propositions: qubit budgets, shot-noise, latency decomposition, memory crossover</a:t>
            </a:r>
          </a:p>
        </p:txBody>
      </p:sp>
    </p:spTree>
    <p:extLst>
      <p:ext uri="{BB962C8B-B14F-4D97-AF65-F5344CB8AC3E}">
        <p14:creationId xmlns:p14="http://schemas.microsoft.com/office/powerpoint/2010/main" val="223742793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51681A2-48BA-996E-7AEB-7274618922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t>[ Reference ] Strategic importance of QAI IoT</a:t>
            </a:r>
            <a:endParaRPr xmlns:a="http://schemas.openxmlformats.org/drawingml/2006/main" kumimoji="1" lang="ja-JP" altLang="en-US" sz="3200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989E26DE-26B8-DDD3-B8E8-8090BD5C0A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44AA7B-1733-46A6-89F2-666551969EC7}" type="slidenum">
              <a:rPr kumimoji="1" lang="ja-JP" altLang="en-US" smtClean="0"/>
              <a:t>26</a:t>
            </a:fld>
            <a:endParaRPr kumimoji="1" lang="ja-JP" altLang="en-US"/>
          </a:p>
        </p:txBody>
      </p:sp>
      <p:sp>
        <p:nvSpPr>
          <p:cNvPr id="5" name="TextBox 4"/>
          <p:cNvSpPr txBox="1"/>
          <p:nvPr/>
        </p:nvSpPr>
        <p:spPr>
          <a:xfrm>
            <a:off x="640080" y="1325880"/>
            <a:ext cx="106070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/>
            </a:pPr>
            <a:r>
              <a:t>Formalises hybrid necessity, Pareto improvement, and fleet-scale trade-offs</a:t>
            </a:r>
            <a:br/>
            <a:r>
              <a:t>TRL roadmap for quantum AI-based IoT fleets</a:t>
            </a:r>
            <a:br/>
            <a:r>
              <a:t>Near-sensor analytics and ultra-low-latency cyber–physical control</a:t>
            </a:r>
          </a:p>
        </p:txBody>
      </p:sp>
    </p:spTree>
    <p:extLst>
      <p:ext uri="{BB962C8B-B14F-4D97-AF65-F5344CB8AC3E}">
        <p14:creationId xmlns:p14="http://schemas.microsoft.com/office/powerpoint/2010/main" val="242387794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51681A2-48BA-996E-7AEB-7274618922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t>[ Reference ] Candidate publications (selected)</a:t>
            </a:r>
            <a:endParaRPr xmlns:a="http://schemas.openxmlformats.org/drawingml/2006/main" kumimoji="1" lang="ja-JP" altLang="en-US" sz="3200" dirty="0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FA494595-D3D8-B298-FFF6-04FDD3020B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44AA7B-1733-46A6-89F2-666551969EC7}" type="slidenum">
              <a:rPr kumimoji="1" lang="ja-JP" altLang="en-US" smtClean="0"/>
              <a:t>27</a:t>
            </a:fld>
            <a:endParaRPr kumimoji="1" lang="ja-JP" altLang="en-US"/>
          </a:p>
        </p:txBody>
      </p:sp>
      <p:sp>
        <p:nvSpPr>
          <p:cNvPr id="6" name="TextBox 5"/>
          <p:cNvSpPr txBox="1"/>
          <p:nvPr/>
        </p:nvSpPr>
        <p:spPr>
          <a:xfrm>
            <a:off x="640080" y="1325880"/>
            <a:ext cx="106070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/>
            </a:pPr>
            <a:r>
              <a:t>Reversible/quantum logic: IEEE conferences; IoT–Quantum AI survey (co-PI)</a:t>
            </a:r>
            <a:br/>
            <a:r>
              <a:t>Target PhD venues: IEEE IoT Journal, FGCS, Applied Soft Computing, IEEE Access</a:t>
            </a:r>
            <a:br/>
            <a:r>
              <a:t>Conferences: IEEE IoT, QCE, edge-AI venues</a:t>
            </a:r>
          </a:p>
        </p:txBody>
      </p:sp>
    </p:spTree>
    <p:extLst>
      <p:ext uri="{BB962C8B-B14F-4D97-AF65-F5344CB8AC3E}">
        <p14:creationId xmlns:p14="http://schemas.microsoft.com/office/powerpoint/2010/main" val="290304892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FA638F2-E9BF-5865-3D69-6BC1D5EBDD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t>[ Reference ] QAI IoT technology readiness (TRL)</a:t>
            </a: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226534BB-9EBC-CB2F-B41A-F6E1E937A0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44AA7B-1733-46A6-89F2-666551969EC7}" type="slidenum">
              <a:rPr kumimoji="1" lang="ja-JP" altLang="en-US" smtClean="0"/>
              <a:t>28</a:t>
            </a:fld>
            <a:endParaRPr kumimoji="1" lang="ja-JP" altLang="en-US"/>
          </a:p>
        </p:txBody>
      </p:sp>
      <p:pic>
        <p:nvPicPr>
          <p:cNvPr id="5" name="Picture 4" descr="02_promise_vs_deployabilit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325880"/>
            <a:ext cx="5303520" cy="3001119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217920" y="1325880"/>
            <a:ext cx="50292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/>
            </a:pPr>
            <a:r>
              <a:t>TRL 2–4 target for doctoral prototype: lab-validated hybrid edge inference</a:t>
            </a:r>
            <a:br/>
            <a:r>
              <a:t>Roadmap: simulator training → compressed export → FPGA/ARM deployment → fleet evaluation</a:t>
            </a:r>
          </a:p>
        </p:txBody>
      </p:sp>
    </p:spTree>
    <p:extLst>
      <p:ext uri="{BB962C8B-B14F-4D97-AF65-F5344CB8AC3E}">
        <p14:creationId xmlns:p14="http://schemas.microsoft.com/office/powerpoint/2010/main" val="208664246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C27A346-5C17-A7AA-1FD3-7400584EB4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[ Reference ] Publication growth in QAI IoT (2016–2026)</a:t>
            </a: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DE9F731B-8BAF-3FCC-2586-19E244EAD0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44AA7B-1733-46A6-89F2-666551969EC7}" type="slidenum">
              <a:rPr kumimoji="1" lang="ja-JP" altLang="en-US" smtClean="0"/>
              <a:t>29</a:t>
            </a:fld>
            <a:endParaRPr kumimoji="1" lang="ja-JP" altLang="en-US"/>
          </a:p>
        </p:txBody>
      </p:sp>
      <p:sp>
        <p:nvSpPr>
          <p:cNvPr id="5" name="TextBox 4"/>
          <p:cNvSpPr txBox="1"/>
          <p:nvPr/>
        </p:nvSpPr>
        <p:spPr>
          <a:xfrm>
            <a:off x="640080" y="1325880"/>
            <a:ext cx="106070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/>
            </a:pPr>
            <a:r>
              <a:t>Survey corpus shows accelerating publication growth in IoT–quantum AI intersection</a:t>
            </a:r>
            <a:br/>
            <a:r>
              <a:t>Key venues: IEEE IoT Journal, IEEE Access, Discover AI, Future Generation Computer Systems</a:t>
            </a:r>
          </a:p>
        </p:txBody>
      </p:sp>
    </p:spTree>
    <p:extLst>
      <p:ext uri="{BB962C8B-B14F-4D97-AF65-F5344CB8AC3E}">
        <p14:creationId xmlns:p14="http://schemas.microsoft.com/office/powerpoint/2010/main" val="38526517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2919</Words>
  <Application>Microsoft Office PowerPoint</Application>
  <PresentationFormat>ワイド画面</PresentationFormat>
  <Paragraphs>490</Paragraphs>
  <Slides>29</Slides>
  <Notes>2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5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29</vt:i4>
      </vt:variant>
    </vt:vector>
  </HeadingPairs>
  <TitlesOfParts>
    <vt:vector size="35" baseType="lpstr">
      <vt:lpstr>メイリオ</vt:lpstr>
      <vt:lpstr>游ゴシック</vt:lpstr>
      <vt:lpstr>游ゴシック Light</vt:lpstr>
      <vt:lpstr>Arial</vt:lpstr>
      <vt:lpstr>Wingdings</vt:lpstr>
      <vt:lpstr>Office テーマ</vt:lpstr>
      <vt:lpstr>博士後期課程　口述試験  － セキュリティ研究者としての専門性確立に向けて －</vt:lpstr>
      <vt:lpstr>発表内容</vt:lpstr>
      <vt:lpstr>業務経歴</vt:lpstr>
      <vt:lpstr>業務内容</vt:lpstr>
      <vt:lpstr>担当業務</vt:lpstr>
      <vt:lpstr>研究実績</vt:lpstr>
      <vt:lpstr>【参考】過去の発表（完全性確認技術関連）</vt:lpstr>
      <vt:lpstr>【参考】過去の発表（修士論文、掲載論文）</vt:lpstr>
      <vt:lpstr>進学の動機</vt:lpstr>
      <vt:lpstr>研究計画</vt:lpstr>
      <vt:lpstr>背景</vt:lpstr>
      <vt:lpstr>研究領域</vt:lpstr>
      <vt:lpstr>研究目的と課題</vt:lpstr>
      <vt:lpstr>関連研究</vt:lpstr>
      <vt:lpstr>アプローチ</vt:lpstr>
      <vt:lpstr>【参考】Attestationにおける鍵と証明書</vt:lpstr>
      <vt:lpstr>研究のステップ</vt:lpstr>
      <vt:lpstr>研究のステップ</vt:lpstr>
      <vt:lpstr>発表計画</vt:lpstr>
      <vt:lpstr>おわりに（抱負）</vt:lpstr>
      <vt:lpstr>PowerPoint プレゼンテーション</vt:lpstr>
      <vt:lpstr>【参考】Attestationにおける鍵と証明書</vt:lpstr>
      <vt:lpstr>【参考】Attestationにおける鍵と証明書</vt:lpstr>
      <vt:lpstr>【参考】Attestationにおける鍵と証明書</vt:lpstr>
      <vt:lpstr>【参考】Attestationにおける鍵と証明書</vt:lpstr>
      <vt:lpstr>【参考】Attestationにおける鍵と証明書</vt:lpstr>
      <vt:lpstr>【参考】Attestationにおける鍵と証明書</vt:lpstr>
      <vt:lpstr>【参考】CCの市場規模</vt:lpstr>
      <vt:lpstr>【参考】CCの歴史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  <dcterms:created xsi:type="dcterms:W3CDTF">2026-06-02T12:09:13Z</dcterms:created>
  <dcterms:modified xsi:type="dcterms:W3CDTF">2026-06-02T12:09:56Z</dcterms:modified>
</cp:coreProperties>
</file>